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3"/>
  </p:notesMasterIdLst>
  <p:sldIdLst>
    <p:sldId id="256" r:id="rId2"/>
    <p:sldId id="271" r:id="rId3"/>
    <p:sldId id="257" r:id="rId4"/>
    <p:sldId id="272" r:id="rId6"/>
    <p:sldId id="258" r:id="rId8"/>
    <p:sldId id="273" r:id="rId9"/>
    <p:sldId id="259" r:id="rId5"/>
    <p:sldId id="260" r:id="rId11"/>
    <p:sldId id="261" r:id="rId7"/>
    <p:sldId id="262" r:id="rId10"/>
    <p:sldId id="263" r:id="rId12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5611"/>
    <p:restoredTop sz="94610"/>
  </p:normalViewPr>
  <p:slideViewPr>
    <p:cSldViewPr snapToGrid="0" snapToObjects="1">
      <p:cViewPr varScale="1">
        <p:scale>
          <a:sx n="113" d="100"/>
          <a:sy n="113" d="100"/>
        </p:scale>
        <p:origin x="474" y="9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notesMaster" Target="notesMasters/notesMaster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viewProps" Target="viewProp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presProps" Target="pres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15204546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9/8/2026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1015263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E276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155448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主採業務範疇說明</a:t>
            </a:r>
            <a:endParaRPr lang="en-US" sz="4000" dirty="0"/>
          </a:p>
        </p:txBody>
      </p:sp>
      <p:sp>
        <p:nvSpPr>
          <p:cNvPr id="3" name="Text 1"/>
          <p:cNvSpPr txBox="1"/>
          <p:nvPr/>
        </p:nvSpPr>
        <p:spPr>
          <a:xfrm>
            <a:off x="731520" y="2331720"/>
            <a:ext cx="10698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布料開發到出貨，主採在做什麼？</a:t>
            </a:r>
            <a:endParaRPr lang="en-US" sz="2200" dirty="0"/>
          </a:p>
        </p:txBody>
      </p:sp>
      <p:sp>
        <p:nvSpPr>
          <p:cNvPr id="4" name="Text 2"/>
          <p:cNvSpPr txBox="1"/>
          <p:nvPr/>
        </p:nvSpPr>
        <p:spPr>
          <a:xfrm>
            <a:off x="731520" y="3291840"/>
            <a:ext cx="7315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一、主採工作範疇十四大類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731520" y="3749040"/>
            <a:ext cx="7315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二、AI 能協助到哪裡、不能代替什麼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731520" y="4206240"/>
            <a:ext cx="7315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三、已導入的 AI 工具與效益</a:t>
            </a:r>
            <a:endParaRPr lang="en-US" sz="1600" dirty="0"/>
          </a:p>
        </p:txBody>
      </p:sp>
      <p:sp>
        <p:nvSpPr>
          <p:cNvPr id="7" name="Text 5"/>
          <p:cNvSpPr txBox="1"/>
          <p:nvPr/>
        </p:nvSpPr>
        <p:spPr>
          <a:xfrm>
            <a:off x="731520" y="4663440"/>
            <a:ext cx="7315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四、結論與建議</a:t>
            </a:r>
            <a:endParaRPr lang="en-US" sz="1600" dirty="0"/>
          </a:p>
        </p:txBody>
      </p:sp>
      <p:sp>
        <p:nvSpPr>
          <p:cNvPr id="8" name="Text 6"/>
          <p:cNvSpPr txBox="1"/>
          <p:nvPr/>
        </p:nvSpPr>
        <p:spPr>
          <a:xfrm>
            <a:off x="731520" y="5669280"/>
            <a:ext cx="10698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 err="1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彙整：主採</a:t>
            </a:r>
            <a:r>
              <a:rPr lang="en-US" sz="12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Grace│　2026-09-07</a:t>
            </a:r>
            <a:endParaRPr lang="en-US" sz="1200" dirty="0"/>
          </a:p>
        </p:txBody>
      </p:sp>
      <p:sp>
        <p:nvSpPr>
          <p:cNvPr id="9" name="Text 7"/>
          <p:cNvSpPr txBox="1"/>
          <p:nvPr/>
        </p:nvSpPr>
        <p:spPr>
          <a:xfrm>
            <a:off x="731520" y="6035040"/>
            <a:ext cx="10698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i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內部討論用，請勿外傳。部分內容由 AI 協助整理，數字需相關單位／本人複核後方可對外引用。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2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1C4F8F"/>
          </a:solidFill>
          <a:ln>
            <a:noFill/>
          </a:ln>
          <a:effectLst/>
        </p:spPr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3" name="TextBox 3"/>
          <p:cNvSpPr txBox="1"/>
          <p:nvPr/>
        </p:nvSpPr>
        <p:spPr>
          <a:xfrm>
            <a:off x="566928" y="384048"/>
            <a:ext cx="11055096" cy="292608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lang="zh-TW" altLang="en-US" sz="1250" b="1" dirty="0">
                <a:solidFill>
                  <a:srgbClr val="2A78D6"/>
                </a:solidFill>
                <a:latin typeface="微軟正黑體"/>
                <a:ea typeface="微軟正黑體"/>
                <a:cs typeface="微軟正黑體"/>
              </a:rPr>
              <a:t>一、主採範疇</a:t>
            </a:r>
          </a:p>
        </p:txBody>
      </p:sp>
      <p:sp>
        <p:nvSpPr>
          <p:cNvPr id="4" name="TextBox 4"/>
          <p:cNvSpPr txBox="1"/>
          <p:nvPr/>
        </p:nvSpPr>
        <p:spPr>
          <a:xfrm>
            <a:off x="566928" y="694944"/>
            <a:ext cx="11055096" cy="393192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lang="zh-TW" altLang="en-US" sz="2500" b="1" dirty="0">
                <a:solidFill>
                  <a:srgbClr val="0B0B0B"/>
                </a:solidFill>
                <a:latin typeface="微軟正黑體"/>
                <a:ea typeface="微軟正黑體"/>
                <a:cs typeface="微軟正黑體"/>
              </a:rPr>
              <a:t>十四大類的量體 — 工時不跟信件數走，跟事情的難度走</a:t>
            </a:r>
          </a:p>
        </p:txBody>
      </p:sp>
      <p:sp>
        <p:nvSpPr>
          <p:cNvPr id="5" name="Shape 5"/>
          <p:cNvSpPr/>
          <p:nvPr/>
        </p:nvSpPr>
        <p:spPr>
          <a:xfrm>
            <a:off x="566928" y="1335024"/>
            <a:ext cx="11055096" cy="27432"/>
          </a:xfrm>
          <a:prstGeom prst="rect">
            <a:avLst/>
          </a:prstGeom>
          <a:solidFill>
            <a:srgbClr val="1C4F8F"/>
          </a:solidFill>
          <a:ln>
            <a:noFill/>
          </a:ln>
          <a:effectLst/>
        </p:spPr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6" name="Shape 6"/>
          <p:cNvSpPr/>
          <p:nvPr/>
        </p:nvSpPr>
        <p:spPr>
          <a:xfrm>
            <a:off x="566928" y="1554480"/>
            <a:ext cx="2599182" cy="804672"/>
          </a:xfrm>
          <a:prstGeom prst="roundRect">
            <a:avLst/>
          </a:prstGeom>
          <a:solidFill>
            <a:srgbClr val="F4F6F9"/>
          </a:solidFill>
          <a:ln>
            <a:noFill/>
          </a:ln>
          <a:effectLst/>
        </p:spPr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7" name="Shape 7"/>
          <p:cNvSpPr/>
          <p:nvPr/>
        </p:nvSpPr>
        <p:spPr>
          <a:xfrm>
            <a:off x="566928" y="1554480"/>
            <a:ext cx="54864" cy="804672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8" name="TextBox 8"/>
          <p:cNvSpPr txBox="1"/>
          <p:nvPr/>
        </p:nvSpPr>
        <p:spPr>
          <a:xfrm>
            <a:off x="786384" y="1636776"/>
            <a:ext cx="2196846" cy="36576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lang="zh-TW" altLang="en-US" sz="2100" b="1" dirty="0">
                <a:solidFill>
                  <a:srgbClr val="2A78D6"/>
                </a:solidFill>
                <a:latin typeface="微軟正黑體"/>
                <a:ea typeface="微軟正黑體"/>
                <a:cs typeface="微軟正黑體"/>
              </a:rPr>
              <a:t>1,993 封</a:t>
            </a:r>
          </a:p>
        </p:txBody>
      </p:sp>
      <p:sp>
        <p:nvSpPr>
          <p:cNvPr id="9" name="TextBox 9"/>
          <p:cNvSpPr txBox="1"/>
          <p:nvPr/>
        </p:nvSpPr>
        <p:spPr>
          <a:xfrm>
            <a:off x="786384" y="2020824"/>
            <a:ext cx="2196846" cy="27432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lang="zh-TW" altLang="en-US" sz="900" b="0" dirty="0">
                <a:solidFill>
                  <a:srgbClr val="454441"/>
                </a:solidFill>
                <a:latin typeface="微軟正黑體"/>
                <a:ea typeface="微軟正黑體"/>
                <a:cs typeface="微軟正黑體"/>
              </a:rPr>
              <a:t>樣本期間信件總數</a:t>
            </a:r>
          </a:p>
        </p:txBody>
      </p:sp>
      <p:sp>
        <p:nvSpPr>
          <p:cNvPr id="10" name="Shape 10"/>
          <p:cNvSpPr/>
          <p:nvPr/>
        </p:nvSpPr>
        <p:spPr>
          <a:xfrm>
            <a:off x="3385566" y="1554480"/>
            <a:ext cx="2599182" cy="804672"/>
          </a:xfrm>
          <a:prstGeom prst="roundRect">
            <a:avLst/>
          </a:prstGeom>
          <a:solidFill>
            <a:srgbClr val="F4F6F9"/>
          </a:solidFill>
          <a:ln>
            <a:noFill/>
          </a:ln>
          <a:effectLst/>
        </p:spPr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1" name="Shape 11"/>
          <p:cNvSpPr/>
          <p:nvPr/>
        </p:nvSpPr>
        <p:spPr>
          <a:xfrm>
            <a:off x="3385566" y="1554480"/>
            <a:ext cx="54864" cy="804672"/>
          </a:xfrm>
          <a:prstGeom prst="rect">
            <a:avLst/>
          </a:prstGeom>
          <a:solidFill>
            <a:srgbClr val="1C4F8F"/>
          </a:solidFill>
          <a:ln>
            <a:noFill/>
          </a:ln>
          <a:effectLst/>
        </p:spPr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2" name="TextBox 12"/>
          <p:cNvSpPr txBox="1"/>
          <p:nvPr/>
        </p:nvSpPr>
        <p:spPr>
          <a:xfrm>
            <a:off x="3605022" y="1636776"/>
            <a:ext cx="2196846" cy="36576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lang="zh-TW" altLang="en-US" sz="2100" b="1" dirty="0">
                <a:solidFill>
                  <a:srgbClr val="1C4F8F"/>
                </a:solidFill>
                <a:latin typeface="微軟正黑體"/>
                <a:ea typeface="微軟正黑體"/>
                <a:cs typeface="微軟正黑體"/>
              </a:rPr>
              <a:t>14 類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3605022" y="2020824"/>
            <a:ext cx="2196846" cy="27432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lang="zh-TW" altLang="en-US" sz="900" b="0" dirty="0">
                <a:solidFill>
                  <a:srgbClr val="454441"/>
                </a:solidFill>
                <a:latin typeface="微軟正黑體"/>
                <a:ea typeface="微軟正黑體"/>
                <a:cs typeface="微軟正黑體"/>
              </a:rPr>
              <a:t>已盤點的工作類型</a:t>
            </a:r>
          </a:p>
        </p:txBody>
      </p:sp>
      <p:sp>
        <p:nvSpPr>
          <p:cNvPr id="14" name="Shape 14"/>
          <p:cNvSpPr/>
          <p:nvPr/>
        </p:nvSpPr>
        <p:spPr>
          <a:xfrm>
            <a:off x="6204204" y="1554480"/>
            <a:ext cx="2599182" cy="804672"/>
          </a:xfrm>
          <a:prstGeom prst="roundRect">
            <a:avLst/>
          </a:prstGeom>
          <a:solidFill>
            <a:srgbClr val="FDEFEF"/>
          </a:solidFill>
          <a:ln>
            <a:noFill/>
          </a:ln>
          <a:effectLst/>
        </p:spPr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5" name="Shape 15"/>
          <p:cNvSpPr/>
          <p:nvPr/>
        </p:nvSpPr>
        <p:spPr>
          <a:xfrm>
            <a:off x="6204204" y="1554480"/>
            <a:ext cx="54864" cy="804672"/>
          </a:xfrm>
          <a:prstGeom prst="rect">
            <a:avLst/>
          </a:prstGeom>
          <a:solidFill>
            <a:srgbClr val="D03B3B"/>
          </a:solidFill>
          <a:ln>
            <a:noFill/>
          </a:ln>
          <a:effectLst/>
        </p:spPr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6" name="TextBox 16"/>
          <p:cNvSpPr txBox="1"/>
          <p:nvPr/>
        </p:nvSpPr>
        <p:spPr>
          <a:xfrm>
            <a:off x="6423660" y="1636776"/>
            <a:ext cx="2196846" cy="36576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lang="zh-TW" altLang="en-US" sz="2100" b="1" dirty="0">
                <a:solidFill>
                  <a:srgbClr val="D03B3B"/>
                </a:solidFill>
                <a:latin typeface="微軟正黑體"/>
                <a:ea typeface="微軟正黑體"/>
                <a:cs typeface="微軟正黑體"/>
              </a:rPr>
              <a:t>10–15%</a:t>
            </a:r>
          </a:p>
        </p:txBody>
      </p:sp>
      <p:sp>
        <p:nvSpPr>
          <p:cNvPr id="17" name="TextBox 17"/>
          <p:cNvSpPr txBox="1"/>
          <p:nvPr/>
        </p:nvSpPr>
        <p:spPr>
          <a:xfrm>
            <a:off x="6423660" y="2020824"/>
            <a:ext cx="2196846" cy="27432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lang="zh-TW" altLang="en-US" sz="900" b="0" dirty="0">
                <a:solidFill>
                  <a:srgbClr val="454441"/>
                </a:solidFill>
                <a:latin typeface="微軟正黑體"/>
                <a:ea typeface="微軟正黑體"/>
                <a:cs typeface="微軟正黑體"/>
              </a:rPr>
              <a:t>AI 可協助的整體估算，其餘靠人</a:t>
            </a:r>
          </a:p>
        </p:txBody>
      </p:sp>
      <p:sp>
        <p:nvSpPr>
          <p:cNvPr id="18" name="Shape 18"/>
          <p:cNvSpPr/>
          <p:nvPr/>
        </p:nvSpPr>
        <p:spPr>
          <a:xfrm>
            <a:off x="9022842" y="1554480"/>
            <a:ext cx="2599182" cy="804672"/>
          </a:xfrm>
          <a:prstGeom prst="roundRect">
            <a:avLst/>
          </a:prstGeom>
          <a:solidFill>
            <a:srgbClr val="F4F6F9"/>
          </a:solidFill>
          <a:ln>
            <a:noFill/>
          </a:ln>
          <a:effectLst/>
        </p:spPr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9" name="Shape 19"/>
          <p:cNvSpPr/>
          <p:nvPr/>
        </p:nvSpPr>
        <p:spPr>
          <a:xfrm>
            <a:off x="9022842" y="1554480"/>
            <a:ext cx="54864" cy="804672"/>
          </a:xfrm>
          <a:prstGeom prst="rect">
            <a:avLst/>
          </a:prstGeom>
          <a:solidFill>
            <a:srgbClr val="1C4F8F"/>
          </a:solidFill>
          <a:ln>
            <a:noFill/>
          </a:ln>
          <a:effectLst/>
        </p:spPr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20" name="TextBox 20"/>
          <p:cNvSpPr txBox="1"/>
          <p:nvPr/>
        </p:nvSpPr>
        <p:spPr>
          <a:xfrm>
            <a:off x="9242298" y="1636776"/>
            <a:ext cx="2196846" cy="36576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lang="zh-TW" altLang="en-US" sz="2100" b="1" dirty="0">
                <a:solidFill>
                  <a:srgbClr val="1C4F8F"/>
                </a:solidFill>
                <a:latin typeface="微軟正黑體"/>
                <a:ea typeface="微軟正黑體"/>
                <a:cs typeface="微軟正黑體"/>
              </a:rPr>
              <a:t>871 封</a:t>
            </a:r>
          </a:p>
        </p:txBody>
      </p:sp>
      <p:sp>
        <p:nvSpPr>
          <p:cNvPr id="21" name="TextBox 21"/>
          <p:cNvSpPr txBox="1"/>
          <p:nvPr/>
        </p:nvSpPr>
        <p:spPr>
          <a:xfrm>
            <a:off x="9242298" y="2020824"/>
            <a:ext cx="2196846" cy="27432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lang="zh-TW" altLang="en-US" sz="900" b="0" dirty="0">
                <a:solidFill>
                  <a:srgbClr val="454441"/>
                </a:solidFill>
                <a:latin typeface="微軟正黑體"/>
                <a:ea typeface="微軟正黑體"/>
                <a:cs typeface="微軟正黑體"/>
              </a:rPr>
              <a:t>最大宗：EC・樣品・APP 調料調布</a:t>
            </a:r>
          </a:p>
        </p:txBody>
      </p:sp>
      <p:sp>
        <p:nvSpPr>
          <p:cNvPr id="22" name="TextBox 22"/>
          <p:cNvSpPr txBox="1"/>
          <p:nvPr/>
        </p:nvSpPr>
        <p:spPr>
          <a:xfrm>
            <a:off x="566928" y="2468880"/>
            <a:ext cx="3657600" cy="237744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lang="zh-TW" altLang="en-US" sz="1250" b="1" dirty="0">
                <a:solidFill>
                  <a:srgbClr val="1C4F8F"/>
                </a:solidFill>
                <a:latin typeface="微軟正黑體"/>
                <a:ea typeface="微軟正黑體"/>
                <a:cs typeface="微軟正黑體"/>
              </a:rPr>
              <a:t>十四類工作的信件量與占比</a:t>
            </a:r>
          </a:p>
        </p:txBody>
      </p:sp>
      <p:sp>
        <p:nvSpPr>
          <p:cNvPr id="23" name="Shape 23"/>
          <p:cNvSpPr/>
          <p:nvPr/>
        </p:nvSpPr>
        <p:spPr>
          <a:xfrm>
            <a:off x="566928" y="2761488"/>
            <a:ext cx="5390388" cy="347472"/>
          </a:xfrm>
          <a:prstGeom prst="roundRect">
            <a:avLst/>
          </a:prstGeom>
          <a:solidFill>
            <a:srgbClr val="F4F6F9"/>
          </a:solidFill>
          <a:ln>
            <a:noFill/>
          </a:ln>
          <a:effectLst/>
        </p:spPr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24" name="Shape 24"/>
          <p:cNvSpPr/>
          <p:nvPr/>
        </p:nvSpPr>
        <p:spPr>
          <a:xfrm>
            <a:off x="566928" y="2761488"/>
            <a:ext cx="54864" cy="347472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25" name="TextBox 25"/>
          <p:cNvSpPr txBox="1"/>
          <p:nvPr/>
        </p:nvSpPr>
        <p:spPr>
          <a:xfrm>
            <a:off x="768096" y="2761488"/>
            <a:ext cx="3515868" cy="347472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lang="zh-TW" altLang="en-US" sz="1000" b="1" dirty="0">
                <a:solidFill>
                  <a:srgbClr val="0B0B0B"/>
                </a:solidFill>
                <a:latin typeface="微軟正黑體"/>
                <a:ea typeface="微軟正黑體"/>
                <a:cs typeface="微軟正黑體"/>
              </a:rPr>
              <a:t>前端面料開發事宜</a:t>
            </a:r>
          </a:p>
        </p:txBody>
      </p:sp>
      <p:sp>
        <p:nvSpPr>
          <p:cNvPr id="26" name="TextBox 26"/>
          <p:cNvSpPr txBox="1"/>
          <p:nvPr/>
        </p:nvSpPr>
        <p:spPr>
          <a:xfrm>
            <a:off x="4384548" y="2761488"/>
            <a:ext cx="731520" cy="347472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r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lang="zh-TW" altLang="en-US" sz="1000" b="1" dirty="0">
                <a:solidFill>
                  <a:srgbClr val="454441"/>
                </a:solidFill>
                <a:latin typeface="微軟正黑體"/>
                <a:ea typeface="微軟正黑體"/>
                <a:cs typeface="微軟正黑體"/>
              </a:rPr>
              <a:t>350</a:t>
            </a:r>
          </a:p>
        </p:txBody>
      </p:sp>
      <p:sp>
        <p:nvSpPr>
          <p:cNvPr id="27" name="TextBox 27"/>
          <p:cNvSpPr txBox="1"/>
          <p:nvPr/>
        </p:nvSpPr>
        <p:spPr>
          <a:xfrm>
            <a:off x="5207508" y="2761488"/>
            <a:ext cx="548640" cy="347472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r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lang="zh-TW" altLang="en-US" sz="1000" b="1" dirty="0">
                <a:solidFill>
                  <a:srgbClr val="2A78D6"/>
                </a:solidFill>
                <a:latin typeface="微軟正黑體"/>
                <a:ea typeface="微軟正黑體"/>
                <a:cs typeface="微軟正黑體"/>
              </a:rPr>
              <a:t>10%</a:t>
            </a:r>
          </a:p>
        </p:txBody>
      </p:sp>
      <p:sp>
        <p:nvSpPr>
          <p:cNvPr id="28" name="Shape 28"/>
          <p:cNvSpPr/>
          <p:nvPr/>
        </p:nvSpPr>
        <p:spPr>
          <a:xfrm>
            <a:off x="566928" y="3150108"/>
            <a:ext cx="5390388" cy="347472"/>
          </a:xfrm>
          <a:prstGeom prst="roundRect">
            <a:avLst/>
          </a:prstGeom>
          <a:solidFill>
            <a:srgbClr val="F4F6F9"/>
          </a:solidFill>
          <a:ln>
            <a:noFill/>
          </a:ln>
          <a:effectLst/>
        </p:spPr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29" name="Shape 29"/>
          <p:cNvSpPr/>
          <p:nvPr/>
        </p:nvSpPr>
        <p:spPr>
          <a:xfrm>
            <a:off x="566928" y="3150108"/>
            <a:ext cx="54864" cy="347472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30" name="TextBox 30"/>
          <p:cNvSpPr txBox="1"/>
          <p:nvPr/>
        </p:nvSpPr>
        <p:spPr>
          <a:xfrm>
            <a:off x="768096" y="3150108"/>
            <a:ext cx="3515868" cy="347472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lang="zh-TW" altLang="en-US" sz="1000" b="1" dirty="0">
                <a:solidFill>
                  <a:srgbClr val="0B0B0B"/>
                </a:solidFill>
                <a:latin typeface="微軟正黑體"/>
                <a:ea typeface="微軟正黑體"/>
                <a:cs typeface="微軟正黑體"/>
              </a:rPr>
              <a:t>EC／樣品／APP 調料調布需求</a:t>
            </a:r>
          </a:p>
        </p:txBody>
      </p:sp>
      <p:sp>
        <p:nvSpPr>
          <p:cNvPr id="31" name="TextBox 31"/>
          <p:cNvSpPr txBox="1"/>
          <p:nvPr/>
        </p:nvSpPr>
        <p:spPr>
          <a:xfrm>
            <a:off x="4384548" y="3150108"/>
            <a:ext cx="731520" cy="347472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r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lang="zh-TW" altLang="en-US" sz="1000" b="1" dirty="0">
                <a:solidFill>
                  <a:srgbClr val="454441"/>
                </a:solidFill>
                <a:latin typeface="微軟正黑體"/>
                <a:ea typeface="微軟正黑體"/>
                <a:cs typeface="微軟正黑體"/>
              </a:rPr>
              <a:t>871</a:t>
            </a:r>
          </a:p>
        </p:txBody>
      </p:sp>
      <p:sp>
        <p:nvSpPr>
          <p:cNvPr id="32" name="TextBox 32"/>
          <p:cNvSpPr txBox="1"/>
          <p:nvPr/>
        </p:nvSpPr>
        <p:spPr>
          <a:xfrm>
            <a:off x="5207508" y="3150108"/>
            <a:ext cx="548640" cy="347472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r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lang="zh-TW" altLang="en-US" sz="1000" b="1" dirty="0">
                <a:solidFill>
                  <a:srgbClr val="2A78D6"/>
                </a:solidFill>
                <a:latin typeface="微軟正黑體"/>
                <a:ea typeface="微軟正黑體"/>
                <a:cs typeface="微軟正黑體"/>
              </a:rPr>
              <a:t>10%</a:t>
            </a:r>
          </a:p>
        </p:txBody>
      </p:sp>
      <p:sp>
        <p:nvSpPr>
          <p:cNvPr id="33" name="Shape 33"/>
          <p:cNvSpPr/>
          <p:nvPr/>
        </p:nvSpPr>
        <p:spPr>
          <a:xfrm>
            <a:off x="566928" y="3538728"/>
            <a:ext cx="5390388" cy="347472"/>
          </a:xfrm>
          <a:prstGeom prst="roundRect">
            <a:avLst/>
          </a:prstGeom>
          <a:solidFill>
            <a:srgbClr val="F4F6F9"/>
          </a:solidFill>
          <a:ln>
            <a:noFill/>
          </a:ln>
          <a:effectLst/>
        </p:spPr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34" name="Shape 34"/>
          <p:cNvSpPr/>
          <p:nvPr/>
        </p:nvSpPr>
        <p:spPr>
          <a:xfrm>
            <a:off x="566928" y="3538728"/>
            <a:ext cx="54864" cy="347472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35" name="TextBox 35"/>
          <p:cNvSpPr txBox="1"/>
          <p:nvPr/>
        </p:nvSpPr>
        <p:spPr>
          <a:xfrm>
            <a:off x="768096" y="3538728"/>
            <a:ext cx="3515868" cy="347472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lang="zh-TW" altLang="en-US" sz="1000" b="1" dirty="0">
                <a:solidFill>
                  <a:srgbClr val="0B0B0B"/>
                </a:solidFill>
                <a:latin typeface="微軟正黑體"/>
                <a:ea typeface="微軟正黑體"/>
                <a:cs typeface="微軟正黑體"/>
              </a:rPr>
              <a:t>進單前交期 TA</a:t>
            </a:r>
          </a:p>
        </p:txBody>
      </p:sp>
      <p:sp>
        <p:nvSpPr>
          <p:cNvPr id="36" name="TextBox 36"/>
          <p:cNvSpPr txBox="1"/>
          <p:nvPr/>
        </p:nvSpPr>
        <p:spPr>
          <a:xfrm>
            <a:off x="4384548" y="3538728"/>
            <a:ext cx="731520" cy="347472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r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lang="zh-TW" altLang="en-US" sz="1000" b="1" dirty="0">
                <a:solidFill>
                  <a:srgbClr val="454441"/>
                </a:solidFill>
                <a:latin typeface="微軟正黑體"/>
                <a:ea typeface="微軟正黑體"/>
                <a:cs typeface="微軟正黑體"/>
              </a:rPr>
              <a:t>307</a:t>
            </a:r>
          </a:p>
        </p:txBody>
      </p:sp>
      <p:sp>
        <p:nvSpPr>
          <p:cNvPr id="37" name="TextBox 37"/>
          <p:cNvSpPr txBox="1"/>
          <p:nvPr/>
        </p:nvSpPr>
        <p:spPr>
          <a:xfrm>
            <a:off x="5207508" y="3538728"/>
            <a:ext cx="548640" cy="347472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r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lang="zh-TW" altLang="en-US" sz="1000" b="1" dirty="0">
                <a:solidFill>
                  <a:srgbClr val="2A78D6"/>
                </a:solidFill>
                <a:latin typeface="微軟正黑體"/>
                <a:ea typeface="微軟正黑體"/>
                <a:cs typeface="微軟正黑體"/>
              </a:rPr>
              <a:t>10%</a:t>
            </a:r>
          </a:p>
        </p:txBody>
      </p:sp>
      <p:sp>
        <p:nvSpPr>
          <p:cNvPr id="38" name="Shape 38"/>
          <p:cNvSpPr/>
          <p:nvPr/>
        </p:nvSpPr>
        <p:spPr>
          <a:xfrm>
            <a:off x="566928" y="3927348"/>
            <a:ext cx="5390388" cy="347472"/>
          </a:xfrm>
          <a:prstGeom prst="roundRect">
            <a:avLst/>
          </a:prstGeom>
          <a:solidFill>
            <a:srgbClr val="F4F6F9"/>
          </a:solidFill>
          <a:ln>
            <a:noFill/>
          </a:ln>
          <a:effectLst/>
        </p:spPr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39" name="Shape 39"/>
          <p:cNvSpPr/>
          <p:nvPr/>
        </p:nvSpPr>
        <p:spPr>
          <a:xfrm>
            <a:off x="566928" y="3927348"/>
            <a:ext cx="54864" cy="347472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40" name="TextBox 40"/>
          <p:cNvSpPr txBox="1"/>
          <p:nvPr/>
        </p:nvSpPr>
        <p:spPr>
          <a:xfrm>
            <a:off x="768096" y="3927348"/>
            <a:ext cx="3515868" cy="347472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lang="zh-TW" altLang="en-US" sz="1000" b="1" dirty="0">
                <a:solidFill>
                  <a:srgbClr val="0B0B0B"/>
                </a:solidFill>
                <a:latin typeface="微軟正黑體"/>
                <a:ea typeface="微軟正黑體"/>
                <a:cs typeface="微軟正黑體"/>
              </a:rPr>
              <a:t>FBO／CBD／主料 TA 確認</a:t>
            </a:r>
          </a:p>
        </p:txBody>
      </p:sp>
      <p:sp>
        <p:nvSpPr>
          <p:cNvPr id="41" name="TextBox 41"/>
          <p:cNvSpPr txBox="1"/>
          <p:nvPr/>
        </p:nvSpPr>
        <p:spPr>
          <a:xfrm>
            <a:off x="4384548" y="3927348"/>
            <a:ext cx="731520" cy="347472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r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lang="zh-TW" altLang="en-US" sz="1000" b="1" dirty="0">
                <a:solidFill>
                  <a:srgbClr val="454441"/>
                </a:solidFill>
                <a:latin typeface="微軟正黑體"/>
                <a:ea typeface="微軟正黑體"/>
                <a:cs typeface="微軟正黑體"/>
              </a:rPr>
              <a:t>200</a:t>
            </a:r>
          </a:p>
        </p:txBody>
      </p:sp>
      <p:sp>
        <p:nvSpPr>
          <p:cNvPr id="42" name="TextBox 42"/>
          <p:cNvSpPr txBox="1"/>
          <p:nvPr/>
        </p:nvSpPr>
        <p:spPr>
          <a:xfrm>
            <a:off x="5207508" y="3927348"/>
            <a:ext cx="548640" cy="347472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r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lang="zh-TW" altLang="en-US" sz="1000" b="1" dirty="0">
                <a:solidFill>
                  <a:srgbClr val="2A78D6"/>
                </a:solidFill>
                <a:latin typeface="微軟正黑體"/>
                <a:ea typeface="微軟正黑體"/>
                <a:cs typeface="微軟正黑體"/>
              </a:rPr>
              <a:t>10%</a:t>
            </a:r>
          </a:p>
        </p:txBody>
      </p:sp>
      <p:sp>
        <p:nvSpPr>
          <p:cNvPr id="43" name="Shape 43"/>
          <p:cNvSpPr/>
          <p:nvPr/>
        </p:nvSpPr>
        <p:spPr>
          <a:xfrm>
            <a:off x="566928" y="4315968"/>
            <a:ext cx="5390388" cy="347472"/>
          </a:xfrm>
          <a:prstGeom prst="roundRect">
            <a:avLst/>
          </a:prstGeom>
          <a:solidFill>
            <a:srgbClr val="FDEFEF"/>
          </a:solidFill>
          <a:ln>
            <a:noFill/>
          </a:ln>
          <a:effectLst/>
        </p:spPr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44" name="Shape 44"/>
          <p:cNvSpPr/>
          <p:nvPr/>
        </p:nvSpPr>
        <p:spPr>
          <a:xfrm>
            <a:off x="566928" y="4315968"/>
            <a:ext cx="54864" cy="347472"/>
          </a:xfrm>
          <a:prstGeom prst="rect">
            <a:avLst/>
          </a:prstGeom>
          <a:solidFill>
            <a:srgbClr val="D03B3B"/>
          </a:solidFill>
          <a:ln>
            <a:noFill/>
          </a:ln>
          <a:effectLst/>
        </p:spPr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45" name="TextBox 45"/>
          <p:cNvSpPr txBox="1"/>
          <p:nvPr/>
        </p:nvSpPr>
        <p:spPr>
          <a:xfrm>
            <a:off x="768096" y="4315968"/>
            <a:ext cx="3515868" cy="347472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lang="zh-TW" altLang="en-US" sz="1000" b="1" dirty="0">
                <a:solidFill>
                  <a:srgbClr val="0B0B0B"/>
                </a:solidFill>
                <a:latin typeface="微軟正黑體"/>
                <a:ea typeface="微軟正黑體"/>
                <a:cs typeface="微軟正黑體"/>
              </a:rPr>
              <a:t>重大品質異常</a:t>
            </a:r>
          </a:p>
        </p:txBody>
      </p:sp>
      <p:sp>
        <p:nvSpPr>
          <p:cNvPr id="46" name="TextBox 46"/>
          <p:cNvSpPr txBox="1"/>
          <p:nvPr/>
        </p:nvSpPr>
        <p:spPr>
          <a:xfrm>
            <a:off x="4384548" y="4315968"/>
            <a:ext cx="731520" cy="347472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r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lang="zh-TW" altLang="en-US" sz="1000" b="1" dirty="0">
                <a:solidFill>
                  <a:srgbClr val="454441"/>
                </a:solidFill>
                <a:latin typeface="微軟正黑體"/>
                <a:ea typeface="微軟正黑體"/>
                <a:cs typeface="微軟正黑體"/>
              </a:rPr>
              <a:t>82</a:t>
            </a:r>
          </a:p>
        </p:txBody>
      </p:sp>
      <p:sp>
        <p:nvSpPr>
          <p:cNvPr id="47" name="TextBox 47"/>
          <p:cNvSpPr txBox="1"/>
          <p:nvPr/>
        </p:nvSpPr>
        <p:spPr>
          <a:xfrm>
            <a:off x="5207508" y="4315968"/>
            <a:ext cx="548640" cy="347472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r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lang="zh-TW" altLang="en-US" sz="1000" b="1" dirty="0">
                <a:solidFill>
                  <a:srgbClr val="D03B3B"/>
                </a:solidFill>
                <a:latin typeface="微軟正黑體"/>
                <a:ea typeface="微軟正黑體"/>
                <a:cs typeface="微軟正黑體"/>
              </a:rPr>
              <a:t>15%</a:t>
            </a:r>
          </a:p>
        </p:txBody>
      </p:sp>
      <p:sp>
        <p:nvSpPr>
          <p:cNvPr id="48" name="Shape 48"/>
          <p:cNvSpPr/>
          <p:nvPr/>
        </p:nvSpPr>
        <p:spPr>
          <a:xfrm>
            <a:off x="566928" y="4704588"/>
            <a:ext cx="5390388" cy="347472"/>
          </a:xfrm>
          <a:prstGeom prst="roundRect">
            <a:avLst/>
          </a:prstGeom>
          <a:solidFill>
            <a:srgbClr val="F4F6F9"/>
          </a:solidFill>
          <a:ln>
            <a:noFill/>
          </a:ln>
          <a:effectLst/>
        </p:spPr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49" name="Shape 49"/>
          <p:cNvSpPr/>
          <p:nvPr/>
        </p:nvSpPr>
        <p:spPr>
          <a:xfrm>
            <a:off x="566928" y="4704588"/>
            <a:ext cx="54864" cy="347472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50" name="TextBox 50"/>
          <p:cNvSpPr txBox="1"/>
          <p:nvPr/>
        </p:nvSpPr>
        <p:spPr>
          <a:xfrm>
            <a:off x="768096" y="4704588"/>
            <a:ext cx="3515868" cy="347472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lang="zh-TW" altLang="en-US" sz="1000" b="1" dirty="0">
                <a:solidFill>
                  <a:srgbClr val="0B0B0B"/>
                </a:solidFill>
                <a:latin typeface="微軟正黑體"/>
                <a:ea typeface="微軟正黑體"/>
                <a:cs typeface="微軟正黑體"/>
              </a:rPr>
              <a:t>換片率／短碼／補布／庫存／色差判定</a:t>
            </a:r>
          </a:p>
        </p:txBody>
      </p:sp>
      <p:sp>
        <p:nvSpPr>
          <p:cNvPr id="51" name="TextBox 51"/>
          <p:cNvSpPr txBox="1"/>
          <p:nvPr/>
        </p:nvSpPr>
        <p:spPr>
          <a:xfrm>
            <a:off x="4384548" y="4704588"/>
            <a:ext cx="731520" cy="347472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r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lang="zh-TW" altLang="en-US" sz="1000" b="1" dirty="0">
                <a:solidFill>
                  <a:srgbClr val="454441"/>
                </a:solidFill>
                <a:latin typeface="微軟正黑體"/>
                <a:ea typeface="微軟正黑體"/>
                <a:cs typeface="微軟正黑體"/>
              </a:rPr>
              <a:t>80</a:t>
            </a:r>
          </a:p>
        </p:txBody>
      </p:sp>
      <p:sp>
        <p:nvSpPr>
          <p:cNvPr id="52" name="TextBox 52"/>
          <p:cNvSpPr txBox="1"/>
          <p:nvPr/>
        </p:nvSpPr>
        <p:spPr>
          <a:xfrm>
            <a:off x="5207508" y="4704588"/>
            <a:ext cx="548640" cy="347472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r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lang="zh-TW" altLang="en-US" sz="1000" b="1" dirty="0">
                <a:solidFill>
                  <a:srgbClr val="2A78D6"/>
                </a:solidFill>
                <a:latin typeface="微軟正黑體"/>
                <a:ea typeface="微軟正黑體"/>
                <a:cs typeface="微軟正黑體"/>
              </a:rPr>
              <a:t>7%</a:t>
            </a:r>
          </a:p>
        </p:txBody>
      </p:sp>
      <p:sp>
        <p:nvSpPr>
          <p:cNvPr id="53" name="Shape 53"/>
          <p:cNvSpPr/>
          <p:nvPr/>
        </p:nvSpPr>
        <p:spPr>
          <a:xfrm>
            <a:off x="566928" y="5093208"/>
            <a:ext cx="5390388" cy="347472"/>
          </a:xfrm>
          <a:prstGeom prst="roundRect">
            <a:avLst/>
          </a:prstGeom>
          <a:solidFill>
            <a:srgbClr val="F4F6F9"/>
          </a:solidFill>
          <a:ln>
            <a:noFill/>
          </a:ln>
          <a:effectLst/>
        </p:spPr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54" name="Shape 54"/>
          <p:cNvSpPr/>
          <p:nvPr/>
        </p:nvSpPr>
        <p:spPr>
          <a:xfrm>
            <a:off x="566928" y="5093208"/>
            <a:ext cx="54864" cy="347472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55" name="TextBox 55"/>
          <p:cNvSpPr txBox="1"/>
          <p:nvPr/>
        </p:nvSpPr>
        <p:spPr>
          <a:xfrm>
            <a:off x="768096" y="5093208"/>
            <a:ext cx="3515868" cy="347472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lang="zh-TW" altLang="en-US" sz="1000" b="1" dirty="0">
                <a:solidFill>
                  <a:srgbClr val="0B0B0B"/>
                </a:solidFill>
                <a:latin typeface="微軟正黑體"/>
                <a:ea typeface="微軟正黑體"/>
                <a:cs typeface="微軟正黑體"/>
              </a:rPr>
              <a:t>物流／出貨追蹤</a:t>
            </a:r>
          </a:p>
        </p:txBody>
      </p:sp>
      <p:sp>
        <p:nvSpPr>
          <p:cNvPr id="56" name="TextBox 56"/>
          <p:cNvSpPr txBox="1"/>
          <p:nvPr/>
        </p:nvSpPr>
        <p:spPr>
          <a:xfrm>
            <a:off x="4384548" y="5093208"/>
            <a:ext cx="731520" cy="347472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r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lang="zh-TW" altLang="en-US" sz="1000" b="1" dirty="0">
                <a:solidFill>
                  <a:srgbClr val="454441"/>
                </a:solidFill>
                <a:latin typeface="微軟正黑體"/>
                <a:ea typeface="微軟正黑體"/>
                <a:cs typeface="微軟正黑體"/>
              </a:rPr>
              <a:t>24</a:t>
            </a:r>
          </a:p>
        </p:txBody>
      </p:sp>
      <p:sp>
        <p:nvSpPr>
          <p:cNvPr id="57" name="TextBox 57"/>
          <p:cNvSpPr txBox="1"/>
          <p:nvPr/>
        </p:nvSpPr>
        <p:spPr>
          <a:xfrm>
            <a:off x="5207508" y="5093208"/>
            <a:ext cx="548640" cy="347472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r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lang="zh-TW" altLang="en-US" sz="1000" b="1" dirty="0">
                <a:solidFill>
                  <a:srgbClr val="2A78D6"/>
                </a:solidFill>
                <a:latin typeface="微軟正黑體"/>
                <a:ea typeface="微軟正黑體"/>
                <a:cs typeface="微軟正黑體"/>
              </a:rPr>
              <a:t>5%</a:t>
            </a:r>
          </a:p>
        </p:txBody>
      </p:sp>
      <p:sp>
        <p:nvSpPr>
          <p:cNvPr id="58" name="Shape 58"/>
          <p:cNvSpPr/>
          <p:nvPr/>
        </p:nvSpPr>
        <p:spPr>
          <a:xfrm>
            <a:off x="6231636" y="2761488"/>
            <a:ext cx="5390388" cy="347472"/>
          </a:xfrm>
          <a:prstGeom prst="roundRect">
            <a:avLst/>
          </a:prstGeom>
          <a:solidFill>
            <a:srgbClr val="F4F6F9"/>
          </a:solidFill>
          <a:ln>
            <a:noFill/>
          </a:ln>
          <a:effectLst/>
        </p:spPr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59" name="Shape 59"/>
          <p:cNvSpPr/>
          <p:nvPr/>
        </p:nvSpPr>
        <p:spPr>
          <a:xfrm>
            <a:off x="6231636" y="2761488"/>
            <a:ext cx="54864" cy="347472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60" name="TextBox 60"/>
          <p:cNvSpPr txBox="1"/>
          <p:nvPr/>
        </p:nvSpPr>
        <p:spPr>
          <a:xfrm>
            <a:off x="6432804" y="2761488"/>
            <a:ext cx="3515868" cy="347472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lang="zh-TW" altLang="en-US" sz="1000" b="1" dirty="0">
                <a:solidFill>
                  <a:srgbClr val="0B0B0B"/>
                </a:solidFill>
                <a:latin typeface="微軟正黑體"/>
                <a:ea typeface="微軟正黑體"/>
                <a:cs typeface="微軟正黑體"/>
              </a:rPr>
              <a:t>內部固定會議・報表</a:t>
            </a:r>
          </a:p>
        </p:txBody>
      </p:sp>
      <p:sp>
        <p:nvSpPr>
          <p:cNvPr id="61" name="TextBox 61"/>
          <p:cNvSpPr txBox="1"/>
          <p:nvPr/>
        </p:nvSpPr>
        <p:spPr>
          <a:xfrm>
            <a:off x="10049256" y="2761488"/>
            <a:ext cx="731520" cy="347472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r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lang="zh-TW" altLang="en-US" sz="1000" b="1" dirty="0">
                <a:solidFill>
                  <a:srgbClr val="454441"/>
                </a:solidFill>
                <a:latin typeface="微軟正黑體"/>
                <a:ea typeface="微軟正黑體"/>
                <a:cs typeface="微軟正黑體"/>
              </a:rPr>
              <a:t>—</a:t>
            </a:r>
          </a:p>
        </p:txBody>
      </p:sp>
      <p:sp>
        <p:nvSpPr>
          <p:cNvPr id="62" name="TextBox 62"/>
          <p:cNvSpPr txBox="1"/>
          <p:nvPr/>
        </p:nvSpPr>
        <p:spPr>
          <a:xfrm>
            <a:off x="10872216" y="2761488"/>
            <a:ext cx="548640" cy="347472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r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lang="zh-TW" altLang="en-US" sz="1000" b="1" dirty="0">
                <a:solidFill>
                  <a:srgbClr val="2A78D6"/>
                </a:solidFill>
                <a:latin typeface="微軟正黑體"/>
                <a:ea typeface="微軟正黑體"/>
                <a:cs typeface="微軟正黑體"/>
              </a:rPr>
              <a:t>10%</a:t>
            </a:r>
          </a:p>
        </p:txBody>
      </p:sp>
      <p:sp>
        <p:nvSpPr>
          <p:cNvPr id="63" name="Shape 63"/>
          <p:cNvSpPr/>
          <p:nvPr/>
        </p:nvSpPr>
        <p:spPr>
          <a:xfrm>
            <a:off x="6231636" y="3150108"/>
            <a:ext cx="5390388" cy="347472"/>
          </a:xfrm>
          <a:prstGeom prst="roundRect">
            <a:avLst/>
          </a:prstGeom>
          <a:solidFill>
            <a:srgbClr val="F4F6F9"/>
          </a:solidFill>
          <a:ln>
            <a:noFill/>
          </a:ln>
          <a:effectLst/>
        </p:spPr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64" name="Shape 64"/>
          <p:cNvSpPr/>
          <p:nvPr/>
        </p:nvSpPr>
        <p:spPr>
          <a:xfrm>
            <a:off x="6231636" y="3150108"/>
            <a:ext cx="54864" cy="347472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65" name="TextBox 65"/>
          <p:cNvSpPr txBox="1"/>
          <p:nvPr/>
        </p:nvSpPr>
        <p:spPr>
          <a:xfrm>
            <a:off x="6432804" y="3150108"/>
            <a:ext cx="3515868" cy="347472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lang="zh-TW" altLang="en-US" sz="1000" b="1" dirty="0">
                <a:solidFill>
                  <a:srgbClr val="0B0B0B"/>
                </a:solidFill>
                <a:latin typeface="微軟正黑體"/>
                <a:ea typeface="微軟正黑體"/>
                <a:cs typeface="微軟正黑體"/>
              </a:rPr>
              <a:t>驗貨／測試</a:t>
            </a:r>
          </a:p>
        </p:txBody>
      </p:sp>
      <p:sp>
        <p:nvSpPr>
          <p:cNvPr id="66" name="TextBox 66"/>
          <p:cNvSpPr txBox="1"/>
          <p:nvPr/>
        </p:nvSpPr>
        <p:spPr>
          <a:xfrm>
            <a:off x="10049256" y="3150108"/>
            <a:ext cx="731520" cy="347472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r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lang="zh-TW" altLang="en-US" sz="1000" b="1" dirty="0">
                <a:solidFill>
                  <a:srgbClr val="454441"/>
                </a:solidFill>
                <a:latin typeface="微軟正黑體"/>
                <a:ea typeface="微軟正黑體"/>
                <a:cs typeface="微軟正黑體"/>
              </a:rPr>
              <a:t>20</a:t>
            </a:r>
          </a:p>
        </p:txBody>
      </p:sp>
      <p:sp>
        <p:nvSpPr>
          <p:cNvPr id="67" name="TextBox 67"/>
          <p:cNvSpPr txBox="1"/>
          <p:nvPr/>
        </p:nvSpPr>
        <p:spPr>
          <a:xfrm>
            <a:off x="10872216" y="3150108"/>
            <a:ext cx="548640" cy="347472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r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lang="zh-TW" altLang="en-US" sz="1000" b="1" dirty="0">
                <a:solidFill>
                  <a:srgbClr val="2A78D6"/>
                </a:solidFill>
                <a:latin typeface="微軟正黑體"/>
                <a:ea typeface="微軟正黑體"/>
                <a:cs typeface="微軟正黑體"/>
              </a:rPr>
              <a:t>5%</a:t>
            </a:r>
          </a:p>
        </p:txBody>
      </p:sp>
      <p:sp>
        <p:nvSpPr>
          <p:cNvPr id="68" name="Shape 68"/>
          <p:cNvSpPr/>
          <p:nvPr/>
        </p:nvSpPr>
        <p:spPr>
          <a:xfrm>
            <a:off x="6231636" y="3538728"/>
            <a:ext cx="5390388" cy="347472"/>
          </a:xfrm>
          <a:prstGeom prst="roundRect">
            <a:avLst/>
          </a:prstGeom>
          <a:solidFill>
            <a:srgbClr val="F4F6F9"/>
          </a:solidFill>
          <a:ln>
            <a:noFill/>
          </a:ln>
          <a:effectLst/>
        </p:spPr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69" name="Shape 69"/>
          <p:cNvSpPr/>
          <p:nvPr/>
        </p:nvSpPr>
        <p:spPr>
          <a:xfrm>
            <a:off x="6231636" y="3538728"/>
            <a:ext cx="54864" cy="347472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70" name="TextBox 70"/>
          <p:cNvSpPr txBox="1"/>
          <p:nvPr/>
        </p:nvSpPr>
        <p:spPr>
          <a:xfrm>
            <a:off x="6432804" y="3538728"/>
            <a:ext cx="3515868" cy="347472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lang="zh-TW" altLang="en-US" sz="1000" b="1" dirty="0">
                <a:solidFill>
                  <a:srgbClr val="0B0B0B"/>
                </a:solidFill>
                <a:latin typeface="微軟正黑體"/>
                <a:ea typeface="微軟正黑體"/>
                <a:cs typeface="微軟正黑體"/>
              </a:rPr>
              <a:t>開訂單 PO</a:t>
            </a:r>
          </a:p>
        </p:txBody>
      </p:sp>
      <p:sp>
        <p:nvSpPr>
          <p:cNvPr id="71" name="TextBox 71"/>
          <p:cNvSpPr txBox="1"/>
          <p:nvPr/>
        </p:nvSpPr>
        <p:spPr>
          <a:xfrm>
            <a:off x="10049256" y="3538728"/>
            <a:ext cx="731520" cy="347472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r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lang="zh-TW" altLang="en-US" sz="1000" b="1" dirty="0">
                <a:solidFill>
                  <a:srgbClr val="454441"/>
                </a:solidFill>
                <a:latin typeface="微軟正黑體"/>
                <a:ea typeface="微軟正黑體"/>
                <a:cs typeface="微軟正黑體"/>
              </a:rPr>
              <a:t>16</a:t>
            </a:r>
          </a:p>
        </p:txBody>
      </p:sp>
      <p:sp>
        <p:nvSpPr>
          <p:cNvPr id="72" name="TextBox 72"/>
          <p:cNvSpPr txBox="1"/>
          <p:nvPr/>
        </p:nvSpPr>
        <p:spPr>
          <a:xfrm>
            <a:off x="10872216" y="3538728"/>
            <a:ext cx="548640" cy="347472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r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lang="zh-TW" altLang="en-US" sz="1000" b="1" dirty="0">
                <a:solidFill>
                  <a:srgbClr val="2A78D6"/>
                </a:solidFill>
                <a:latin typeface="微軟正黑體"/>
                <a:ea typeface="微軟正黑體"/>
                <a:cs typeface="微軟正黑體"/>
              </a:rPr>
              <a:t>3%</a:t>
            </a:r>
          </a:p>
        </p:txBody>
      </p:sp>
      <p:sp>
        <p:nvSpPr>
          <p:cNvPr id="73" name="Shape 73"/>
          <p:cNvSpPr/>
          <p:nvPr/>
        </p:nvSpPr>
        <p:spPr>
          <a:xfrm>
            <a:off x="6231636" y="3927348"/>
            <a:ext cx="5390388" cy="347472"/>
          </a:xfrm>
          <a:prstGeom prst="roundRect">
            <a:avLst/>
          </a:prstGeom>
          <a:solidFill>
            <a:srgbClr val="F4F6F9"/>
          </a:solidFill>
          <a:ln>
            <a:noFill/>
          </a:ln>
          <a:effectLst/>
        </p:spPr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74" name="Shape 74"/>
          <p:cNvSpPr/>
          <p:nvPr/>
        </p:nvSpPr>
        <p:spPr>
          <a:xfrm>
            <a:off x="6231636" y="3927348"/>
            <a:ext cx="54864" cy="347472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75" name="TextBox 75"/>
          <p:cNvSpPr txBox="1"/>
          <p:nvPr/>
        </p:nvSpPr>
        <p:spPr>
          <a:xfrm>
            <a:off x="6432804" y="3927348"/>
            <a:ext cx="3515868" cy="347472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lang="zh-TW" altLang="en-US" sz="1000" b="1" dirty="0">
                <a:solidFill>
                  <a:srgbClr val="0B0B0B"/>
                </a:solidFill>
                <a:latin typeface="微軟正黑體"/>
                <a:ea typeface="微軟正黑體"/>
                <a:cs typeface="微軟正黑體"/>
              </a:rPr>
              <a:t>收料／結帳</a:t>
            </a:r>
          </a:p>
        </p:txBody>
      </p:sp>
      <p:sp>
        <p:nvSpPr>
          <p:cNvPr id="76" name="TextBox 76"/>
          <p:cNvSpPr txBox="1"/>
          <p:nvPr/>
        </p:nvSpPr>
        <p:spPr>
          <a:xfrm>
            <a:off x="10049256" y="3927348"/>
            <a:ext cx="731520" cy="347472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r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lang="zh-TW" altLang="en-US" sz="1000" b="1" dirty="0">
                <a:solidFill>
                  <a:srgbClr val="454441"/>
                </a:solidFill>
                <a:latin typeface="微軟正黑體"/>
                <a:ea typeface="微軟正黑體"/>
                <a:cs typeface="微軟正黑體"/>
              </a:rPr>
              <a:t>393</a:t>
            </a:r>
          </a:p>
        </p:txBody>
      </p:sp>
      <p:sp>
        <p:nvSpPr>
          <p:cNvPr id="77" name="TextBox 77"/>
          <p:cNvSpPr txBox="1"/>
          <p:nvPr/>
        </p:nvSpPr>
        <p:spPr>
          <a:xfrm>
            <a:off x="10872216" y="3927348"/>
            <a:ext cx="548640" cy="347472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r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lang="zh-TW" altLang="en-US" sz="1000" b="1" dirty="0">
                <a:solidFill>
                  <a:srgbClr val="2A78D6"/>
                </a:solidFill>
                <a:latin typeface="微軟正黑體"/>
                <a:ea typeface="微軟正黑體"/>
                <a:cs typeface="微軟正黑體"/>
              </a:rPr>
              <a:t>3%</a:t>
            </a:r>
          </a:p>
        </p:txBody>
      </p:sp>
      <p:sp>
        <p:nvSpPr>
          <p:cNvPr id="78" name="Shape 78"/>
          <p:cNvSpPr/>
          <p:nvPr/>
        </p:nvSpPr>
        <p:spPr>
          <a:xfrm>
            <a:off x="6231636" y="4315968"/>
            <a:ext cx="5390388" cy="347472"/>
          </a:xfrm>
          <a:prstGeom prst="roundRect">
            <a:avLst/>
          </a:prstGeom>
          <a:solidFill>
            <a:srgbClr val="F4F6F9"/>
          </a:solidFill>
          <a:ln>
            <a:noFill/>
          </a:ln>
          <a:effectLst/>
        </p:spPr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79" name="Shape 79"/>
          <p:cNvSpPr/>
          <p:nvPr/>
        </p:nvSpPr>
        <p:spPr>
          <a:xfrm>
            <a:off x="6231636" y="4315968"/>
            <a:ext cx="54864" cy="347472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80" name="TextBox 80"/>
          <p:cNvSpPr txBox="1"/>
          <p:nvPr/>
        </p:nvSpPr>
        <p:spPr>
          <a:xfrm>
            <a:off x="6432804" y="4315968"/>
            <a:ext cx="3515868" cy="347472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lang="zh-TW" altLang="en-US" sz="1000" b="1" dirty="0">
                <a:solidFill>
                  <a:srgbClr val="0B0B0B"/>
                </a:solidFill>
                <a:latin typeface="微軟正黑體"/>
                <a:ea typeface="微軟正黑體"/>
                <a:cs typeface="微軟正黑體"/>
              </a:rPr>
              <a:t>缸差核可進度</a:t>
            </a:r>
          </a:p>
        </p:txBody>
      </p:sp>
      <p:sp>
        <p:nvSpPr>
          <p:cNvPr id="81" name="TextBox 81"/>
          <p:cNvSpPr txBox="1"/>
          <p:nvPr/>
        </p:nvSpPr>
        <p:spPr>
          <a:xfrm>
            <a:off x="10049256" y="4315968"/>
            <a:ext cx="731520" cy="347472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r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lang="zh-TW" altLang="en-US" sz="1000" b="1" dirty="0">
                <a:solidFill>
                  <a:srgbClr val="454441"/>
                </a:solidFill>
                <a:latin typeface="微軟正黑體"/>
                <a:ea typeface="微軟正黑體"/>
                <a:cs typeface="微軟正黑體"/>
              </a:rPr>
              <a:t>—</a:t>
            </a:r>
          </a:p>
        </p:txBody>
      </p:sp>
      <p:sp>
        <p:nvSpPr>
          <p:cNvPr id="82" name="TextBox 82"/>
          <p:cNvSpPr txBox="1"/>
          <p:nvPr/>
        </p:nvSpPr>
        <p:spPr>
          <a:xfrm>
            <a:off x="10872216" y="4315968"/>
            <a:ext cx="548640" cy="347472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r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lang="zh-TW" altLang="en-US" sz="1000" b="1" dirty="0">
                <a:solidFill>
                  <a:srgbClr val="2A78D6"/>
                </a:solidFill>
                <a:latin typeface="微軟正黑體"/>
                <a:ea typeface="微軟正黑體"/>
                <a:cs typeface="微軟正黑體"/>
              </a:rPr>
              <a:t>10%</a:t>
            </a:r>
          </a:p>
        </p:txBody>
      </p:sp>
      <p:sp>
        <p:nvSpPr>
          <p:cNvPr id="83" name="Shape 83"/>
          <p:cNvSpPr/>
          <p:nvPr/>
        </p:nvSpPr>
        <p:spPr>
          <a:xfrm>
            <a:off x="6231636" y="4704588"/>
            <a:ext cx="5390388" cy="347472"/>
          </a:xfrm>
          <a:prstGeom prst="roundRect">
            <a:avLst/>
          </a:prstGeom>
          <a:solidFill>
            <a:srgbClr val="F4F6F9"/>
          </a:solidFill>
          <a:ln>
            <a:noFill/>
          </a:ln>
          <a:effectLst/>
        </p:spPr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84" name="Shape 84"/>
          <p:cNvSpPr/>
          <p:nvPr/>
        </p:nvSpPr>
        <p:spPr>
          <a:xfrm>
            <a:off x="6231636" y="4704588"/>
            <a:ext cx="54864" cy="347472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85" name="TextBox 85"/>
          <p:cNvSpPr txBox="1"/>
          <p:nvPr/>
        </p:nvSpPr>
        <p:spPr>
          <a:xfrm>
            <a:off x="6432804" y="4704588"/>
            <a:ext cx="3515868" cy="347472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lang="zh-TW" altLang="en-US" sz="1000" b="1" dirty="0">
                <a:solidFill>
                  <a:srgbClr val="0B0B0B"/>
                </a:solidFill>
                <a:latin typeface="微軟正黑體"/>
                <a:ea typeface="微軟正黑體"/>
                <a:cs typeface="微軟正黑體"/>
              </a:rPr>
              <a:t>寄件</a:t>
            </a:r>
          </a:p>
        </p:txBody>
      </p:sp>
      <p:sp>
        <p:nvSpPr>
          <p:cNvPr id="86" name="TextBox 86"/>
          <p:cNvSpPr txBox="1"/>
          <p:nvPr/>
        </p:nvSpPr>
        <p:spPr>
          <a:xfrm>
            <a:off x="10049256" y="4704588"/>
            <a:ext cx="731520" cy="347472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r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lang="zh-TW" altLang="en-US" sz="1000" b="1" dirty="0">
                <a:solidFill>
                  <a:srgbClr val="454441"/>
                </a:solidFill>
                <a:latin typeface="微軟正黑體"/>
                <a:ea typeface="微軟正黑體"/>
                <a:cs typeface="微軟正黑體"/>
              </a:rPr>
              <a:t>—</a:t>
            </a:r>
          </a:p>
        </p:txBody>
      </p:sp>
      <p:sp>
        <p:nvSpPr>
          <p:cNvPr id="87" name="TextBox 87"/>
          <p:cNvSpPr txBox="1"/>
          <p:nvPr/>
        </p:nvSpPr>
        <p:spPr>
          <a:xfrm>
            <a:off x="10872216" y="4704588"/>
            <a:ext cx="548640" cy="347472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r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lang="zh-TW" altLang="en-US" sz="1000" b="1" dirty="0">
                <a:solidFill>
                  <a:srgbClr val="2A78D6"/>
                </a:solidFill>
                <a:latin typeface="微軟正黑體"/>
                <a:ea typeface="微軟正黑體"/>
                <a:cs typeface="微軟正黑體"/>
              </a:rPr>
              <a:t>1%</a:t>
            </a:r>
          </a:p>
        </p:txBody>
      </p:sp>
      <p:sp>
        <p:nvSpPr>
          <p:cNvPr id="88" name="Shape 88"/>
          <p:cNvSpPr/>
          <p:nvPr/>
        </p:nvSpPr>
        <p:spPr>
          <a:xfrm>
            <a:off x="6231636" y="5093208"/>
            <a:ext cx="5390388" cy="347472"/>
          </a:xfrm>
          <a:prstGeom prst="roundRect">
            <a:avLst/>
          </a:prstGeom>
          <a:solidFill>
            <a:srgbClr val="F4F6F9"/>
          </a:solidFill>
          <a:ln>
            <a:noFill/>
          </a:ln>
          <a:effectLst/>
        </p:spPr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89" name="Shape 89"/>
          <p:cNvSpPr/>
          <p:nvPr/>
        </p:nvSpPr>
        <p:spPr>
          <a:xfrm>
            <a:off x="6231636" y="5093208"/>
            <a:ext cx="54864" cy="347472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90" name="TextBox 90"/>
          <p:cNvSpPr txBox="1"/>
          <p:nvPr/>
        </p:nvSpPr>
        <p:spPr>
          <a:xfrm>
            <a:off x="6432804" y="5093208"/>
            <a:ext cx="3515868" cy="347472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lang="zh-TW" altLang="en-US" sz="1000" b="1" dirty="0">
                <a:solidFill>
                  <a:srgbClr val="0B0B0B"/>
                </a:solidFill>
                <a:latin typeface="微軟正黑體"/>
                <a:ea typeface="微軟正黑體"/>
                <a:cs typeface="微軟正黑體"/>
              </a:rPr>
              <a:t>測試帳單申請</a:t>
            </a:r>
          </a:p>
        </p:txBody>
      </p:sp>
      <p:sp>
        <p:nvSpPr>
          <p:cNvPr id="91" name="TextBox 91"/>
          <p:cNvSpPr txBox="1"/>
          <p:nvPr/>
        </p:nvSpPr>
        <p:spPr>
          <a:xfrm>
            <a:off x="10049256" y="5093208"/>
            <a:ext cx="731520" cy="347472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r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lang="zh-TW" altLang="en-US" sz="1000" b="1" dirty="0">
                <a:solidFill>
                  <a:srgbClr val="454441"/>
                </a:solidFill>
                <a:latin typeface="微軟正黑體"/>
                <a:ea typeface="微軟正黑體"/>
                <a:cs typeface="微軟正黑體"/>
              </a:rPr>
              <a:t>—</a:t>
            </a:r>
          </a:p>
        </p:txBody>
      </p:sp>
      <p:sp>
        <p:nvSpPr>
          <p:cNvPr id="92" name="TextBox 92"/>
          <p:cNvSpPr txBox="1"/>
          <p:nvPr/>
        </p:nvSpPr>
        <p:spPr>
          <a:xfrm>
            <a:off x="10872216" y="5093208"/>
            <a:ext cx="548640" cy="347472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r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lang="zh-TW" altLang="en-US" sz="1000" b="1" dirty="0">
                <a:solidFill>
                  <a:srgbClr val="2A78D6"/>
                </a:solidFill>
                <a:latin typeface="微軟正黑體"/>
                <a:ea typeface="微軟正黑體"/>
                <a:cs typeface="微軟正黑體"/>
              </a:rPr>
              <a:t>1%</a:t>
            </a:r>
          </a:p>
        </p:txBody>
      </p:sp>
      <p:sp>
        <p:nvSpPr>
          <p:cNvPr id="93" name="TextBox 93"/>
          <p:cNvSpPr txBox="1"/>
          <p:nvPr/>
        </p:nvSpPr>
        <p:spPr>
          <a:xfrm>
            <a:off x="4384548" y="2542032"/>
            <a:ext cx="731520" cy="18288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r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lang="zh-TW" altLang="en-US" sz="850" b="1" dirty="0">
                <a:solidFill>
                  <a:srgbClr val="898781"/>
                </a:solidFill>
                <a:latin typeface="微軟正黑體"/>
                <a:ea typeface="微軟正黑體"/>
                <a:cs typeface="微軟正黑體"/>
              </a:rPr>
              <a:t>信件數</a:t>
            </a:r>
          </a:p>
        </p:txBody>
      </p:sp>
      <p:sp>
        <p:nvSpPr>
          <p:cNvPr id="94" name="TextBox 94"/>
          <p:cNvSpPr txBox="1"/>
          <p:nvPr/>
        </p:nvSpPr>
        <p:spPr>
          <a:xfrm>
            <a:off x="5207508" y="2542032"/>
            <a:ext cx="548640" cy="18288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r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lang="zh-TW" altLang="en-US" sz="850" b="1" dirty="0">
                <a:solidFill>
                  <a:srgbClr val="898781"/>
                </a:solidFill>
                <a:latin typeface="微軟正黑體"/>
                <a:ea typeface="微軟正黑體"/>
                <a:cs typeface="微軟正黑體"/>
              </a:rPr>
              <a:t>占比</a:t>
            </a:r>
          </a:p>
        </p:txBody>
      </p:sp>
      <p:sp>
        <p:nvSpPr>
          <p:cNvPr id="95" name="TextBox 95"/>
          <p:cNvSpPr txBox="1"/>
          <p:nvPr/>
        </p:nvSpPr>
        <p:spPr>
          <a:xfrm>
            <a:off x="10049256" y="2542032"/>
            <a:ext cx="731520" cy="18288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r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lang="zh-TW" altLang="en-US" sz="850" b="1" dirty="0">
                <a:solidFill>
                  <a:srgbClr val="898781"/>
                </a:solidFill>
                <a:latin typeface="微軟正黑體"/>
                <a:ea typeface="微軟正黑體"/>
                <a:cs typeface="微軟正黑體"/>
              </a:rPr>
              <a:t>信件數</a:t>
            </a:r>
          </a:p>
        </p:txBody>
      </p:sp>
      <p:sp>
        <p:nvSpPr>
          <p:cNvPr id="96" name="TextBox 96"/>
          <p:cNvSpPr txBox="1"/>
          <p:nvPr/>
        </p:nvSpPr>
        <p:spPr>
          <a:xfrm>
            <a:off x="10872216" y="2542032"/>
            <a:ext cx="548640" cy="18288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r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lang="zh-TW" altLang="en-US" sz="850" b="1" dirty="0">
                <a:solidFill>
                  <a:srgbClr val="898781"/>
                </a:solidFill>
                <a:latin typeface="微軟正黑體"/>
                <a:ea typeface="微軟正黑體"/>
                <a:cs typeface="微軟正黑體"/>
              </a:rPr>
              <a:t>占比</a:t>
            </a:r>
          </a:p>
        </p:txBody>
      </p:sp>
      <p:sp>
        <p:nvSpPr>
          <p:cNvPr id="97" name="Shape 97"/>
          <p:cNvSpPr/>
          <p:nvPr/>
        </p:nvSpPr>
        <p:spPr>
          <a:xfrm>
            <a:off x="566928" y="5660136"/>
            <a:ext cx="11055096" cy="548640"/>
          </a:xfrm>
          <a:prstGeom prst="roundRect">
            <a:avLst/>
          </a:prstGeom>
          <a:solidFill>
            <a:srgbClr val="E8F1FC"/>
          </a:solidFill>
          <a:ln>
            <a:noFill/>
          </a:ln>
          <a:effectLst/>
        </p:spPr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98" name="Shape 98"/>
          <p:cNvSpPr/>
          <p:nvPr/>
        </p:nvSpPr>
        <p:spPr>
          <a:xfrm>
            <a:off x="566928" y="5660136"/>
            <a:ext cx="54864" cy="548640"/>
          </a:xfrm>
          <a:prstGeom prst="rect">
            <a:avLst/>
          </a:prstGeom>
          <a:solidFill>
            <a:srgbClr val="1C4F8F"/>
          </a:solidFill>
          <a:ln>
            <a:noFill/>
          </a:ln>
          <a:effectLst/>
        </p:spPr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99" name="TextBox 99"/>
          <p:cNvSpPr txBox="1"/>
          <p:nvPr/>
        </p:nvSpPr>
        <p:spPr>
          <a:xfrm>
            <a:off x="786384" y="5687568"/>
            <a:ext cx="10616184" cy="493776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lang="zh-TW" altLang="en-US" sz="1300" b="1" dirty="0">
                <a:solidFill>
                  <a:srgbClr val="1C4F8F"/>
                </a:solidFill>
                <a:latin typeface="微軟正黑體"/>
                <a:ea typeface="微軟正黑體"/>
                <a:cs typeface="微軟正黑體"/>
              </a:rPr>
              <a:t>→ </a:t>
            </a:r>
            <a:r>
              <a:rPr lang="zh-TW" altLang="en-US" sz="1300" b="1" dirty="0">
                <a:solidFill>
                  <a:srgbClr val="0B0B0B"/>
                </a:solidFill>
                <a:latin typeface="微軟正黑體"/>
                <a:ea typeface="微軟正黑體"/>
                <a:cs typeface="微軟正黑體"/>
              </a:rPr>
              <a:t>信件數最少的「重大品質異常」（82 封）占比卻最高（15%）—— </a:t>
            </a:r>
            <a:r>
              <a:rPr lang="zh-TW" altLang="en-US" sz="1300" b="1" dirty="0">
                <a:solidFill>
                  <a:srgbClr val="D03B3B"/>
                </a:solidFill>
                <a:latin typeface="微軟正黑體"/>
                <a:ea typeface="微軟正黑體"/>
                <a:cs typeface="微軟正黑體"/>
              </a:rPr>
              <a:t>工時不跟信件數走，跟事情的難度走</a:t>
            </a:r>
            <a:r>
              <a:rPr lang="zh-TW" altLang="en-US" sz="1300" b="1" dirty="0">
                <a:solidFill>
                  <a:srgbClr val="0B0B0B"/>
                </a:solidFill>
                <a:latin typeface="微軟正黑體"/>
                <a:ea typeface="微軟正黑體"/>
                <a:cs typeface="微軟正黑體"/>
              </a:rPr>
              <a:t>。</a:t>
            </a:r>
          </a:p>
        </p:txBody>
      </p:sp>
      <p:sp>
        <p:nvSpPr>
          <p:cNvPr id="100" name="TextBox 100"/>
          <p:cNvSpPr txBox="1"/>
          <p:nvPr/>
        </p:nvSpPr>
        <p:spPr>
          <a:xfrm>
            <a:off x="566928" y="6565392"/>
            <a:ext cx="11055096" cy="237744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lang="zh-TW" altLang="en-US" sz="850" b="0" dirty="0">
                <a:solidFill>
                  <a:srgbClr val="898781"/>
                </a:solidFill>
                <a:latin typeface="微軟正黑體"/>
                <a:ea typeface="微軟正黑體"/>
                <a:cs typeface="微軟正黑體"/>
              </a:rPr>
              <a:t>資料來源：主採工作內容分類與 AI 可行性分析（綜合分析表）。信件數為樣本期間統計值；占比為關鍵字分類之估算值，樣本與口徑限制見「AI 接手的是填表與核對」頁。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01" name="Shape 901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1C4F8F"/>
          </a:solidFill>
          <a:ln>
            <a:noFill/>
          </a:ln>
          <a:effectLst/>
        </p:spPr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902" name="Shape 902"/>
          <p:cNvSpPr/>
          <p:nvPr/>
        </p:nvSpPr>
        <p:spPr>
          <a:xfrm>
            <a:off x="566928" y="1335024"/>
            <a:ext cx="11055096" cy="27432"/>
          </a:xfrm>
          <a:prstGeom prst="rect">
            <a:avLst/>
          </a:prstGeom>
          <a:solidFill>
            <a:srgbClr val="1C4F8F"/>
          </a:solidFill>
          <a:ln>
            <a:noFill/>
          </a:ln>
          <a:effectLst/>
        </p:spPr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2" name="Text 0"/>
          <p:cNvSpPr txBox="1"/>
          <p:nvPr/>
        </p:nvSpPr>
        <p:spPr>
          <a:xfrm>
            <a:off x="566928" y="384048"/>
            <a:ext cx="1105509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sz="1250" lang="en-US" b="1" dirty="0">
                <a:solidFill>
                  <a:srgbClr val="2A78D6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一、主採範疇</a:t>
            </a:r>
            <a:endParaRPr lang="en-US" sz="16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694944"/>
            <a:ext cx="11055096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0B0B0B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十四大類與 AI 可協助比例 — 最高的一類也只有 25%，沒有一類能由 AI 獨立完成</a:t>
            </a:r>
            <a:endParaRPr lang="en-US" sz="2200" dirty="0"/>
          </a:p>
        </p:txBody>
      </p:sp>
      <p:sp>
        <p:nvSpPr>
          <p:cNvPr id="4" name="Text 2"/>
          <p:cNvSpPr txBox="1"/>
          <p:nvPr/>
        </p:nvSpPr>
        <p:spPr>
          <a:xfrm>
            <a:off x="566928" y="1536192"/>
            <a:ext cx="1752856" cy="50119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000" b="1" dirty="0">
                <a:solidFill>
                  <a:srgbClr val="1C4F8F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15%</a:t>
            </a:r>
            <a:endParaRPr lang="en-US" sz="3000" dirty="0"/>
          </a:p>
        </p:txBody>
      </p:sp>
      <p:sp>
        <p:nvSpPr>
          <p:cNvPr id="5" name="Text 3"/>
          <p:cNvSpPr txBox="1"/>
          <p:nvPr/>
        </p:nvSpPr>
        <p:spPr>
          <a:xfrm>
            <a:off x="566928" y="2037391"/>
            <a:ext cx="1752856" cy="5467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898781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重大品質異常</a:t>
            </a:r>
            <a:endParaRPr lang="en-US" sz="1100" dirty="0"/>
          </a:p>
        </p:txBody>
      </p:sp>
      <p:sp>
        <p:nvSpPr>
          <p:cNvPr id="6" name="Text 4"/>
          <p:cNvSpPr txBox="1"/>
          <p:nvPr/>
        </p:nvSpPr>
        <p:spPr>
          <a:xfrm>
            <a:off x="2409444" y="1536192"/>
            <a:ext cx="1752856" cy="50119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000" b="1" dirty="0">
                <a:solidFill>
                  <a:srgbClr val="1C4F8F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10%</a:t>
            </a:r>
            <a:endParaRPr lang="en-US" sz="3000" dirty="0"/>
          </a:p>
        </p:txBody>
      </p:sp>
      <p:sp>
        <p:nvSpPr>
          <p:cNvPr id="7" name="Text 5"/>
          <p:cNvSpPr txBox="1"/>
          <p:nvPr/>
        </p:nvSpPr>
        <p:spPr>
          <a:xfrm>
            <a:off x="2409444" y="2037391"/>
            <a:ext cx="1752856" cy="5467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898781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前端面料開發</a:t>
            </a:r>
            <a:endParaRPr lang="en-US" sz="1100" dirty="0"/>
          </a:p>
        </p:txBody>
      </p:sp>
      <p:sp>
        <p:nvSpPr>
          <p:cNvPr id="8" name="Text 6"/>
          <p:cNvSpPr txBox="1"/>
          <p:nvPr/>
        </p:nvSpPr>
        <p:spPr>
          <a:xfrm>
            <a:off x="4251960" y="1536192"/>
            <a:ext cx="1752856" cy="50119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000" b="1" dirty="0">
                <a:solidFill>
                  <a:srgbClr val="1C4F8F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10%</a:t>
            </a:r>
            <a:endParaRPr lang="en-US" sz="3000" dirty="0"/>
          </a:p>
        </p:txBody>
      </p:sp>
      <p:sp>
        <p:nvSpPr>
          <p:cNvPr id="9" name="Text 7"/>
          <p:cNvSpPr txBox="1"/>
          <p:nvPr/>
        </p:nvSpPr>
        <p:spPr>
          <a:xfrm>
            <a:off x="4251960" y="2037391"/>
            <a:ext cx="1752856" cy="5467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898781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EC/樣品調布</a:t>
            </a:r>
            <a:endParaRPr lang="en-US" sz="1100" dirty="0"/>
          </a:p>
        </p:txBody>
      </p:sp>
      <p:sp>
        <p:nvSpPr>
          <p:cNvPr id="10" name="Text 8"/>
          <p:cNvSpPr txBox="1"/>
          <p:nvPr/>
        </p:nvSpPr>
        <p:spPr>
          <a:xfrm>
            <a:off x="6094476" y="1536192"/>
            <a:ext cx="1752856" cy="50119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000" b="1" dirty="0">
                <a:solidFill>
                  <a:srgbClr val="1C4F8F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10%</a:t>
            </a:r>
            <a:endParaRPr lang="en-US" sz="3000" dirty="0"/>
          </a:p>
        </p:txBody>
      </p:sp>
      <p:sp>
        <p:nvSpPr>
          <p:cNvPr id="11" name="Text 9"/>
          <p:cNvSpPr txBox="1"/>
          <p:nvPr/>
        </p:nvSpPr>
        <p:spPr>
          <a:xfrm>
            <a:off x="6094476" y="2037391"/>
            <a:ext cx="1752856" cy="5467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898781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進單前交期TA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7936992" y="1536192"/>
            <a:ext cx="1752856" cy="50119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000" b="1" dirty="0">
                <a:solidFill>
                  <a:srgbClr val="1C4F8F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10%</a:t>
            </a:r>
            <a:endParaRPr lang="en-US" sz="3000" dirty="0"/>
          </a:p>
        </p:txBody>
      </p:sp>
      <p:sp>
        <p:nvSpPr>
          <p:cNvPr id="13" name="Text 11"/>
          <p:cNvSpPr txBox="1"/>
          <p:nvPr/>
        </p:nvSpPr>
        <p:spPr>
          <a:xfrm>
            <a:off x="7936992" y="2037391"/>
            <a:ext cx="1752856" cy="5467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898781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FBO/CBD TA確認</a:t>
            </a:r>
            <a:endParaRPr lang="en-US" sz="1100" dirty="0"/>
          </a:p>
        </p:txBody>
      </p:sp>
      <p:sp>
        <p:nvSpPr>
          <p:cNvPr id="14" name="Text 12"/>
          <p:cNvSpPr txBox="1"/>
          <p:nvPr/>
        </p:nvSpPr>
        <p:spPr>
          <a:xfrm>
            <a:off x="9779508" y="1536192"/>
            <a:ext cx="1752856" cy="50119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000" b="1" dirty="0">
                <a:solidFill>
                  <a:srgbClr val="1C4F8F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10%</a:t>
            </a:r>
            <a:endParaRPr lang="en-US" sz="3000" dirty="0"/>
          </a:p>
        </p:txBody>
      </p:sp>
      <p:sp>
        <p:nvSpPr>
          <p:cNvPr id="15" name="Text 13"/>
          <p:cNvSpPr txBox="1"/>
          <p:nvPr/>
        </p:nvSpPr>
        <p:spPr>
          <a:xfrm>
            <a:off x="9779508" y="2037391"/>
            <a:ext cx="1752856" cy="5467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898781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缸差核可進度</a:t>
            </a:r>
            <a:endParaRPr lang="en-US" sz="1100" dirty="0"/>
          </a:p>
        </p:txBody>
      </p:sp>
      <p:graphicFrame>
        <p:nvGraphicFramePr>
          <p:cNvPr id="1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66928" y="2766408"/>
          <a:ext cx="11064062" cy="3652680"/>
        </p:xfrm>
        <a:graphic>
          <a:graphicData uri="http://schemas.openxmlformats.org/drawingml/2006/table">
            <a:tbl>
              <a:tblPr/>
              <a:tblGrid>
                <a:gridCol w="4958206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03528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03528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035285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236931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工作類型</a:t>
                      </a:r>
                      <a:endParaRPr lang="en-US" sz="1050" dirty="0">
                        <a:latin typeface="微軟正黑體" charset="0"/>
                        <a:ea typeface="微軟正黑體" charset="0"/>
                        <a:cs typeface="微軟正黑體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D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4F8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占比估計</a:t>
                      </a:r>
                      <a:endParaRPr lang="en-US" sz="1050" dirty="0">
                        <a:latin typeface="微軟正黑體" charset="0"/>
                        <a:ea typeface="微軟正黑體" charset="0"/>
                        <a:cs typeface="微軟正黑體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D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4F8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AI可獨立完成</a:t>
                      </a:r>
                      <a:endParaRPr lang="en-US" sz="1050" dirty="0">
                        <a:latin typeface="微軟正黑體" charset="0"/>
                        <a:ea typeface="微軟正黑體" charset="0"/>
                        <a:cs typeface="微軟正黑體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D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4F8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AI可協助比例</a:t>
                      </a:r>
                      <a:endParaRPr lang="en-US" sz="1050" dirty="0">
                        <a:latin typeface="微軟正黑體" charset="0"/>
                        <a:ea typeface="微軟正黑體" charset="0"/>
                        <a:cs typeface="微軟正黑體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D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4F8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36931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C4F8F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重大品質異常</a:t>
                      </a:r>
                      <a:endParaRPr lang="en-US" sz="1000" dirty="0">
                        <a:latin typeface="微軟正黑體" charset="0"/>
                        <a:ea typeface="微軟正黑體" charset="0"/>
                        <a:cs typeface="微軟正黑體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D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C4F8F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15%</a:t>
                      </a:r>
                      <a:endParaRPr lang="en-US" sz="1000" dirty="0">
                        <a:latin typeface="微軟正黑體" charset="0"/>
                        <a:ea typeface="微軟正黑體" charset="0"/>
                        <a:cs typeface="微軟正黑體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D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C4F8F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低</a:t>
                      </a:r>
                      <a:endParaRPr lang="en-US" sz="1000" dirty="0">
                        <a:latin typeface="微軟正黑體" charset="0"/>
                        <a:ea typeface="微軟正黑體" charset="0"/>
                        <a:cs typeface="微軟正黑體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D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C4F8F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5%</a:t>
                      </a:r>
                      <a:endParaRPr lang="en-US" sz="1000" dirty="0">
                        <a:latin typeface="微軟正黑體" charset="0"/>
                        <a:ea typeface="微軟正黑體" charset="0"/>
                        <a:cs typeface="微軟正黑體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D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36931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C4F8F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前端面料開發事宜</a:t>
                      </a:r>
                      <a:endParaRPr lang="en-US" sz="1000" dirty="0">
                        <a:latin typeface="微軟正黑體" charset="0"/>
                        <a:ea typeface="微軟正黑體" charset="0"/>
                        <a:cs typeface="微軟正黑體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D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F1F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C4F8F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10%</a:t>
                      </a:r>
                      <a:endParaRPr lang="en-US" sz="1000" dirty="0">
                        <a:latin typeface="微軟正黑體" charset="0"/>
                        <a:ea typeface="微軟正黑體" charset="0"/>
                        <a:cs typeface="微軟正黑體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D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F1F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C4F8F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低</a:t>
                      </a:r>
                      <a:endParaRPr lang="en-US" sz="1000" dirty="0">
                        <a:latin typeface="微軟正黑體" charset="0"/>
                        <a:ea typeface="微軟正黑體" charset="0"/>
                        <a:cs typeface="微軟正黑體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D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F1F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C4F8F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10%</a:t>
                      </a:r>
                      <a:endParaRPr lang="en-US" sz="1000" dirty="0">
                        <a:latin typeface="微軟正黑體" charset="0"/>
                        <a:ea typeface="微軟正黑體" charset="0"/>
                        <a:cs typeface="微軟正黑體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D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F1F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36931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C4F8F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EC/樣品/APP調料調布需求</a:t>
                      </a:r>
                      <a:endParaRPr lang="en-US" sz="1000" dirty="0">
                        <a:latin typeface="微軟正黑體" charset="0"/>
                        <a:ea typeface="微軟正黑體" charset="0"/>
                        <a:cs typeface="微軟正黑體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D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C4F8F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10%</a:t>
                      </a:r>
                      <a:endParaRPr lang="en-US" sz="1000" dirty="0">
                        <a:latin typeface="微軟正黑體" charset="0"/>
                        <a:ea typeface="微軟正黑體" charset="0"/>
                        <a:cs typeface="微軟正黑體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D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C4F8F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低</a:t>
                      </a:r>
                      <a:endParaRPr lang="en-US" sz="1000" dirty="0">
                        <a:latin typeface="微軟正黑體" charset="0"/>
                        <a:ea typeface="微軟正黑體" charset="0"/>
                        <a:cs typeface="微軟正黑體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D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C4F8F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10%</a:t>
                      </a:r>
                      <a:endParaRPr lang="en-US" sz="1000" dirty="0">
                        <a:latin typeface="微軟正黑體" charset="0"/>
                        <a:ea typeface="微軟正黑體" charset="0"/>
                        <a:cs typeface="微軟正黑體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D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36931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C4F8F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進單前交期TA</a:t>
                      </a:r>
                      <a:endParaRPr lang="en-US" sz="1000" dirty="0">
                        <a:latin typeface="微軟正黑體" charset="0"/>
                        <a:ea typeface="微軟正黑體" charset="0"/>
                        <a:cs typeface="微軟正黑體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D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F1F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C4F8F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10%</a:t>
                      </a:r>
                      <a:endParaRPr lang="en-US" sz="1000" dirty="0">
                        <a:latin typeface="微軟正黑體" charset="0"/>
                        <a:ea typeface="微軟正黑體" charset="0"/>
                        <a:cs typeface="微軟正黑體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D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F1F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C4F8F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低</a:t>
                      </a:r>
                      <a:endParaRPr lang="en-US" sz="1000" dirty="0">
                        <a:latin typeface="微軟正黑體" charset="0"/>
                        <a:ea typeface="微軟正黑體" charset="0"/>
                        <a:cs typeface="微軟正黑體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D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F1F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C4F8F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15%</a:t>
                      </a:r>
                      <a:endParaRPr lang="en-US" sz="1000" dirty="0">
                        <a:latin typeface="微軟正黑體" charset="0"/>
                        <a:ea typeface="微軟正黑體" charset="0"/>
                        <a:cs typeface="微軟正黑體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D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F1F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36931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C4F8F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FBO/CBD/主料TA確認</a:t>
                      </a:r>
                      <a:endParaRPr lang="en-US" sz="1000" dirty="0">
                        <a:latin typeface="微軟正黑體" charset="0"/>
                        <a:ea typeface="微軟正黑體" charset="0"/>
                        <a:cs typeface="微軟正黑體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D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C4F8F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10%</a:t>
                      </a:r>
                      <a:endParaRPr lang="en-US" sz="1000" dirty="0">
                        <a:latin typeface="微軟正黑體" charset="0"/>
                        <a:ea typeface="微軟正黑體" charset="0"/>
                        <a:cs typeface="微軟正黑體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D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C4F8F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低</a:t>
                      </a:r>
                      <a:endParaRPr lang="en-US" sz="1000" dirty="0">
                        <a:latin typeface="微軟正黑體" charset="0"/>
                        <a:ea typeface="微軟正黑體" charset="0"/>
                        <a:cs typeface="微軟正黑體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D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C4F8F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25%</a:t>
                      </a:r>
                      <a:endParaRPr lang="en-US" sz="1000" dirty="0">
                        <a:latin typeface="微軟正黑體" charset="0"/>
                        <a:ea typeface="微軟正黑體" charset="0"/>
                        <a:cs typeface="微軟正黑體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D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36931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C4F8F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缸差核可進度</a:t>
                      </a:r>
                      <a:endParaRPr lang="en-US" sz="1000" dirty="0">
                        <a:latin typeface="微軟正黑體" charset="0"/>
                        <a:ea typeface="微軟正黑體" charset="0"/>
                        <a:cs typeface="微軟正黑體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D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F1F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C4F8F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10%</a:t>
                      </a:r>
                      <a:endParaRPr lang="en-US" sz="1000" dirty="0">
                        <a:latin typeface="微軟正黑體" charset="0"/>
                        <a:ea typeface="微軟正黑體" charset="0"/>
                        <a:cs typeface="微軟正黑體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D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F1F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C4F8F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低</a:t>
                      </a:r>
                      <a:endParaRPr lang="en-US" sz="1000" dirty="0">
                        <a:latin typeface="微軟正黑體" charset="0"/>
                        <a:ea typeface="微軟正黑體" charset="0"/>
                        <a:cs typeface="微軟正黑體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D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F1F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C4F8F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15%</a:t>
                      </a:r>
                      <a:endParaRPr lang="en-US" sz="1000" dirty="0">
                        <a:latin typeface="微軟正黑體" charset="0"/>
                        <a:ea typeface="微軟正黑體" charset="0"/>
                        <a:cs typeface="微軟正黑體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D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F1F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36931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C4F8F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內部固定會議・報表</a:t>
                      </a:r>
                      <a:endParaRPr lang="en-US" sz="1000" dirty="0">
                        <a:latin typeface="微軟正黑體" charset="0"/>
                        <a:ea typeface="微軟正黑體" charset="0"/>
                        <a:cs typeface="微軟正黑體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D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C4F8F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10%</a:t>
                      </a:r>
                      <a:endParaRPr lang="en-US" sz="1000" dirty="0">
                        <a:latin typeface="微軟正黑體" charset="0"/>
                        <a:ea typeface="微軟正黑體" charset="0"/>
                        <a:cs typeface="微軟正黑體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D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C4F8F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低</a:t>
                      </a:r>
                      <a:endParaRPr lang="en-US" sz="1000" dirty="0">
                        <a:latin typeface="微軟正黑體" charset="0"/>
                        <a:ea typeface="微軟正黑體" charset="0"/>
                        <a:cs typeface="微軟正黑體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D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C4F8F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10%</a:t>
                      </a:r>
                      <a:endParaRPr lang="en-US" sz="1000" dirty="0">
                        <a:latin typeface="微軟正黑體" charset="0"/>
                        <a:ea typeface="微軟正黑體" charset="0"/>
                        <a:cs typeface="微軟正黑體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D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236931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C4F8F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換片率/短碼/補布/庫存/色差判定</a:t>
                      </a:r>
                      <a:endParaRPr lang="en-US" sz="1000" dirty="0">
                        <a:latin typeface="微軟正黑體" charset="0"/>
                        <a:ea typeface="微軟正黑體" charset="0"/>
                        <a:cs typeface="微軟正黑體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D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F1F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C4F8F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7%</a:t>
                      </a:r>
                      <a:endParaRPr lang="en-US" sz="1000" dirty="0">
                        <a:latin typeface="微軟正黑體" charset="0"/>
                        <a:ea typeface="微軟正黑體" charset="0"/>
                        <a:cs typeface="微軟正黑體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D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F1F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C4F8F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低</a:t>
                      </a:r>
                      <a:endParaRPr lang="en-US" sz="1000" dirty="0">
                        <a:latin typeface="微軟正黑體" charset="0"/>
                        <a:ea typeface="微軟正黑體" charset="0"/>
                        <a:cs typeface="微軟正黑體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D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F1F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C4F8F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10%</a:t>
                      </a:r>
                      <a:endParaRPr lang="en-US" sz="1000" dirty="0">
                        <a:latin typeface="微軟正黑體" charset="0"/>
                        <a:ea typeface="微軟正黑體" charset="0"/>
                        <a:cs typeface="微軟正黑體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D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F1F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236931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C4F8F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物流/出貨追蹤</a:t>
                      </a:r>
                      <a:endParaRPr lang="en-US" sz="1000" dirty="0">
                        <a:latin typeface="微軟正黑體" charset="0"/>
                        <a:ea typeface="微軟正黑體" charset="0"/>
                        <a:cs typeface="微軟正黑體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D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C4F8F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5%</a:t>
                      </a:r>
                      <a:endParaRPr lang="en-US" sz="1000" dirty="0">
                        <a:latin typeface="微軟正黑體" charset="0"/>
                        <a:ea typeface="微軟正黑體" charset="0"/>
                        <a:cs typeface="微軟正黑體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D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C4F8F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低</a:t>
                      </a:r>
                      <a:endParaRPr lang="en-US" sz="1000" dirty="0">
                        <a:latin typeface="微軟正黑體" charset="0"/>
                        <a:ea typeface="微軟正黑體" charset="0"/>
                        <a:cs typeface="微軟正黑體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D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C4F8F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25%</a:t>
                      </a:r>
                      <a:endParaRPr lang="en-US" sz="1000" dirty="0">
                        <a:latin typeface="微軟正黑體" charset="0"/>
                        <a:ea typeface="微軟正黑體" charset="0"/>
                        <a:cs typeface="微軟正黑體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D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236931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C4F8F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驗貨/測試</a:t>
                      </a:r>
                      <a:endParaRPr lang="en-US" sz="1000" dirty="0">
                        <a:latin typeface="微軟正黑體" charset="0"/>
                        <a:ea typeface="微軟正黑體" charset="0"/>
                        <a:cs typeface="微軟正黑體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D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F1F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C4F8F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5%</a:t>
                      </a:r>
                      <a:endParaRPr lang="en-US" sz="1000" dirty="0">
                        <a:latin typeface="微軟正黑體" charset="0"/>
                        <a:ea typeface="微軟正黑體" charset="0"/>
                        <a:cs typeface="微軟正黑體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D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F1F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C4F8F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低</a:t>
                      </a:r>
                      <a:endParaRPr lang="en-US" sz="1000" dirty="0">
                        <a:latin typeface="微軟正黑體" charset="0"/>
                        <a:ea typeface="微軟正黑體" charset="0"/>
                        <a:cs typeface="微軟正黑體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D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F1F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C4F8F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20%</a:t>
                      </a:r>
                      <a:endParaRPr lang="en-US" sz="1000" dirty="0">
                        <a:latin typeface="微軟正黑體" charset="0"/>
                        <a:ea typeface="微軟正黑體" charset="0"/>
                        <a:cs typeface="微軟正黑體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D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F1F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  <a:tr h="236931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C4F8F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開訂單PO</a:t>
                      </a:r>
                      <a:endParaRPr lang="en-US" sz="1000" dirty="0">
                        <a:latin typeface="微軟正黑體" charset="0"/>
                        <a:ea typeface="微軟正黑體" charset="0"/>
                        <a:cs typeface="微軟正黑體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D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C4F8F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3%</a:t>
                      </a:r>
                      <a:endParaRPr lang="en-US" sz="1000" dirty="0">
                        <a:latin typeface="微軟正黑體" charset="0"/>
                        <a:ea typeface="微軟正黑體" charset="0"/>
                        <a:cs typeface="微軟正黑體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D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C4F8F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低</a:t>
                      </a:r>
                      <a:endParaRPr lang="en-US" sz="1000" dirty="0">
                        <a:latin typeface="微軟正黑體" charset="0"/>
                        <a:ea typeface="微軟正黑體" charset="0"/>
                        <a:cs typeface="微軟正黑體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D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C4F8F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5%</a:t>
                      </a:r>
                      <a:endParaRPr lang="en-US" sz="1000" dirty="0">
                        <a:latin typeface="微軟正黑體" charset="0"/>
                        <a:ea typeface="微軟正黑體" charset="0"/>
                        <a:cs typeface="微軟正黑體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D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1"/>
                  </a:ext>
                </a:extLst>
              </a:tr>
              <a:tr h="236931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C4F8F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收料/結帳</a:t>
                      </a:r>
                      <a:endParaRPr lang="en-US" sz="1000" dirty="0">
                        <a:latin typeface="微軟正黑體" charset="0"/>
                        <a:ea typeface="微軟正黑體" charset="0"/>
                        <a:cs typeface="微軟正黑體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D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F1F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C4F8F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3%</a:t>
                      </a:r>
                      <a:endParaRPr lang="en-US" sz="1000" dirty="0">
                        <a:latin typeface="微軟正黑體" charset="0"/>
                        <a:ea typeface="微軟正黑體" charset="0"/>
                        <a:cs typeface="微軟正黑體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D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F1F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C4F8F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低</a:t>
                      </a:r>
                      <a:endParaRPr lang="en-US" sz="1000" dirty="0">
                        <a:latin typeface="微軟正黑體" charset="0"/>
                        <a:ea typeface="微軟正黑體" charset="0"/>
                        <a:cs typeface="微軟正黑體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D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F1F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C4F8F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5%</a:t>
                      </a:r>
                      <a:endParaRPr lang="en-US" sz="1000" dirty="0">
                        <a:latin typeface="微軟正黑體" charset="0"/>
                        <a:ea typeface="微軟正黑體" charset="0"/>
                        <a:cs typeface="微軟正黑體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D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F1F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2"/>
                  </a:ext>
                </a:extLst>
              </a:tr>
              <a:tr h="236931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C4F8F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測試帳單申請</a:t>
                      </a:r>
                      <a:endParaRPr lang="en-US" sz="1000" dirty="0">
                        <a:latin typeface="微軟正黑體" charset="0"/>
                        <a:ea typeface="微軟正黑體" charset="0"/>
                        <a:cs typeface="微軟正黑體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D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C4F8F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1%</a:t>
                      </a:r>
                      <a:endParaRPr lang="en-US" sz="1000" dirty="0">
                        <a:latin typeface="微軟正黑體" charset="0"/>
                        <a:ea typeface="微軟正黑體" charset="0"/>
                        <a:cs typeface="微軟正黑體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D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C4F8F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低</a:t>
                      </a:r>
                      <a:endParaRPr lang="en-US" sz="1000" dirty="0">
                        <a:latin typeface="微軟正黑體" charset="0"/>
                        <a:ea typeface="微軟正黑體" charset="0"/>
                        <a:cs typeface="微軟正黑體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D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C4F8F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5%</a:t>
                      </a:r>
                      <a:endParaRPr lang="en-US" sz="1000" dirty="0">
                        <a:latin typeface="微軟正黑體" charset="0"/>
                        <a:ea typeface="微軟正黑體" charset="0"/>
                        <a:cs typeface="微軟正黑體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D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3"/>
                  </a:ext>
                </a:extLst>
              </a:tr>
              <a:tr h="236931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C4F8F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寄件</a:t>
                      </a:r>
                      <a:endParaRPr lang="en-US" sz="1000" dirty="0">
                        <a:latin typeface="微軟正黑體" charset="0"/>
                        <a:ea typeface="微軟正黑體" charset="0"/>
                        <a:cs typeface="微軟正黑體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D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F1F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C4F8F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1%</a:t>
                      </a:r>
                      <a:endParaRPr lang="en-US" sz="1000" dirty="0">
                        <a:latin typeface="微軟正黑體" charset="0"/>
                        <a:ea typeface="微軟正黑體" charset="0"/>
                        <a:cs typeface="微軟正黑體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D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F1F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C4F8F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低</a:t>
                      </a:r>
                      <a:endParaRPr lang="en-US" sz="1000" dirty="0">
                        <a:latin typeface="微軟正黑體" charset="0"/>
                        <a:ea typeface="微軟正黑體" charset="0"/>
                        <a:cs typeface="微軟正黑體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D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F1F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C4F8F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5%</a:t>
                      </a:r>
                      <a:endParaRPr lang="en-US" sz="1000" dirty="0">
                        <a:latin typeface="微軟正黑體" charset="0"/>
                        <a:ea typeface="微軟正黑體" charset="0"/>
                        <a:cs typeface="微軟正黑體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D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F1F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4"/>
                  </a:ext>
                </a:extLst>
              </a:tr>
            </a:tbl>
          </a:graphicData>
        </a:graphic>
      </p:graphicFrame>
      <p:sp>
        <p:nvSpPr>
          <p:cNvPr id="17" name="Text 14"/>
          <p:cNvSpPr txBox="1"/>
          <p:nvPr/>
        </p:nvSpPr>
        <p:spPr>
          <a:xfrm>
            <a:off x="566928" y="6565392"/>
            <a:ext cx="1105509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sz="850" lang="en-US" i="1" dirty="0">
                <a:solidFill>
                  <a:srgbClr val="898781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資料來源：主採工作內容分類與AI可行性分析（綜合分析分頁），關鍵字分類估算值，需相關單位複核。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2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1C4F8F"/>
          </a:solidFill>
          <a:ln>
            <a:noFill/>
          </a:ln>
          <a:effectLst/>
        </p:spPr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3" name="TextBox 3"/>
          <p:cNvSpPr txBox="1"/>
          <p:nvPr/>
        </p:nvSpPr>
        <p:spPr>
          <a:xfrm>
            <a:off x="566928" y="384048"/>
            <a:ext cx="11055096" cy="292608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lang="zh-TW" altLang="en-US" sz="1250" b="1" dirty="0">
                <a:solidFill>
                  <a:srgbClr val="2A78D6"/>
                </a:solidFill>
                <a:latin typeface="微軟正黑體"/>
                <a:ea typeface="微軟正黑體"/>
                <a:cs typeface="微軟正黑體"/>
              </a:rPr>
              <a:t>二、AI 能協助到哪裡</a:t>
            </a:r>
          </a:p>
        </p:txBody>
      </p:sp>
      <p:sp>
        <p:nvSpPr>
          <p:cNvPr id="4" name="TextBox 4"/>
          <p:cNvSpPr txBox="1"/>
          <p:nvPr/>
        </p:nvSpPr>
        <p:spPr>
          <a:xfrm>
            <a:off x="566928" y="694944"/>
            <a:ext cx="11055096" cy="393192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lang="zh-TW" altLang="en-US" sz="2500" b="1" dirty="0">
                <a:solidFill>
                  <a:srgbClr val="0B0B0B"/>
                </a:solidFill>
                <a:latin typeface="微軟正黑體"/>
                <a:ea typeface="微軟正黑體"/>
                <a:cs typeface="微軟正黑體"/>
              </a:rPr>
              <a:t>AI 為什麼只能協助、不能代替 — 六個共通的結構性原因</a:t>
            </a:r>
          </a:p>
        </p:txBody>
      </p:sp>
      <p:sp>
        <p:nvSpPr>
          <p:cNvPr id="5" name="Shape 5"/>
          <p:cNvSpPr/>
          <p:nvPr/>
        </p:nvSpPr>
        <p:spPr>
          <a:xfrm>
            <a:off x="566928" y="1335024"/>
            <a:ext cx="11055096" cy="27432"/>
          </a:xfrm>
          <a:prstGeom prst="rect">
            <a:avLst/>
          </a:prstGeom>
          <a:solidFill>
            <a:srgbClr val="1C4F8F"/>
          </a:solidFill>
          <a:ln>
            <a:noFill/>
          </a:ln>
          <a:effectLst/>
        </p:spPr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6" name="TextBox 6"/>
          <p:cNvSpPr txBox="1"/>
          <p:nvPr/>
        </p:nvSpPr>
        <p:spPr>
          <a:xfrm>
            <a:off x="566928" y="1517904"/>
            <a:ext cx="11055096" cy="237744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lang="zh-TW" altLang="en-US" sz="1250" b="1" dirty="0">
                <a:solidFill>
                  <a:srgbClr val="1C4F8F"/>
                </a:solidFill>
                <a:latin typeface="微軟正黑體"/>
                <a:ea typeface="微軟正黑體"/>
                <a:cs typeface="微軟正黑體"/>
              </a:rPr>
              <a:t>不是工作內容單純，而是瓶頸都落在系統之外 —— 等待、協商、實物判斷</a:t>
            </a:r>
          </a:p>
        </p:txBody>
      </p:sp>
      <p:sp>
        <p:nvSpPr>
          <p:cNvPr id="7" name="Shape 7"/>
          <p:cNvSpPr/>
          <p:nvPr/>
        </p:nvSpPr>
        <p:spPr>
          <a:xfrm>
            <a:off x="566928" y="1847088"/>
            <a:ext cx="3538728" cy="1371600"/>
          </a:xfrm>
          <a:prstGeom prst="roundRect">
            <a:avLst/>
          </a:prstGeom>
          <a:solidFill>
            <a:srgbClr val="F4F6F9"/>
          </a:solidFill>
          <a:ln>
            <a:noFill/>
          </a:ln>
          <a:effectLst/>
        </p:spPr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8" name="Shape 8"/>
          <p:cNvSpPr/>
          <p:nvPr/>
        </p:nvSpPr>
        <p:spPr>
          <a:xfrm>
            <a:off x="566928" y="1847088"/>
            <a:ext cx="54864" cy="1371600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9" name="TextBox 9"/>
          <p:cNvSpPr txBox="1"/>
          <p:nvPr/>
        </p:nvSpPr>
        <p:spPr>
          <a:xfrm>
            <a:off x="768096" y="1965960"/>
            <a:ext cx="3136392" cy="219456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lang="zh-TW" altLang="en-US" sz="1050" b="1" dirty="0">
                <a:solidFill>
                  <a:srgbClr val="2A78D6"/>
                </a:solidFill>
                <a:latin typeface="微軟正黑體"/>
                <a:ea typeface="微軟正黑體"/>
                <a:cs typeface="微軟正黑體"/>
              </a:rPr>
              <a:t>① 多輪來回議定，不是單向查詢</a:t>
            </a:r>
          </a:p>
        </p:txBody>
      </p:sp>
      <p:sp>
        <p:nvSpPr>
          <p:cNvPr id="10" name="TextBox 10"/>
          <p:cNvSpPr txBox="1"/>
          <p:nvPr/>
        </p:nvSpPr>
        <p:spPr>
          <a:xfrm>
            <a:off x="768096" y="2249424"/>
            <a:ext cx="3136392" cy="841248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lang="zh-TW" altLang="en-US" sz="900" b="0" dirty="0">
                <a:solidFill>
                  <a:srgbClr val="454441"/>
                </a:solidFill>
                <a:latin typeface="微軟正黑體"/>
                <a:ea typeface="微軟正黑體"/>
                <a:cs typeface="微軟正黑體"/>
              </a:rPr>
              <a:t>TA 交期不是布廠給一個數字就定案：布廠產能、原料到位時間都要反覆協調，過程還包含人民幣匯率商談，屬多輪議價。</a:t>
            </a:r>
          </a:p>
        </p:txBody>
      </p:sp>
      <p:sp>
        <p:nvSpPr>
          <p:cNvPr id="11" name="Shape 11"/>
          <p:cNvSpPr/>
          <p:nvPr/>
        </p:nvSpPr>
        <p:spPr>
          <a:xfrm>
            <a:off x="4325112" y="1847088"/>
            <a:ext cx="3538728" cy="1371600"/>
          </a:xfrm>
          <a:prstGeom prst="roundRect">
            <a:avLst/>
          </a:prstGeom>
          <a:solidFill>
            <a:srgbClr val="F4F6F9"/>
          </a:solidFill>
          <a:ln>
            <a:noFill/>
          </a:ln>
          <a:effectLst/>
        </p:spPr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2" name="Shape 12"/>
          <p:cNvSpPr/>
          <p:nvPr/>
        </p:nvSpPr>
        <p:spPr>
          <a:xfrm>
            <a:off x="4325112" y="1847088"/>
            <a:ext cx="54864" cy="1371600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3" name="TextBox 13"/>
          <p:cNvSpPr txBox="1"/>
          <p:nvPr/>
        </p:nvSpPr>
        <p:spPr>
          <a:xfrm>
            <a:off x="4526280" y="1965960"/>
            <a:ext cx="3136392" cy="219456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lang="zh-TW" altLang="en-US" sz="1050" b="1" dirty="0">
                <a:solidFill>
                  <a:srgbClr val="2A78D6"/>
                </a:solidFill>
                <a:latin typeface="微軟正黑體"/>
                <a:ea typeface="微軟正黑體"/>
                <a:cs typeface="微軟正黑體"/>
              </a:rPr>
              <a:t>② 一對多的跨廠協調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4526280" y="2249424"/>
            <a:ext cx="3136392" cy="841248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lang="zh-TW" altLang="en-US" sz="900" b="0" dirty="0">
                <a:solidFill>
                  <a:srgbClr val="454441"/>
                </a:solidFill>
                <a:latin typeface="微軟正黑體"/>
                <a:ea typeface="微軟正黑體"/>
                <a:cs typeface="微軟正黑體"/>
              </a:rPr>
              <a:t>同一款式通常同步在多家布廠開發，須持續追蹤各廠回覆與進度，再即時整合資訊回覆業務端，確保開發時程推進。</a:t>
            </a:r>
          </a:p>
        </p:txBody>
      </p:sp>
      <p:sp>
        <p:nvSpPr>
          <p:cNvPr id="15" name="Shape 15"/>
          <p:cNvSpPr/>
          <p:nvPr/>
        </p:nvSpPr>
        <p:spPr>
          <a:xfrm>
            <a:off x="8083296" y="1847088"/>
            <a:ext cx="3538728" cy="1371600"/>
          </a:xfrm>
          <a:prstGeom prst="roundRect">
            <a:avLst/>
          </a:prstGeom>
          <a:solidFill>
            <a:srgbClr val="F4F6F9"/>
          </a:solidFill>
          <a:ln>
            <a:noFill/>
          </a:ln>
          <a:effectLst/>
        </p:spPr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6" name="Shape 16"/>
          <p:cNvSpPr/>
          <p:nvPr/>
        </p:nvSpPr>
        <p:spPr>
          <a:xfrm>
            <a:off x="8083296" y="1847088"/>
            <a:ext cx="54864" cy="1371600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7" name="TextBox 17"/>
          <p:cNvSpPr txBox="1"/>
          <p:nvPr/>
        </p:nvSpPr>
        <p:spPr>
          <a:xfrm>
            <a:off x="8284464" y="1965960"/>
            <a:ext cx="3136392" cy="219456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lang="zh-TW" altLang="en-US" sz="1050" b="1" dirty="0">
                <a:solidFill>
                  <a:srgbClr val="2A78D6"/>
                </a:solidFill>
                <a:latin typeface="微軟正黑體"/>
                <a:ea typeface="微軟正黑體"/>
                <a:cs typeface="微軟正黑體"/>
              </a:rPr>
              <a:t>③ 三方條件要同時滿足</a:t>
            </a:r>
          </a:p>
        </p:txBody>
      </p:sp>
      <p:sp>
        <p:nvSpPr>
          <p:cNvPr id="18" name="TextBox 18"/>
          <p:cNvSpPr txBox="1"/>
          <p:nvPr/>
        </p:nvSpPr>
        <p:spPr>
          <a:xfrm>
            <a:off x="8284464" y="2249424"/>
            <a:ext cx="3136392" cy="841248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lang="zh-TW" altLang="en-US" sz="900" b="0" dirty="0">
                <a:solidFill>
                  <a:srgbClr val="454441"/>
                </a:solidFill>
                <a:latin typeface="微軟正黑體"/>
                <a:ea typeface="微軟正黑體"/>
                <a:cs typeface="微軟正黑體"/>
              </a:rPr>
              <a:t>最終交期須同時滿足業務訂單需求、布廠產能與交期、成衣廠產線排程 —— 是多重限制下的權衡取捨，不是查表。</a:t>
            </a:r>
          </a:p>
        </p:txBody>
      </p:sp>
      <p:sp>
        <p:nvSpPr>
          <p:cNvPr id="19" name="Shape 19"/>
          <p:cNvSpPr/>
          <p:nvPr/>
        </p:nvSpPr>
        <p:spPr>
          <a:xfrm>
            <a:off x="566928" y="3364992"/>
            <a:ext cx="3538728" cy="1371600"/>
          </a:xfrm>
          <a:prstGeom prst="roundRect">
            <a:avLst/>
          </a:prstGeom>
          <a:solidFill>
            <a:srgbClr val="F4F6F9"/>
          </a:solidFill>
          <a:ln>
            <a:noFill/>
          </a:ln>
          <a:effectLst/>
        </p:spPr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20" name="Shape 20"/>
          <p:cNvSpPr/>
          <p:nvPr/>
        </p:nvSpPr>
        <p:spPr>
          <a:xfrm>
            <a:off x="566928" y="3364992"/>
            <a:ext cx="54864" cy="1371600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21" name="TextBox 21"/>
          <p:cNvSpPr txBox="1"/>
          <p:nvPr/>
        </p:nvSpPr>
        <p:spPr>
          <a:xfrm>
            <a:off x="768096" y="3483864"/>
            <a:ext cx="3136392" cy="219456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lang="zh-TW" altLang="en-US" sz="1050" b="1" dirty="0">
                <a:solidFill>
                  <a:srgbClr val="2A78D6"/>
                </a:solidFill>
                <a:latin typeface="微軟正黑體"/>
                <a:ea typeface="微軟正黑體"/>
                <a:cs typeface="微軟正黑體"/>
              </a:rPr>
              <a:t>④ 需實物比對與染整專業判斷</a:t>
            </a:r>
          </a:p>
        </p:txBody>
      </p:sp>
      <p:sp>
        <p:nvSpPr>
          <p:cNvPr id="22" name="TextBox 22"/>
          <p:cNvSpPr txBox="1"/>
          <p:nvPr/>
        </p:nvSpPr>
        <p:spPr>
          <a:xfrm>
            <a:off x="768096" y="3767328"/>
            <a:ext cx="3136392" cy="841248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lang="zh-TW" altLang="en-US" sz="900" b="0" dirty="0">
                <a:solidFill>
                  <a:srgbClr val="454441"/>
                </a:solidFill>
                <a:latin typeface="微軟正黑體"/>
                <a:ea typeface="微軟正黑體"/>
                <a:cs typeface="微軟正黑體"/>
              </a:rPr>
              <a:t>移染、白汙、色牢度、色點及髒污比例的成因判定，仰賴布料／染整專業與目視實物、色板比對，並需送樣、複測、打樣驗證。</a:t>
            </a:r>
          </a:p>
        </p:txBody>
      </p:sp>
      <p:sp>
        <p:nvSpPr>
          <p:cNvPr id="23" name="Shape 23"/>
          <p:cNvSpPr/>
          <p:nvPr/>
        </p:nvSpPr>
        <p:spPr>
          <a:xfrm>
            <a:off x="4325112" y="3364992"/>
            <a:ext cx="3538728" cy="1371600"/>
          </a:xfrm>
          <a:prstGeom prst="roundRect">
            <a:avLst/>
          </a:prstGeom>
          <a:solidFill>
            <a:srgbClr val="F4F6F9"/>
          </a:solidFill>
          <a:ln>
            <a:noFill/>
          </a:ln>
          <a:effectLst/>
        </p:spPr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24" name="Shape 24"/>
          <p:cNvSpPr/>
          <p:nvPr/>
        </p:nvSpPr>
        <p:spPr>
          <a:xfrm>
            <a:off x="4325112" y="3364992"/>
            <a:ext cx="54864" cy="1371600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25" name="TextBox 25"/>
          <p:cNvSpPr txBox="1"/>
          <p:nvPr/>
        </p:nvSpPr>
        <p:spPr>
          <a:xfrm>
            <a:off x="4526280" y="3483864"/>
            <a:ext cx="3136392" cy="219456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lang="zh-TW" altLang="en-US" sz="1050" b="1" dirty="0">
                <a:solidFill>
                  <a:srgbClr val="2A78D6"/>
                </a:solidFill>
                <a:latin typeface="微軟正黑體"/>
                <a:ea typeface="微軟正黑體"/>
                <a:cs typeface="微軟正黑體"/>
              </a:rPr>
              <a:t>⑤ 溝通載體不在系統裡</a:t>
            </a:r>
          </a:p>
        </p:txBody>
      </p:sp>
      <p:sp>
        <p:nvSpPr>
          <p:cNvPr id="26" name="TextBox 26"/>
          <p:cNvSpPr txBox="1"/>
          <p:nvPr/>
        </p:nvSpPr>
        <p:spPr>
          <a:xfrm>
            <a:off x="4526280" y="3767328"/>
            <a:ext cx="3136392" cy="841248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lang="zh-TW" altLang="en-US" sz="900" b="0" dirty="0">
                <a:solidFill>
                  <a:srgbClr val="454441"/>
                </a:solidFill>
                <a:latin typeface="微軟正黑體"/>
                <a:ea typeface="微軟正黑體"/>
                <a:cs typeface="微軟正黑體"/>
              </a:rPr>
              <a:t>缸差核色進度主要靠微信與上海布組即時互動，是零散對話與圖片核對；重大異常也多為電話、現場會議、口頭確認。</a:t>
            </a:r>
          </a:p>
        </p:txBody>
      </p:sp>
      <p:sp>
        <p:nvSpPr>
          <p:cNvPr id="27" name="Shape 27"/>
          <p:cNvSpPr/>
          <p:nvPr/>
        </p:nvSpPr>
        <p:spPr>
          <a:xfrm>
            <a:off x="8083296" y="3364992"/>
            <a:ext cx="3538728" cy="1371600"/>
          </a:xfrm>
          <a:prstGeom prst="roundRect">
            <a:avLst/>
          </a:prstGeom>
          <a:solidFill>
            <a:srgbClr val="F4F6F9"/>
          </a:solidFill>
          <a:ln>
            <a:noFill/>
          </a:ln>
          <a:effectLst/>
        </p:spPr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28" name="Shape 28"/>
          <p:cNvSpPr/>
          <p:nvPr/>
        </p:nvSpPr>
        <p:spPr>
          <a:xfrm>
            <a:off x="8083296" y="3364992"/>
            <a:ext cx="54864" cy="1371600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29" name="TextBox 29"/>
          <p:cNvSpPr txBox="1"/>
          <p:nvPr/>
        </p:nvSpPr>
        <p:spPr>
          <a:xfrm>
            <a:off x="8284464" y="3483864"/>
            <a:ext cx="3136392" cy="219456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lang="zh-TW" altLang="en-US" sz="1050" b="1" dirty="0">
                <a:solidFill>
                  <a:srgbClr val="2A78D6"/>
                </a:solidFill>
                <a:latin typeface="微軟正黑體"/>
                <a:ea typeface="微軟正黑體"/>
                <a:cs typeface="微軟正黑體"/>
              </a:rPr>
              <a:t>⑥ 對外承諾要有人拍板</a:t>
            </a:r>
          </a:p>
        </p:txBody>
      </p:sp>
      <p:sp>
        <p:nvSpPr>
          <p:cNvPr id="30" name="TextBox 30"/>
          <p:cNvSpPr txBox="1"/>
          <p:nvPr/>
        </p:nvSpPr>
        <p:spPr>
          <a:xfrm>
            <a:off x="8284464" y="3767328"/>
            <a:ext cx="3136392" cy="841248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lang="zh-TW" altLang="en-US" sz="900" b="0" dirty="0">
                <a:solidFill>
                  <a:srgbClr val="454441"/>
                </a:solidFill>
                <a:latin typeface="微軟正黑體"/>
                <a:ea typeface="微軟正黑體"/>
                <a:cs typeface="微軟正黑體"/>
              </a:rPr>
              <a:t>下單即產生商業約束力；CBD／FBO 數字會隨業務端分次確認而滾動更新，需有人判斷「這次是否已是最終版本」，避免未定案就搶先下單。</a:t>
            </a:r>
          </a:p>
        </p:txBody>
      </p:sp>
      <p:sp>
        <p:nvSpPr>
          <p:cNvPr id="31" name="Shape 31"/>
          <p:cNvSpPr/>
          <p:nvPr/>
        </p:nvSpPr>
        <p:spPr>
          <a:xfrm>
            <a:off x="566928" y="4919472"/>
            <a:ext cx="11055096" cy="566928"/>
          </a:xfrm>
          <a:prstGeom prst="roundRect">
            <a:avLst/>
          </a:prstGeom>
          <a:solidFill>
            <a:srgbClr val="FDEFEF"/>
          </a:solidFill>
          <a:ln>
            <a:noFill/>
          </a:ln>
          <a:effectLst/>
        </p:spPr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32" name="Shape 32"/>
          <p:cNvSpPr/>
          <p:nvPr/>
        </p:nvSpPr>
        <p:spPr>
          <a:xfrm>
            <a:off x="566928" y="4919472"/>
            <a:ext cx="54864" cy="566928"/>
          </a:xfrm>
          <a:prstGeom prst="rect">
            <a:avLst/>
          </a:prstGeom>
          <a:solidFill>
            <a:srgbClr val="D03B3B"/>
          </a:solidFill>
          <a:ln>
            <a:noFill/>
          </a:ln>
          <a:effectLst/>
        </p:spPr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33" name="TextBox 33"/>
          <p:cNvSpPr txBox="1"/>
          <p:nvPr/>
        </p:nvSpPr>
        <p:spPr>
          <a:xfrm>
            <a:off x="786384" y="4983480"/>
            <a:ext cx="1600200" cy="219456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lang="zh-TW" altLang="en-US" sz="1050" b="1" dirty="0">
                <a:solidFill>
                  <a:srgbClr val="D03B3B"/>
                </a:solidFill>
                <a:latin typeface="微軟正黑體"/>
                <a:ea typeface="微軟正黑體"/>
                <a:cs typeface="微軟正黑體"/>
              </a:rPr>
              <a:t>★ 最關鍵的一點</a:t>
            </a:r>
          </a:p>
        </p:txBody>
      </p:sp>
      <p:sp>
        <p:nvSpPr>
          <p:cNvPr id="34" name="TextBox 34"/>
          <p:cNvSpPr txBox="1"/>
          <p:nvPr/>
        </p:nvSpPr>
        <p:spPr>
          <a:xfrm>
            <a:off x="2487168" y="4983480"/>
            <a:ext cx="8915400" cy="438912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lang="zh-TW" altLang="en-US" sz="1000" b="1" dirty="0">
                <a:solidFill>
                  <a:srgbClr val="454441"/>
                </a:solidFill>
                <a:latin typeface="微軟正黑體"/>
                <a:ea typeface="微軟正黑體"/>
                <a:cs typeface="微軟正黑體"/>
              </a:rPr>
              <a:t>耗時的原因是「等待與多輪確認」，不是處理速度 —— AI 即使能快速產出初稿排程，也縮短不了人對人溝通確認的等待時間。</a:t>
            </a:r>
          </a:p>
        </p:txBody>
      </p:sp>
      <p:sp>
        <p:nvSpPr>
          <p:cNvPr id="35" name="Shape 35"/>
          <p:cNvSpPr/>
          <p:nvPr/>
        </p:nvSpPr>
        <p:spPr>
          <a:xfrm>
            <a:off x="566928" y="5705856"/>
            <a:ext cx="11055096" cy="548640"/>
          </a:xfrm>
          <a:prstGeom prst="roundRect">
            <a:avLst/>
          </a:prstGeom>
          <a:solidFill>
            <a:srgbClr val="E8F1FC"/>
          </a:solidFill>
          <a:ln>
            <a:noFill/>
          </a:ln>
          <a:effectLst/>
        </p:spPr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36" name="Shape 36"/>
          <p:cNvSpPr/>
          <p:nvPr/>
        </p:nvSpPr>
        <p:spPr>
          <a:xfrm>
            <a:off x="566928" y="5705856"/>
            <a:ext cx="54864" cy="548640"/>
          </a:xfrm>
          <a:prstGeom prst="rect">
            <a:avLst/>
          </a:prstGeom>
          <a:solidFill>
            <a:srgbClr val="1C4F8F"/>
          </a:solidFill>
          <a:ln>
            <a:noFill/>
          </a:ln>
          <a:effectLst/>
        </p:spPr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37" name="TextBox 37"/>
          <p:cNvSpPr txBox="1"/>
          <p:nvPr/>
        </p:nvSpPr>
        <p:spPr>
          <a:xfrm>
            <a:off x="786384" y="5733288"/>
            <a:ext cx="10616184" cy="493776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lang="zh-TW" altLang="en-US" sz="1300" b="1" dirty="0">
                <a:solidFill>
                  <a:srgbClr val="1C4F8F"/>
                </a:solidFill>
                <a:latin typeface="微軟正黑體"/>
                <a:ea typeface="微軟正黑體"/>
                <a:cs typeface="微軟正黑體"/>
              </a:rPr>
              <a:t>→ </a:t>
            </a:r>
            <a:r>
              <a:rPr lang="zh-TW" altLang="en-US" sz="1300" b="1" dirty="0">
                <a:solidFill>
                  <a:srgbClr val="0B0B0B"/>
                </a:solidFill>
                <a:latin typeface="微軟正黑體"/>
                <a:ea typeface="微軟正黑體"/>
                <a:cs typeface="微軟正黑體"/>
              </a:rPr>
              <a:t>能被壓縮的是「產出速度」，但主採的工時花在</a:t>
            </a:r>
            <a:r>
              <a:rPr lang="zh-TW" altLang="en-US" sz="1300" b="1" dirty="0">
                <a:solidFill>
                  <a:srgbClr val="D03B3B"/>
                </a:solidFill>
                <a:latin typeface="微軟正黑體"/>
                <a:ea typeface="微軟正黑體"/>
                <a:cs typeface="微軟正黑體"/>
              </a:rPr>
              <a:t>等別人回覆、和別人談定、對實物拍板</a:t>
            </a:r>
            <a:r>
              <a:rPr lang="zh-TW" altLang="en-US" sz="1300" b="1" dirty="0">
                <a:solidFill>
                  <a:srgbClr val="0B0B0B"/>
                </a:solidFill>
                <a:latin typeface="微軟正黑體"/>
                <a:ea typeface="微軟正黑體"/>
                <a:cs typeface="微軟正黑體"/>
              </a:rPr>
              <a:t> —— 這三件事 AI 幫得上忙，卻沒有一件能代替人完成。</a:t>
            </a:r>
          </a:p>
        </p:txBody>
      </p:sp>
      <p:sp>
        <p:nvSpPr>
          <p:cNvPr id="38" name="TextBox 38"/>
          <p:cNvSpPr txBox="1"/>
          <p:nvPr/>
        </p:nvSpPr>
        <p:spPr>
          <a:xfrm>
            <a:off x="566928" y="6565392"/>
            <a:ext cx="11055096" cy="237744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lang="zh-TW" altLang="en-US" sz="850" b="0" dirty="0">
                <a:solidFill>
                  <a:srgbClr val="898781"/>
                </a:solidFill>
                <a:latin typeface="微軟正黑體"/>
                <a:ea typeface="微軟正黑體"/>
                <a:cs typeface="微軟正黑體"/>
              </a:rPr>
              <a:t>資料來源：主採工作內容分類與 AI 可行性分析（綜合分析表）「為什麼」欄之歸納。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01" name="Shape 901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1C4F8F"/>
          </a:solidFill>
          <a:ln>
            <a:noFill/>
          </a:ln>
          <a:effectLst/>
        </p:spPr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902" name="Shape 902"/>
          <p:cNvSpPr/>
          <p:nvPr/>
        </p:nvSpPr>
        <p:spPr>
          <a:xfrm>
            <a:off x="566928" y="1335024"/>
            <a:ext cx="11055096" cy="27432"/>
          </a:xfrm>
          <a:prstGeom prst="rect">
            <a:avLst/>
          </a:prstGeom>
          <a:solidFill>
            <a:srgbClr val="1C4F8F"/>
          </a:solidFill>
          <a:ln>
            <a:noFill/>
          </a:ln>
          <a:effectLst/>
        </p:spPr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2" name="Text 0"/>
          <p:cNvSpPr txBox="1"/>
          <p:nvPr/>
        </p:nvSpPr>
        <p:spPr>
          <a:xfrm>
            <a:off x="566928" y="384048"/>
            <a:ext cx="1105509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sz="1250" lang="en-US" b="1" dirty="0">
                <a:solidFill>
                  <a:srgbClr val="2A78D6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一、主採範疇</a:t>
            </a:r>
            <a:endParaRPr lang="en-US" sz="16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694944"/>
            <a:ext cx="11055096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0B0B0B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文書只是表象 — AI 幫得上的是表象那一層，吃時間的判斷仍在人身上</a:t>
            </a:r>
            <a:endParaRPr lang="en-US" sz="2200" dirty="0"/>
          </a:p>
        </p:txBody>
      </p:sp>
      <p:sp>
        <p:nvSpPr>
          <p:cNvPr id="4" name="Text 2"/>
          <p:cNvSpPr txBox="1"/>
          <p:nvPr/>
        </p:nvSpPr>
        <p:spPr>
          <a:xfrm>
            <a:off x="566928" y="1536192"/>
            <a:ext cx="2869125" cy="30793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898781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工作項目（占比）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3525713" y="1536192"/>
            <a:ext cx="3227765" cy="30793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898781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表面上看起來是</a:t>
            </a:r>
            <a:endParaRPr lang="en-US" sz="1100" dirty="0"/>
          </a:p>
        </p:txBody>
      </p:sp>
      <p:sp>
        <p:nvSpPr>
          <p:cNvPr id="6" name="Text 4"/>
          <p:cNvSpPr txBox="1"/>
          <p:nvPr/>
        </p:nvSpPr>
        <p:spPr>
          <a:xfrm>
            <a:off x="6843138" y="1536192"/>
            <a:ext cx="4751988" cy="30793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898781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實際需要人的部分 —— AI 取代不了的地方</a:t>
            </a:r>
            <a:endParaRPr lang="en-US" sz="1100" dirty="0"/>
          </a:p>
        </p:txBody>
      </p:sp>
      <p:sp>
        <p:nvSpPr>
          <p:cNvPr id="7" name="Text 5"/>
          <p:cNvSpPr txBox="1"/>
          <p:nvPr/>
        </p:nvSpPr>
        <p:spPr>
          <a:xfrm>
            <a:off x="566928" y="1932102"/>
            <a:ext cx="2869125" cy="89739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50" b="1" dirty="0">
                <a:solidFill>
                  <a:srgbClr val="1C4F8F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1. 重大品質異常　15%</a:t>
            </a:r>
            <a:endParaRPr lang="en-US" sz="1250" dirty="0"/>
          </a:p>
        </p:txBody>
      </p:sp>
      <p:sp>
        <p:nvSpPr>
          <p:cNvPr id="8" name="Text 6"/>
          <p:cNvSpPr txBox="1"/>
          <p:nvPr/>
        </p:nvSpPr>
        <p:spPr>
          <a:xfrm>
            <a:off x="3525713" y="1932102"/>
            <a:ext cx="3227765" cy="89739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dirty="0">
                <a:solidFill>
                  <a:srgbClr val="898781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異常通知彙整、瑕疵紀錄登錄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6843138" y="1932102"/>
            <a:ext cx="4751988" cy="89739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50" dirty="0">
                <a:solidFill>
                  <a:srgbClr val="D03B3B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現場臨場判斷處理方向；與布廠/成衣廠/客戶多方協調；染整專業成因判斷；責任歸屬與客訴風險拍板；並需撰寫品質改善CAP報告</a:t>
            </a:r>
            <a:endParaRPr lang="en-US" sz="1050" dirty="0"/>
          </a:p>
        </p:txBody>
      </p:sp>
      <p:sp>
        <p:nvSpPr>
          <p:cNvPr id="10" name="Text 8"/>
          <p:cNvSpPr txBox="1"/>
          <p:nvPr/>
        </p:nvSpPr>
        <p:spPr>
          <a:xfrm>
            <a:off x="566928" y="2829500"/>
            <a:ext cx="2869125" cy="89739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50" b="1" dirty="0">
                <a:solidFill>
                  <a:srgbClr val="1C4F8F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2. 進單前交期TA　10%</a:t>
            </a:r>
            <a:endParaRPr lang="en-US" sz="1250" dirty="0"/>
          </a:p>
        </p:txBody>
      </p:sp>
      <p:sp>
        <p:nvSpPr>
          <p:cNvPr id="11" name="Text 9"/>
          <p:cNvSpPr txBox="1"/>
          <p:nvPr/>
        </p:nvSpPr>
        <p:spPr>
          <a:xfrm>
            <a:off x="3525713" y="2829500"/>
            <a:ext cx="3227765" cy="89739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dirty="0">
                <a:solidFill>
                  <a:srgbClr val="898781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TA 表格填寫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6843138" y="2829500"/>
            <a:ext cx="4751988" cy="89739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50" dirty="0">
                <a:solidFill>
                  <a:srgbClr val="D03B3B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與布廠來回議定交期（含人民幣匯率商談）；同步確認成衣廠實際產能；業務/布廠/成衣廠三方條件權衡排程</a:t>
            </a:r>
            <a:endParaRPr lang="en-US" sz="1050" dirty="0"/>
          </a:p>
        </p:txBody>
      </p:sp>
      <p:sp>
        <p:nvSpPr>
          <p:cNvPr id="13" name="Text 11"/>
          <p:cNvSpPr txBox="1"/>
          <p:nvPr/>
        </p:nvSpPr>
        <p:spPr>
          <a:xfrm>
            <a:off x="566928" y="3726897"/>
            <a:ext cx="2869125" cy="89739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50" b="1" dirty="0">
                <a:solidFill>
                  <a:srgbClr val="1C4F8F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3. FBO/CBD/主料TA確認　10%</a:t>
            </a:r>
            <a:endParaRPr lang="en-US" sz="1250" dirty="0"/>
          </a:p>
        </p:txBody>
      </p:sp>
      <p:sp>
        <p:nvSpPr>
          <p:cNvPr id="14" name="Text 12"/>
          <p:cNvSpPr txBox="1"/>
          <p:nvPr/>
        </p:nvSpPr>
        <p:spPr>
          <a:xfrm>
            <a:off x="3525713" y="3726897"/>
            <a:ext cx="3227765" cy="89739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dirty="0">
                <a:solidFill>
                  <a:srgbClr val="898781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數字核對登錄</a:t>
            </a:r>
            <a:endParaRPr lang="en-US" sz="1100" dirty="0"/>
          </a:p>
        </p:txBody>
      </p:sp>
      <p:sp>
        <p:nvSpPr>
          <p:cNvPr id="15" name="Text 13"/>
          <p:cNvSpPr txBox="1"/>
          <p:nvPr/>
        </p:nvSpPr>
        <p:spPr>
          <a:xfrm>
            <a:off x="6843138" y="3726897"/>
            <a:ext cx="4751988" cy="89739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50" dirty="0">
                <a:solidFill>
                  <a:srgbClr val="D03B3B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判斷資訊是否已收斂到可下單版本，下單即產生商業承諾須人員把關；頭缸核可/測試送測/APP寄送/出貨ETC-ETD-ETA等節點須逐日人工KEY IN</a:t>
            </a:r>
            <a:endParaRPr lang="en-US" sz="1050" dirty="0"/>
          </a:p>
        </p:txBody>
      </p:sp>
      <p:sp>
        <p:nvSpPr>
          <p:cNvPr id="16" name="Text 14"/>
          <p:cNvSpPr txBox="1"/>
          <p:nvPr/>
        </p:nvSpPr>
        <p:spPr>
          <a:xfrm>
            <a:off x="566928" y="4624294"/>
            <a:ext cx="2869125" cy="89739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50" b="1" dirty="0">
                <a:solidFill>
                  <a:srgbClr val="1C4F8F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4. 缸差核可進度　10%</a:t>
            </a:r>
            <a:endParaRPr lang="en-US" sz="1250" dirty="0"/>
          </a:p>
        </p:txBody>
      </p:sp>
      <p:sp>
        <p:nvSpPr>
          <p:cNvPr id="17" name="Text 15"/>
          <p:cNvSpPr txBox="1"/>
          <p:nvPr/>
        </p:nvSpPr>
        <p:spPr>
          <a:xfrm>
            <a:off x="3525713" y="4624294"/>
            <a:ext cx="3227765" cy="89739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dirty="0">
                <a:solidFill>
                  <a:srgbClr val="898781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核色進度追蹤</a:t>
            </a:r>
            <a:endParaRPr lang="en-US" sz="1100" dirty="0"/>
          </a:p>
        </p:txBody>
      </p:sp>
      <p:sp>
        <p:nvSpPr>
          <p:cNvPr id="18" name="Text 16"/>
          <p:cNvSpPr txBox="1"/>
          <p:nvPr/>
        </p:nvSpPr>
        <p:spPr>
          <a:xfrm>
            <a:off x="6843138" y="4624294"/>
            <a:ext cx="4751988" cy="89739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50" dirty="0">
                <a:solidFill>
                  <a:srgbClr val="D03B3B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微信即時互動核色判讀；NG 後決策重修或上訴日本核色；對客戶端交涉溝通</a:t>
            </a:r>
            <a:endParaRPr lang="en-US" sz="1050" dirty="0"/>
          </a:p>
        </p:txBody>
      </p:sp>
      <p:sp>
        <p:nvSpPr>
          <p:cNvPr id="19" name="Text 17"/>
          <p:cNvSpPr txBox="1"/>
          <p:nvPr/>
        </p:nvSpPr>
        <p:spPr>
          <a:xfrm>
            <a:off x="566928" y="5521691"/>
            <a:ext cx="2869125" cy="89739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50" b="1" dirty="0">
                <a:solidFill>
                  <a:srgbClr val="1C4F8F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5. EC/樣品調布需求　10%</a:t>
            </a:r>
            <a:endParaRPr lang="en-US" sz="1250" dirty="0"/>
          </a:p>
        </p:txBody>
      </p:sp>
      <p:sp>
        <p:nvSpPr>
          <p:cNvPr id="20" name="Text 18"/>
          <p:cNvSpPr txBox="1"/>
          <p:nvPr/>
        </p:nvSpPr>
        <p:spPr>
          <a:xfrm>
            <a:off x="3525713" y="5521691"/>
            <a:ext cx="3227765" cy="89739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dirty="0">
                <a:solidFill>
                  <a:srgbClr val="898781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調布需求轉達</a:t>
            </a:r>
            <a:endParaRPr lang="en-US" sz="1100" dirty="0"/>
          </a:p>
        </p:txBody>
      </p:sp>
      <p:sp>
        <p:nvSpPr>
          <p:cNvPr id="21" name="Text 19"/>
          <p:cNvSpPr txBox="1"/>
          <p:nvPr/>
        </p:nvSpPr>
        <p:spPr>
          <a:xfrm>
            <a:off x="6843138" y="5521691"/>
            <a:ext cx="4751988" cy="89739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50" dirty="0">
                <a:solidFill>
                  <a:srgbClr val="D03B3B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反覆向多家布廠交涉催辦；依業務即時指示判斷優先序，議定與催促</a:t>
            </a:r>
            <a:endParaRPr lang="en-US" sz="1050" dirty="0"/>
          </a:p>
        </p:txBody>
      </p:sp>
      <p:sp>
        <p:nvSpPr>
          <p:cNvPr id="22" name="Text 20"/>
          <p:cNvSpPr txBox="1"/>
          <p:nvPr/>
        </p:nvSpPr>
        <p:spPr>
          <a:xfrm>
            <a:off x="566928" y="6565392"/>
            <a:ext cx="1105509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sz="850" lang="en-US" i="1" dirty="0">
                <a:solidFill>
                  <a:srgbClr val="898781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資料來源：主採工作內容分類與AI可行性分析（綜合分析分頁）「為什麼」欄位彙整。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2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1C4F8F"/>
          </a:solidFill>
          <a:ln>
            <a:noFill/>
          </a:ln>
          <a:effectLst/>
        </p:spPr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3" name="TextBox 3"/>
          <p:cNvSpPr txBox="1"/>
          <p:nvPr/>
        </p:nvSpPr>
        <p:spPr>
          <a:xfrm>
            <a:off x="566928" y="384048"/>
            <a:ext cx="11055096" cy="292608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lang="zh-TW" altLang="en-US" sz="1250" b="1" dirty="0">
                <a:solidFill>
                  <a:srgbClr val="2A78D6"/>
                </a:solidFill>
                <a:latin typeface="微軟正黑體"/>
                <a:ea typeface="微軟正黑體"/>
                <a:cs typeface="微軟正黑體"/>
              </a:rPr>
              <a:t>三、已導入的 AI 工具</a:t>
            </a:r>
          </a:p>
        </p:txBody>
      </p:sp>
      <p:sp>
        <p:nvSpPr>
          <p:cNvPr id="4" name="TextBox 4"/>
          <p:cNvSpPr txBox="1"/>
          <p:nvPr/>
        </p:nvSpPr>
        <p:spPr>
          <a:xfrm>
            <a:off x="566928" y="694944"/>
            <a:ext cx="11055096" cy="393192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lang="zh-TW" altLang="en-US" sz="2500" b="1" dirty="0">
                <a:solidFill>
                  <a:srgbClr val="0B0B0B"/>
                </a:solidFill>
                <a:latin typeface="微軟正黑體"/>
                <a:ea typeface="微軟正黑體"/>
                <a:cs typeface="微軟正黑體"/>
              </a:rPr>
              <a:t>AI 接手的是「填表與核對」— 判斷與承諾仍留在人身上</a:t>
            </a:r>
          </a:p>
        </p:txBody>
      </p:sp>
      <p:sp>
        <p:nvSpPr>
          <p:cNvPr id="5" name="Shape 5"/>
          <p:cNvSpPr/>
          <p:nvPr/>
        </p:nvSpPr>
        <p:spPr>
          <a:xfrm>
            <a:off x="566928" y="1335024"/>
            <a:ext cx="11055096" cy="27432"/>
          </a:xfrm>
          <a:prstGeom prst="rect">
            <a:avLst/>
          </a:prstGeom>
          <a:solidFill>
            <a:srgbClr val="1C4F8F"/>
          </a:solidFill>
          <a:ln>
            <a:noFill/>
          </a:ln>
          <a:effectLst/>
        </p:spPr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7" name="Shape 7"/>
          <p:cNvSpPr/>
          <p:nvPr/>
        </p:nvSpPr>
        <p:spPr>
          <a:xfrm>
            <a:off x="566928" y="1554480"/>
            <a:ext cx="54864" cy="749808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1" name="Shape 11"/>
          <p:cNvSpPr/>
          <p:nvPr/>
        </p:nvSpPr>
        <p:spPr>
          <a:xfrm>
            <a:off x="4343400" y="1554480"/>
            <a:ext cx="54864" cy="749808"/>
          </a:xfrm>
          <a:prstGeom prst="rect">
            <a:avLst/>
          </a:prstGeom>
          <a:solidFill>
            <a:srgbClr val="1C4F8F"/>
          </a:solidFill>
          <a:ln>
            <a:noFill/>
          </a:ln>
          <a:effectLst/>
        </p:spPr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5" name="Shape 15"/>
          <p:cNvSpPr/>
          <p:nvPr/>
        </p:nvSpPr>
        <p:spPr>
          <a:xfrm>
            <a:off x="8119872" y="1554480"/>
            <a:ext cx="54864" cy="749808"/>
          </a:xfrm>
          <a:prstGeom prst="rect">
            <a:avLst/>
          </a:prstGeom>
          <a:solidFill>
            <a:srgbClr val="1C4F8F"/>
          </a:solidFill>
          <a:ln>
            <a:noFill/>
          </a:ln>
          <a:effectLst/>
        </p:spPr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8" name="TextBox 18"/>
          <p:cNvSpPr txBox="1"/>
          <p:nvPr/>
        </p:nvSpPr>
        <p:spPr>
          <a:xfrm>
            <a:off x="566928" y="2450592"/>
            <a:ext cx="5349240" cy="237744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lang="zh-TW" altLang="en-US" sz="1250" b="1" dirty="0">
                <a:solidFill>
                  <a:srgbClr val="1C4F8F"/>
                </a:solidFill>
                <a:latin typeface="微軟正黑體"/>
                <a:ea typeface="微軟正黑體"/>
                <a:cs typeface="微軟正黑體"/>
              </a:rPr>
              <a:t>✔ 已有現成 AI skill 輔助 —— 清單中可行性最高的三項</a:t>
            </a:r>
          </a:p>
        </p:txBody>
      </p:sp>
      <p:sp>
        <p:nvSpPr>
          <p:cNvPr id="19" name="Shape 19"/>
          <p:cNvSpPr/>
          <p:nvPr/>
        </p:nvSpPr>
        <p:spPr>
          <a:xfrm>
            <a:off x="566928" y="2743200"/>
            <a:ext cx="5349240" cy="2011680"/>
          </a:xfrm>
          <a:prstGeom prst="roundRect">
            <a:avLst/>
          </a:prstGeom>
          <a:solidFill>
            <a:srgbClr val="E8F1FC"/>
          </a:solidFill>
          <a:ln>
            <a:noFill/>
          </a:ln>
          <a:effectLst/>
        </p:spPr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20" name="Shape 20"/>
          <p:cNvSpPr/>
          <p:nvPr/>
        </p:nvSpPr>
        <p:spPr>
          <a:xfrm>
            <a:off x="566928" y="2743200"/>
            <a:ext cx="54864" cy="2011680"/>
          </a:xfrm>
          <a:prstGeom prst="rect">
            <a:avLst/>
          </a:prstGeom>
          <a:solidFill>
            <a:srgbClr val="1C4F8F"/>
          </a:solidFill>
          <a:ln>
            <a:noFill/>
          </a:ln>
          <a:effectLst/>
        </p:spPr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21" name="TextBox 21"/>
          <p:cNvSpPr txBox="1"/>
          <p:nvPr/>
        </p:nvSpPr>
        <p:spPr>
          <a:xfrm>
            <a:off x="804672" y="2871216"/>
            <a:ext cx="2148840" cy="256032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lang="zh-TW" altLang="en-US" sz="1000" b="1" dirty="0">
                <a:solidFill>
                  <a:srgbClr val="1C4F8F"/>
                </a:solidFill>
                <a:latin typeface="微軟正黑體"/>
                <a:ea typeface="微軟正黑體"/>
                <a:cs typeface="微軟正黑體"/>
              </a:rPr>
              <a:t>· GU TA 用量自動填入</a:t>
            </a:r>
          </a:p>
        </p:txBody>
      </p:sp>
      <p:sp>
        <p:nvSpPr>
          <p:cNvPr id="22" name="TextBox 22"/>
          <p:cNvSpPr txBox="1"/>
          <p:nvPr/>
        </p:nvSpPr>
        <p:spPr>
          <a:xfrm>
            <a:off x="3017520" y="2871216"/>
            <a:ext cx="2660904" cy="256032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lang="zh-TW" altLang="en-US" sz="950" b="0" dirty="0">
                <a:solidFill>
                  <a:srgbClr val="454441"/>
                </a:solidFill>
                <a:latin typeface="微軟正黑體"/>
                <a:ea typeface="微軟正黑體"/>
                <a:cs typeface="微軟正黑體"/>
              </a:rPr>
              <a:t>對應「FBO／CBD／主料 TA 確認」</a:t>
            </a:r>
          </a:p>
        </p:txBody>
      </p:sp>
      <p:sp>
        <p:nvSpPr>
          <p:cNvPr id="23" name="TextBox 23"/>
          <p:cNvSpPr txBox="1"/>
          <p:nvPr/>
        </p:nvSpPr>
        <p:spPr>
          <a:xfrm>
            <a:off x="804672" y="3182112"/>
            <a:ext cx="2148840" cy="256032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lang="zh-TW" altLang="en-US" sz="1000" b="1" dirty="0">
                <a:solidFill>
                  <a:srgbClr val="1C4F8F"/>
                </a:solidFill>
                <a:latin typeface="微軟正黑體"/>
                <a:ea typeface="微軟正黑體"/>
                <a:cs typeface="微軟正黑體"/>
              </a:rPr>
              <a:t>· Invoice 核對填 TA</a:t>
            </a:r>
          </a:p>
        </p:txBody>
      </p:sp>
      <p:sp>
        <p:nvSpPr>
          <p:cNvPr id="24" name="TextBox 24"/>
          <p:cNvSpPr txBox="1"/>
          <p:nvPr/>
        </p:nvSpPr>
        <p:spPr>
          <a:xfrm>
            <a:off x="3017520" y="3182112"/>
            <a:ext cx="2660904" cy="256032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lang="zh-TW" altLang="en-US" sz="950" b="0" dirty="0">
                <a:solidFill>
                  <a:srgbClr val="454441"/>
                </a:solidFill>
                <a:latin typeface="微軟正黑體"/>
                <a:ea typeface="微軟正黑體"/>
                <a:cs typeface="微軟正黑體"/>
              </a:rPr>
              <a:t>對應「進單前交期 TA」</a:t>
            </a:r>
          </a:p>
        </p:txBody>
      </p:sp>
      <p:sp>
        <p:nvSpPr>
          <p:cNvPr id="25" name="TextBox 25"/>
          <p:cNvSpPr txBox="1"/>
          <p:nvPr/>
        </p:nvSpPr>
        <p:spPr>
          <a:xfrm>
            <a:off x="804672" y="3493008"/>
            <a:ext cx="2148840" cy="256032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lang="zh-TW" altLang="en-US" sz="1000" b="1" dirty="0">
                <a:solidFill>
                  <a:srgbClr val="1C4F8F"/>
                </a:solidFill>
                <a:latin typeface="微軟正黑體"/>
                <a:ea typeface="微軟正黑體"/>
                <a:cs typeface="微軟正黑體"/>
              </a:rPr>
              <a:t>· B/L 缸差比對</a:t>
            </a:r>
          </a:p>
        </p:txBody>
      </p:sp>
      <p:sp>
        <p:nvSpPr>
          <p:cNvPr id="26" name="TextBox 26"/>
          <p:cNvSpPr txBox="1"/>
          <p:nvPr/>
        </p:nvSpPr>
        <p:spPr>
          <a:xfrm>
            <a:off x="3017520" y="3493008"/>
            <a:ext cx="2660904" cy="256032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lang="zh-TW" altLang="en-US" sz="950" b="0" dirty="0">
                <a:solidFill>
                  <a:srgbClr val="454441"/>
                </a:solidFill>
                <a:latin typeface="微軟正黑體"/>
                <a:ea typeface="微軟正黑體"/>
                <a:cs typeface="微軟正黑體"/>
              </a:rPr>
              <a:t>對應「物流／出貨追蹤」</a:t>
            </a:r>
          </a:p>
        </p:txBody>
      </p:sp>
      <p:sp>
        <p:nvSpPr>
          <p:cNvPr id="27" name="TextBox 27"/>
          <p:cNvSpPr txBox="1"/>
          <p:nvPr/>
        </p:nvSpPr>
        <p:spPr>
          <a:xfrm>
            <a:off x="804672" y="3931920"/>
            <a:ext cx="4873752" cy="658368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lang="zh-TW" altLang="en-US" sz="950" b="0" dirty="0">
                <a:solidFill>
                  <a:srgbClr val="454441"/>
                </a:solidFill>
                <a:latin typeface="微軟正黑體"/>
                <a:ea typeface="微軟正黑體"/>
                <a:cs typeface="微軟正黑體"/>
              </a:rPr>
              <a:t>這三類合計約占 25% 的信件量（依表列占比相加），但 AI 輔助的是「填表與核對」——　交期議定、催促布廠訂艙、船班異動後重排產線，仍然逐件由人處理。</a:t>
            </a:r>
          </a:p>
        </p:txBody>
      </p:sp>
      <p:sp>
        <p:nvSpPr>
          <p:cNvPr id="28" name="TextBox 28"/>
          <p:cNvSpPr txBox="1"/>
          <p:nvPr/>
        </p:nvSpPr>
        <p:spPr>
          <a:xfrm>
            <a:off x="6272784" y="2450592"/>
            <a:ext cx="5349240" cy="237744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lang="zh-TW" altLang="en-US" sz="1250" b="1" dirty="0">
                <a:solidFill>
                  <a:srgbClr val="D03B3B"/>
                </a:solidFill>
                <a:latin typeface="微軟正黑體"/>
                <a:ea typeface="微軟正黑體"/>
                <a:cs typeface="微軟正黑體"/>
              </a:rPr>
              <a:t>✖ 接不了的實例 —— 重大品質異常與判定</a:t>
            </a:r>
          </a:p>
        </p:txBody>
      </p:sp>
      <p:sp>
        <p:nvSpPr>
          <p:cNvPr id="29" name="Shape 29"/>
          <p:cNvSpPr/>
          <p:nvPr/>
        </p:nvSpPr>
        <p:spPr>
          <a:xfrm>
            <a:off x="6272784" y="2743200"/>
            <a:ext cx="5349240" cy="2011680"/>
          </a:xfrm>
          <a:prstGeom prst="roundRect">
            <a:avLst/>
          </a:prstGeom>
          <a:solidFill>
            <a:srgbClr val="FDEFEF"/>
          </a:solidFill>
          <a:ln>
            <a:noFill/>
          </a:ln>
          <a:effectLst/>
        </p:spPr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30" name="Shape 30"/>
          <p:cNvSpPr/>
          <p:nvPr/>
        </p:nvSpPr>
        <p:spPr>
          <a:xfrm>
            <a:off x="6272784" y="2743200"/>
            <a:ext cx="54864" cy="2011680"/>
          </a:xfrm>
          <a:prstGeom prst="rect">
            <a:avLst/>
          </a:prstGeom>
          <a:solidFill>
            <a:srgbClr val="D03B3B"/>
          </a:solidFill>
          <a:ln>
            <a:noFill/>
          </a:ln>
          <a:effectLst/>
        </p:spPr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31" name="TextBox 31"/>
          <p:cNvSpPr txBox="1"/>
          <p:nvPr/>
        </p:nvSpPr>
        <p:spPr>
          <a:xfrm>
            <a:off x="6510528" y="2852928"/>
            <a:ext cx="1143000" cy="219456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lang="zh-TW" altLang="en-US" sz="1000" b="1" dirty="0">
                <a:solidFill>
                  <a:srgbClr val="D03B3B"/>
                </a:solidFill>
                <a:latin typeface="微軟正黑體"/>
                <a:ea typeface="微軟正黑體"/>
                <a:cs typeface="微軟正黑體"/>
              </a:rPr>
              <a:t>移染</a:t>
            </a:r>
          </a:p>
        </p:txBody>
      </p:sp>
      <p:sp>
        <p:nvSpPr>
          <p:cNvPr id="32" name="TextBox 32"/>
          <p:cNvSpPr txBox="1"/>
          <p:nvPr/>
        </p:nvSpPr>
        <p:spPr>
          <a:xfrm>
            <a:off x="7717536" y="2852928"/>
            <a:ext cx="3666744" cy="438912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lang="zh-TW" altLang="en-US" sz="950" b="0" dirty="0">
                <a:solidFill>
                  <a:srgbClr val="454441"/>
                </a:solidFill>
                <a:latin typeface="微軟正黑體"/>
                <a:ea typeface="微軟正黑體"/>
                <a:cs typeface="微軟正黑體"/>
              </a:rPr>
              <a:t>SANBEN 60236F014A #37 Brown、60226F034A #34 Brown；凱信 60146N118／60226N024B</a:t>
            </a:r>
          </a:p>
        </p:txBody>
      </p:sp>
      <p:sp>
        <p:nvSpPr>
          <p:cNvPr id="33" name="TextBox 33"/>
          <p:cNvSpPr txBox="1"/>
          <p:nvPr/>
        </p:nvSpPr>
        <p:spPr>
          <a:xfrm>
            <a:off x="6510528" y="3328416"/>
            <a:ext cx="1143000" cy="219456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lang="zh-TW" altLang="en-US" sz="1000" b="1" dirty="0">
                <a:solidFill>
                  <a:srgbClr val="D03B3B"/>
                </a:solidFill>
                <a:latin typeface="微軟正黑體"/>
                <a:ea typeface="微軟正黑體"/>
                <a:cs typeface="微軟正黑體"/>
              </a:rPr>
              <a:t>白汙</a:t>
            </a:r>
          </a:p>
        </p:txBody>
      </p:sp>
      <p:sp>
        <p:nvSpPr>
          <p:cNvPr id="34" name="TextBox 34"/>
          <p:cNvSpPr txBox="1"/>
          <p:nvPr/>
        </p:nvSpPr>
        <p:spPr>
          <a:xfrm>
            <a:off x="7717536" y="3328416"/>
            <a:ext cx="3666744" cy="438912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lang="zh-TW" altLang="en-US" sz="950" b="0" dirty="0">
                <a:solidFill>
                  <a:srgbClr val="454441"/>
                </a:solidFill>
                <a:latin typeface="微軟正黑體"/>
                <a:ea typeface="微軟正黑體"/>
                <a:cs typeface="微軟正黑體"/>
              </a:rPr>
              <a:t>GISTEX 226N009A／236N011A／226N033A；CENTEX 226N020B／236F007A</a:t>
            </a:r>
          </a:p>
        </p:txBody>
      </p:sp>
      <p:sp>
        <p:nvSpPr>
          <p:cNvPr id="35" name="TextBox 35"/>
          <p:cNvSpPr txBox="1"/>
          <p:nvPr/>
        </p:nvSpPr>
        <p:spPr>
          <a:xfrm>
            <a:off x="6510528" y="3803904"/>
            <a:ext cx="1143000" cy="219456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lang="zh-TW" altLang="en-US" sz="1000" b="1" dirty="0">
                <a:solidFill>
                  <a:srgbClr val="D03B3B"/>
                </a:solidFill>
                <a:latin typeface="微軟正黑體"/>
                <a:ea typeface="微軟正黑體"/>
                <a:cs typeface="微軟正黑體"/>
              </a:rPr>
              <a:t>色點及髒污比例</a:t>
            </a:r>
          </a:p>
        </p:txBody>
      </p:sp>
      <p:sp>
        <p:nvSpPr>
          <p:cNvPr id="36" name="TextBox 36"/>
          <p:cNvSpPr txBox="1"/>
          <p:nvPr/>
        </p:nvSpPr>
        <p:spPr>
          <a:xfrm>
            <a:off x="7717536" y="3803904"/>
            <a:ext cx="3666744" cy="438912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lang="zh-TW" altLang="en-US" sz="950" b="0" dirty="0">
                <a:solidFill>
                  <a:srgbClr val="454441"/>
                </a:solidFill>
                <a:latin typeface="微軟正黑體"/>
                <a:ea typeface="微軟正黑體"/>
                <a:cs typeface="微軟正黑體"/>
              </a:rPr>
              <a:t>176F036／F037／F038／F040A 換片率與色差判定</a:t>
            </a:r>
          </a:p>
        </p:txBody>
      </p:sp>
      <p:sp>
        <p:nvSpPr>
          <p:cNvPr id="37" name="TextBox 37"/>
          <p:cNvSpPr txBox="1"/>
          <p:nvPr/>
        </p:nvSpPr>
        <p:spPr>
          <a:xfrm>
            <a:off x="6510528" y="4279392"/>
            <a:ext cx="1143000" cy="219456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lang="zh-TW" altLang="en-US" sz="1000" b="1" dirty="0">
                <a:solidFill>
                  <a:srgbClr val="D03B3B"/>
                </a:solidFill>
                <a:latin typeface="微軟正黑體"/>
                <a:ea typeface="微軟正黑體"/>
                <a:cs typeface="微軟正黑體"/>
              </a:rPr>
              <a:t>後續責任</a:t>
            </a:r>
          </a:p>
        </p:txBody>
      </p:sp>
      <p:sp>
        <p:nvSpPr>
          <p:cNvPr id="38" name="TextBox 38"/>
          <p:cNvSpPr txBox="1"/>
          <p:nvPr/>
        </p:nvSpPr>
        <p:spPr>
          <a:xfrm>
            <a:off x="7717536" y="4279392"/>
            <a:ext cx="3666744" cy="438912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lang="zh-TW" altLang="en-US" sz="950" b="0" dirty="0">
                <a:solidFill>
                  <a:srgbClr val="454441"/>
                </a:solidFill>
                <a:latin typeface="微軟正黑體"/>
                <a:ea typeface="微軟正黑體"/>
                <a:cs typeface="微軟正黑體"/>
              </a:rPr>
              <a:t>須撰寫品質改善 CAP，對客戶說明成因與對策並承擔索賠、延誤出貨的商業風險</a:t>
            </a:r>
          </a:p>
        </p:txBody>
      </p:sp>
      <p:sp>
        <p:nvSpPr>
          <p:cNvPr id="39" name="Shape 39"/>
          <p:cNvSpPr/>
          <p:nvPr/>
        </p:nvSpPr>
        <p:spPr>
          <a:xfrm>
            <a:off x="566928" y="4937760"/>
            <a:ext cx="11055096" cy="694944"/>
          </a:xfrm>
          <a:prstGeom prst="roundRect">
            <a:avLst/>
          </a:prstGeom>
          <a:solidFill>
            <a:srgbClr val="F4F6F9"/>
          </a:solidFill>
          <a:ln>
            <a:noFill/>
          </a:ln>
          <a:effectLst/>
        </p:spPr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40" name="Shape 40"/>
          <p:cNvSpPr/>
          <p:nvPr/>
        </p:nvSpPr>
        <p:spPr>
          <a:xfrm>
            <a:off x="566928" y="4937760"/>
            <a:ext cx="54864" cy="694944"/>
          </a:xfrm>
          <a:prstGeom prst="rect">
            <a:avLst/>
          </a:prstGeom>
          <a:solidFill>
            <a:srgbClr val="898781"/>
          </a:solidFill>
          <a:ln>
            <a:noFill/>
          </a:ln>
          <a:effectLst/>
        </p:spPr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41" name="TextBox 41"/>
          <p:cNvSpPr txBox="1"/>
          <p:nvPr/>
        </p:nvSpPr>
        <p:spPr>
          <a:xfrm>
            <a:off x="786384" y="5010912"/>
            <a:ext cx="1463040" cy="219456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lang="zh-TW" altLang="en-US" sz="1000" b="1" dirty="0">
                <a:solidFill>
                  <a:srgbClr val="D03B3B"/>
                </a:solidFill>
                <a:latin typeface="微軟正黑體"/>
                <a:ea typeface="微軟正黑體"/>
                <a:cs typeface="微軟正黑體"/>
              </a:rPr>
              <a:t>⚠ 數字口徑</a:t>
            </a:r>
          </a:p>
        </p:txBody>
      </p:sp>
      <p:sp>
        <p:nvSpPr>
          <p:cNvPr id="42" name="TextBox 42"/>
          <p:cNvSpPr txBox="1"/>
          <p:nvPr/>
        </p:nvSpPr>
        <p:spPr>
          <a:xfrm>
            <a:off x="2340864" y="5010912"/>
            <a:ext cx="9061704" cy="566928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lang="zh-TW" altLang="en-US" sz="900" b="0" dirty="0">
                <a:solidFill>
                  <a:srgbClr val="454441"/>
                </a:solidFill>
                <a:latin typeface="微軟正黑體"/>
                <a:ea typeface="微軟正黑體"/>
                <a:cs typeface="微軟正黑體"/>
              </a:rPr>
              <a:t>樣本僅涵蓋本人信箱可見範圍（列為收件人／CC 或寄件人），非三人完整信箱，且不含微信與布廠溝通內容；占比採關鍵字比對分類，同一封信可能同時符合多個類別，本表以優先序取單一類別歸類，與人工逐封判讀可能有落差。實際工作分工與 AI 導入範圍請與三位本人及主管討論確認。</a:t>
            </a:r>
          </a:p>
        </p:txBody>
      </p:sp>
      <p:sp>
        <p:nvSpPr>
          <p:cNvPr id="43" name="Shape 43"/>
          <p:cNvSpPr/>
          <p:nvPr/>
        </p:nvSpPr>
        <p:spPr>
          <a:xfrm>
            <a:off x="566928" y="5815584"/>
            <a:ext cx="11055096" cy="530352"/>
          </a:xfrm>
          <a:prstGeom prst="roundRect">
            <a:avLst/>
          </a:prstGeom>
          <a:solidFill>
            <a:srgbClr val="E8F1FC"/>
          </a:solidFill>
          <a:ln>
            <a:noFill/>
          </a:ln>
          <a:effectLst/>
        </p:spPr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44" name="Shape 44"/>
          <p:cNvSpPr/>
          <p:nvPr/>
        </p:nvSpPr>
        <p:spPr>
          <a:xfrm>
            <a:off x="566928" y="5815584"/>
            <a:ext cx="54864" cy="530352"/>
          </a:xfrm>
          <a:prstGeom prst="rect">
            <a:avLst/>
          </a:prstGeom>
          <a:solidFill>
            <a:srgbClr val="1C4F8F"/>
          </a:solidFill>
          <a:ln>
            <a:noFill/>
          </a:ln>
          <a:effectLst/>
        </p:spPr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45" name="TextBox 45"/>
          <p:cNvSpPr txBox="1"/>
          <p:nvPr/>
        </p:nvSpPr>
        <p:spPr>
          <a:xfrm>
            <a:off x="786384" y="5843016"/>
            <a:ext cx="10616184" cy="475488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lang="zh-TW" altLang="en-US" sz="1300" b="1" dirty="0">
                <a:solidFill>
                  <a:srgbClr val="1C4F8F"/>
                </a:solidFill>
                <a:latin typeface="微軟正黑體"/>
                <a:ea typeface="微軟正黑體"/>
                <a:cs typeface="微軟正黑體"/>
              </a:rPr>
              <a:t>→ </a:t>
            </a:r>
            <a:r>
              <a:rPr lang="zh-TW" altLang="en-US" sz="1300" b="1" dirty="0">
                <a:solidFill>
                  <a:srgbClr val="0B0B0B"/>
                </a:solidFill>
                <a:latin typeface="微軟正黑體"/>
                <a:ea typeface="微軟正黑體"/>
                <a:cs typeface="微軟正黑體"/>
              </a:rPr>
              <a:t>已被 AI 接走的是「填表與核對」；真正的工時瓶頸 —— 交期議定、異常判定、跨廠催辦 —— </a:t>
            </a:r>
            <a:r>
              <a:rPr lang="zh-TW" altLang="en-US" sz="1300" b="1" dirty="0">
                <a:solidFill>
                  <a:srgbClr val="D03B3B"/>
                </a:solidFill>
                <a:latin typeface="微軟正黑體"/>
                <a:ea typeface="微軟正黑體"/>
                <a:cs typeface="微軟正黑體"/>
              </a:rPr>
              <a:t>一項都沒被接走</a:t>
            </a:r>
            <a:r>
              <a:rPr lang="zh-TW" altLang="en-US" sz="1300" b="1" dirty="0">
                <a:solidFill>
                  <a:srgbClr val="0B0B0B"/>
                </a:solidFill>
                <a:latin typeface="微軟正黑體"/>
                <a:ea typeface="微軟正黑體"/>
                <a:cs typeface="微軟正黑體"/>
              </a:rPr>
              <a:t>。</a:t>
            </a:r>
          </a:p>
        </p:txBody>
      </p:sp>
      <p:sp>
        <p:nvSpPr>
          <p:cNvPr id="46" name="TextBox 46"/>
          <p:cNvSpPr txBox="1"/>
          <p:nvPr/>
        </p:nvSpPr>
        <p:spPr>
          <a:xfrm>
            <a:off x="566928" y="6565392"/>
            <a:ext cx="11055096" cy="237744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lang="zh-TW" altLang="en-US" sz="850" b="0" dirty="0">
                <a:solidFill>
                  <a:srgbClr val="898781"/>
                </a:solidFill>
                <a:latin typeface="微軟正黑體"/>
                <a:ea typeface="微軟正黑體"/>
                <a:cs typeface="微軟正黑體"/>
              </a:rPr>
              <a:t>資料來源：主採工作內容分類與 AI 可行性分析（綜合分析表）之實際信件主旨舉例與備註欄。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01" name="Shape 901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1C4F8F"/>
          </a:solidFill>
          <a:ln>
            <a:noFill/>
          </a:ln>
          <a:effectLst/>
        </p:spPr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902" name="Shape 902"/>
          <p:cNvSpPr/>
          <p:nvPr/>
        </p:nvSpPr>
        <p:spPr>
          <a:xfrm>
            <a:off x="566928" y="1335024"/>
            <a:ext cx="11055096" cy="27432"/>
          </a:xfrm>
          <a:prstGeom prst="rect">
            <a:avLst/>
          </a:prstGeom>
          <a:solidFill>
            <a:srgbClr val="1C4F8F"/>
          </a:solidFill>
          <a:ln>
            <a:noFill/>
          </a:ln>
          <a:effectLst/>
        </p:spPr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2" name="Text 0"/>
          <p:cNvSpPr txBox="1"/>
          <p:nvPr/>
        </p:nvSpPr>
        <p:spPr>
          <a:xfrm>
            <a:off x="566928" y="384048"/>
            <a:ext cx="1105509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sz="1250" lang="en-US" b="1" dirty="0">
                <a:solidFill>
                  <a:srgbClr val="2A78D6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一、主採範疇</a:t>
            </a:r>
            <a:endParaRPr lang="en-US" sz="16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694944"/>
            <a:ext cx="11055096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0B0B0B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重大品質異常個案 — 移染／白汙跨月延燒，AI 只能協助草稿</a:t>
            </a:r>
            <a:endParaRPr lang="en-US" sz="2200" dirty="0"/>
          </a:p>
        </p:txBody>
      </p:sp>
      <p:sp>
        <p:nvSpPr>
          <p:cNvPr id="4" name="Text 2"/>
          <p:cNvSpPr txBox="1"/>
          <p:nvPr/>
        </p:nvSpPr>
        <p:spPr>
          <a:xfrm>
            <a:off x="566928" y="1536192"/>
            <a:ext cx="110550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1C4F8F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個案①　SANBEN-60236F014A #37 Brown 移染問題</a:t>
            </a:r>
            <a:endParaRPr lang="en-US" sz="1300" dirty="0"/>
          </a:p>
        </p:txBody>
      </p:sp>
      <p:sp>
        <p:nvSpPr>
          <p:cNvPr id="5" name="Text 3"/>
          <p:cNvSpPr txBox="1"/>
          <p:nvPr/>
        </p:nvSpPr>
        <p:spPr>
          <a:xfrm>
            <a:off x="566928" y="1920240"/>
            <a:ext cx="110550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1C4F8F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個案②　SANBEN-60226F034A #34 Brown 移染問題</a:t>
            </a:r>
            <a:endParaRPr lang="en-US" sz="1300" dirty="0"/>
          </a:p>
        </p:txBody>
      </p:sp>
      <p:sp>
        <p:nvSpPr>
          <p:cNvPr id="6" name="Text 4"/>
          <p:cNvSpPr txBox="1"/>
          <p:nvPr/>
        </p:nvSpPr>
        <p:spPr>
          <a:xfrm>
            <a:off x="566928" y="2304288"/>
            <a:ext cx="110550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1C4F8F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個案③　凱信-60146N118／60226N024B 移染問題</a:t>
            </a:r>
            <a:endParaRPr lang="en-US" sz="1300" dirty="0"/>
          </a:p>
        </p:txBody>
      </p:sp>
      <p:sp>
        <p:nvSpPr>
          <p:cNvPr id="7" name="Text 5"/>
          <p:cNvSpPr txBox="1"/>
          <p:nvPr/>
        </p:nvSpPr>
        <p:spPr>
          <a:xfrm>
            <a:off x="566928" y="2688336"/>
            <a:ext cx="110550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1C4F8F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個案④　GISTEX-226N009A／236N011A／226N033A 白汙問題</a:t>
            </a:r>
            <a:endParaRPr lang="en-US" sz="1300" dirty="0"/>
          </a:p>
        </p:txBody>
      </p:sp>
      <p:sp>
        <p:nvSpPr>
          <p:cNvPr id="8" name="Text 6"/>
          <p:cNvSpPr txBox="1"/>
          <p:nvPr/>
        </p:nvSpPr>
        <p:spPr>
          <a:xfrm>
            <a:off x="566928" y="3072384"/>
            <a:ext cx="110550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1C4F8F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個案⑤　CENTEX 226N020B／236F007A 白汙問題</a:t>
            </a:r>
            <a:endParaRPr lang="en-US" sz="1300" dirty="0"/>
          </a:p>
        </p:txBody>
      </p:sp>
      <p:sp>
        <p:nvSpPr>
          <p:cNvPr id="9" name="Text 7"/>
          <p:cNvSpPr txBox="1"/>
          <p:nvPr/>
        </p:nvSpPr>
        <p:spPr>
          <a:xfrm>
            <a:off x="566928" y="3776472"/>
            <a:ext cx="11055096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1C4F8F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白汙案（226N009A ＆ 033A）延燒逾半年，與大貨部門異常清單為同一事件，需與布廠、成衣廠、客戶三方反覆協調</a:t>
            </a:r>
            <a:endParaRPr lang="en-US" sz="125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1C4F8F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每起異常的成因與客戶要求皆不同，難以套用過去範本，AI 若貿然套用過去模式判斷，反而可能誤判</a:t>
            </a:r>
            <a:endParaRPr lang="en-US" sz="125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1C4F8F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決策（重修／賠償／換標／上訴）具高商業風險，需人員承擔責任並拍板</a:t>
            </a:r>
            <a:endParaRPr lang="en-US" sz="125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1C4F8F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處理過程常需送樣、複測、打樣確認等實體驗證步驟，這些動作本身無法由 AI 執行</a:t>
            </a:r>
            <a:endParaRPr lang="en-US" sz="125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1C4F8F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每起異常結案後還須撰寫品質改善 CAP（Corrective Action Plan）報告，彙整根因分析、對策與追蹤時程，AI 僅能協助草稿，內容與用詞仍須人核定</a:t>
            </a:r>
            <a:endParaRPr lang="en-US" sz="1250" dirty="0"/>
          </a:p>
        </p:txBody>
      </p:sp>
      <p:sp>
        <p:nvSpPr>
          <p:cNvPr id="10" name="Text 8"/>
          <p:cNvSpPr txBox="1"/>
          <p:nvPr/>
        </p:nvSpPr>
        <p:spPr>
          <a:xfrm>
            <a:off x="566928" y="6565392"/>
            <a:ext cx="1105509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sz="850" lang="en-US" i="1" dirty="0">
                <a:solidFill>
                  <a:srgbClr val="898781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資料來源：主採工作內容分類與AI可行性分析；226N009A／033A 案與大貨業務工作範疇彙整（2026-08-28）為同一事件，橫跨開發、大貨、主採三部門。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01" name="Shape 901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1C4F8F"/>
          </a:solidFill>
          <a:ln>
            <a:noFill/>
          </a:ln>
          <a:effectLst/>
        </p:spPr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902" name="Shape 902"/>
          <p:cNvSpPr/>
          <p:nvPr/>
        </p:nvSpPr>
        <p:spPr>
          <a:xfrm>
            <a:off x="566928" y="1335024"/>
            <a:ext cx="11055096" cy="27432"/>
          </a:xfrm>
          <a:prstGeom prst="rect">
            <a:avLst/>
          </a:prstGeom>
          <a:solidFill>
            <a:srgbClr val="1C4F8F"/>
          </a:solidFill>
          <a:ln>
            <a:noFill/>
          </a:ln>
          <a:effectLst/>
        </p:spPr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2" name="Text 0"/>
          <p:cNvSpPr txBox="1"/>
          <p:nvPr/>
        </p:nvSpPr>
        <p:spPr>
          <a:xfrm>
            <a:off x="566928" y="384048"/>
            <a:ext cx="1105509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sz="1250" lang="en-US" b="1" dirty="0">
                <a:solidFill>
                  <a:srgbClr val="2A78D6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一、主採範疇</a:t>
            </a:r>
            <a:endParaRPr lang="en-US" sz="16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694944"/>
            <a:ext cx="11055096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0B0B0B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核色進度看起來只是追蹤 — 其實是即時判斷鏈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661071" y="1536192"/>
            <a:ext cx="1972523" cy="1188720"/>
          </a:xfrm>
          <a:prstGeom prst="roundRect">
            <a:avLst>
              <a:gd name="adj" fmla="val 6154"/>
            </a:avLst>
          </a:prstGeom>
          <a:solidFill>
            <a:srgbClr val="1C4F8F"/>
          </a:solidFill>
          <a:ln w="12700">
            <a:solidFill>
              <a:srgbClr val="1C4F8F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61071" y="1536192"/>
            <a:ext cx="1972523" cy="1188720"/>
          </a:xfrm>
          <a:prstGeom prst="rect">
            <a:avLst/>
          </a:prstGeom>
          <a:noFill/>
          <a:ln/>
        </p:spPr>
        <p:txBody>
          <a:bodyPr wrap="square" lIns="50800" tIns="50800" rIns="50800" bIns="5080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FFFFFF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微信即時掌握</a:t>
            </a:r>
            <a:endParaRPr lang="en-US" sz="1100" dirty="0"/>
          </a:p>
          <a:p>
            <a:pPr marL="0" indent="0" algn="ctr">
              <a:buNone/>
            </a:pPr>
            <a:r>
              <a:rPr lang="en-US" sz="1100" dirty="0">
                <a:solidFill>
                  <a:srgbClr val="FFFFFF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上海布組核色情況</a:t>
            </a:r>
            <a:endParaRPr lang="en-US" sz="1100" dirty="0"/>
          </a:p>
        </p:txBody>
      </p:sp>
      <p:sp>
        <p:nvSpPr>
          <p:cNvPr id="6" name="Text 4"/>
          <p:cNvSpPr txBox="1"/>
          <p:nvPr/>
        </p:nvSpPr>
        <p:spPr>
          <a:xfrm>
            <a:off x="2633594" y="1536192"/>
            <a:ext cx="251048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898781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→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2884643" y="1536192"/>
            <a:ext cx="1972523" cy="1188720"/>
          </a:xfrm>
          <a:prstGeom prst="roundRect">
            <a:avLst>
              <a:gd name="adj" fmla="val 6154"/>
            </a:avLst>
          </a:prstGeom>
          <a:solidFill>
            <a:srgbClr val="1C4F8F"/>
          </a:solidFill>
          <a:ln w="12700">
            <a:solidFill>
              <a:srgbClr val="1C4F8F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2884643" y="1536192"/>
            <a:ext cx="1972523" cy="1188720"/>
          </a:xfrm>
          <a:prstGeom prst="rect">
            <a:avLst/>
          </a:prstGeom>
          <a:noFill/>
          <a:ln/>
        </p:spPr>
        <p:txBody>
          <a:bodyPr wrap="square" lIns="50800" tIns="50800" rIns="50800" bIns="5080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FFFFFF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核色結果</a:t>
            </a:r>
            <a:endParaRPr lang="en-US" sz="1100" dirty="0"/>
          </a:p>
          <a:p>
            <a:pPr marL="0" indent="0" algn="ctr">
              <a:buNone/>
            </a:pPr>
            <a:r>
              <a:rPr lang="en-US" sz="1100" dirty="0">
                <a:solidFill>
                  <a:srgbClr val="FFFFFF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同步通知布廠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4857166" y="1536192"/>
            <a:ext cx="251048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898781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→</a:t>
            </a:r>
            <a:endParaRPr lang="en-US" sz="1600" dirty="0"/>
          </a:p>
        </p:txBody>
      </p:sp>
      <p:sp>
        <p:nvSpPr>
          <p:cNvPr id="10" name="Shape 8"/>
          <p:cNvSpPr/>
          <p:nvPr/>
        </p:nvSpPr>
        <p:spPr>
          <a:xfrm>
            <a:off x="5108214" y="1536192"/>
            <a:ext cx="1972523" cy="1188720"/>
          </a:xfrm>
          <a:prstGeom prst="roundRect">
            <a:avLst>
              <a:gd name="adj" fmla="val 6154"/>
            </a:avLst>
          </a:prstGeom>
          <a:solidFill>
            <a:srgbClr val="1C4F8F"/>
          </a:solidFill>
          <a:ln w="12700">
            <a:solidFill>
              <a:srgbClr val="1C4F8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5108214" y="1536192"/>
            <a:ext cx="1972523" cy="1188720"/>
          </a:xfrm>
          <a:prstGeom prst="rect">
            <a:avLst/>
          </a:prstGeom>
          <a:noFill/>
          <a:ln/>
        </p:spPr>
        <p:txBody>
          <a:bodyPr wrap="square" lIns="50800" tIns="50800" rIns="50800" bIns="5080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FFFFFF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如有問題</a:t>
            </a:r>
            <a:endParaRPr lang="en-US" sz="1100" dirty="0"/>
          </a:p>
          <a:p>
            <a:pPr marL="0" indent="0" algn="ctr">
              <a:buNone/>
            </a:pPr>
            <a:r>
              <a:rPr lang="en-US" sz="1100" dirty="0">
                <a:solidFill>
                  <a:srgbClr val="FFFFFF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立即互動釐清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7080738" y="1536192"/>
            <a:ext cx="251048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898781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→</a:t>
            </a:r>
            <a:endParaRPr lang="en-US" sz="1600" dirty="0"/>
          </a:p>
        </p:txBody>
      </p:sp>
      <p:sp>
        <p:nvSpPr>
          <p:cNvPr id="13" name="Shape 11"/>
          <p:cNvSpPr/>
          <p:nvPr/>
        </p:nvSpPr>
        <p:spPr>
          <a:xfrm>
            <a:off x="7331786" y="1536192"/>
            <a:ext cx="1972523" cy="1188720"/>
          </a:xfrm>
          <a:prstGeom prst="roundRect">
            <a:avLst>
              <a:gd name="adj" fmla="val 6154"/>
            </a:avLst>
          </a:prstGeom>
          <a:solidFill>
            <a:srgbClr val="D03B3B"/>
          </a:solidFill>
          <a:ln w="12700">
            <a:solidFill>
              <a:srgbClr val="D03B3B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7331786" y="1536192"/>
            <a:ext cx="1972523" cy="1188720"/>
          </a:xfrm>
          <a:prstGeom prst="rect">
            <a:avLst/>
          </a:prstGeom>
          <a:noFill/>
          <a:ln/>
        </p:spPr>
        <p:txBody>
          <a:bodyPr wrap="square" lIns="50800" tIns="50800" rIns="50800" bIns="5080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NG：人工判斷</a:t>
            </a:r>
            <a:endParaRPr lang="en-US" sz="1100" dirty="0"/>
          </a:p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重修 或 上訴日本核色</a:t>
            </a:r>
            <a:endParaRPr lang="en-US" sz="1100" dirty="0"/>
          </a:p>
        </p:txBody>
      </p:sp>
      <p:sp>
        <p:nvSpPr>
          <p:cNvPr id="15" name="Text 13"/>
          <p:cNvSpPr txBox="1"/>
          <p:nvPr/>
        </p:nvSpPr>
        <p:spPr>
          <a:xfrm>
            <a:off x="9304309" y="1536192"/>
            <a:ext cx="251048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898781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→</a:t>
            </a:r>
            <a:endParaRPr lang="en-US" sz="1600" dirty="0"/>
          </a:p>
        </p:txBody>
      </p:sp>
      <p:sp>
        <p:nvSpPr>
          <p:cNvPr id="16" name="Shape 14"/>
          <p:cNvSpPr/>
          <p:nvPr/>
        </p:nvSpPr>
        <p:spPr>
          <a:xfrm>
            <a:off x="9555358" y="1536192"/>
            <a:ext cx="1972523" cy="1188720"/>
          </a:xfrm>
          <a:prstGeom prst="roundRect">
            <a:avLst>
              <a:gd name="adj" fmla="val 6154"/>
            </a:avLst>
          </a:prstGeom>
          <a:solidFill>
            <a:srgbClr val="1C4F8F"/>
          </a:solidFill>
          <a:ln w="12700">
            <a:solidFill>
              <a:srgbClr val="1C4F8F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9555358" y="1536192"/>
            <a:ext cx="1972523" cy="1188720"/>
          </a:xfrm>
          <a:prstGeom prst="rect">
            <a:avLst/>
          </a:prstGeom>
          <a:noFill/>
          <a:ln/>
        </p:spPr>
        <p:txBody>
          <a:bodyPr wrap="square" lIns="50800" tIns="50800" rIns="50800" bIns="5080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FFFFFF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上訴日本核色</a:t>
            </a:r>
            <a:endParaRPr lang="en-US" sz="1100" dirty="0"/>
          </a:p>
          <a:p>
            <a:pPr marL="0" indent="0" algn="ctr">
              <a:buNone/>
            </a:pPr>
            <a:r>
              <a:rPr lang="en-US" sz="1100" dirty="0">
                <a:solidFill>
                  <a:srgbClr val="FFFFFF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需再與客戶端交涉</a:t>
            </a:r>
            <a:endParaRPr lang="en-US" sz="1100" dirty="0"/>
          </a:p>
        </p:txBody>
      </p:sp>
      <p:sp>
        <p:nvSpPr>
          <p:cNvPr id="18" name="Text 16"/>
          <p:cNvSpPr txBox="1"/>
          <p:nvPr/>
        </p:nvSpPr>
        <p:spPr>
          <a:xfrm>
            <a:off x="1194549" y="3182112"/>
            <a:ext cx="9799854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dirty="0">
                <a:solidFill>
                  <a:srgbClr val="1C4F8F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每一步都需人即時判讀對話內容與圖片核對，核色進度是零散對話、非固定格式資料庫，AI 無法系統化讀取並追蹤這種即時、口語化的溝通內容。</a:t>
            </a:r>
            <a:endParaRPr lang="en-US" sz="1300" dirty="0"/>
          </a:p>
        </p:txBody>
      </p:sp>
      <p:sp>
        <p:nvSpPr>
          <p:cNvPr id="19" name="Text 17"/>
          <p:cNvSpPr txBox="1"/>
          <p:nvPr/>
        </p:nvSpPr>
        <p:spPr>
          <a:xfrm>
            <a:off x="566928" y="6565392"/>
            <a:ext cx="1105509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sz="850" lang="en-US" i="1" dirty="0">
                <a:solidFill>
                  <a:srgbClr val="898781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資料來源：主採工作內容分類與AI可行性分析（綜合分析分頁）「缸差核可進度」列「為什麼」欄位。</a:t>
            </a:r>
            <a:endParaRPr lang="en-US" sz="900" dirty="0"/>
          </a:p>
        </p:txBody>
      </p:sp>
      <p:sp>
        <p:nvSpPr>
          <p:cNvPr id="951" name="Shape 951"/>
          <p:cNvSpPr/>
          <p:nvPr/>
        </p:nvSpPr>
        <p:spPr>
          <a:xfrm>
            <a:off x="566928" y="5815584"/>
            <a:ext cx="11055096" cy="530352"/>
          </a:xfrm>
          <a:prstGeom prst="roundRect">
            <a:avLst/>
          </a:prstGeom>
          <a:solidFill>
            <a:srgbClr val="E8F1FC"/>
          </a:solidFill>
          <a:ln>
            <a:noFill/>
          </a:ln>
          <a:effectLst/>
        </p:spPr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952" name="Shape 952"/>
          <p:cNvSpPr/>
          <p:nvPr/>
        </p:nvSpPr>
        <p:spPr>
          <a:xfrm>
            <a:off x="566928" y="5815584"/>
            <a:ext cx="54864" cy="530352"/>
          </a:xfrm>
          <a:prstGeom prst="rect">
            <a:avLst/>
          </a:prstGeom>
          <a:solidFill>
            <a:srgbClr val="1C4F8F"/>
          </a:solidFill>
          <a:ln>
            <a:noFill/>
          </a:ln>
          <a:effectLst/>
        </p:spPr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953" name="TextBox 953"/>
          <p:cNvSpPr txBox="1"/>
          <p:nvPr/>
        </p:nvSpPr>
        <p:spPr>
          <a:xfrm>
            <a:off x="786384" y="5843016"/>
            <a:ext cx="10616184" cy="475488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lang="zh-TW" altLang="en-US" sz="1300" b="1" dirty="0">
                <a:solidFill>
                  <a:srgbClr val="1C4F8F"/>
                </a:solidFill>
                <a:latin typeface="微軟正黑體"/>
                <a:ea typeface="微軟正黑體"/>
                <a:cs typeface="微軟正黑體"/>
              </a:rPr>
              <a:t xml:space="preserve">→ </a:t>
            </a:r>
            <a:r>
              <a:rPr lang="zh-TW" altLang="en-US" sz="1300" b="1" dirty="0">
                <a:solidFill>
                  <a:srgbClr val="0B0B0B"/>
                </a:solidFill>
                <a:latin typeface="微軟正黑體"/>
                <a:ea typeface="微軟正黑體"/>
                <a:cs typeface="微軟正黑體"/>
              </a:rPr>
              <a:t>核色是一連串「看了才知道下一步」的判斷 —— AI 讀不到微信裡的零散對話與圖片，</a:t>
            </a:r>
            <a:r>
              <a:rPr lang="zh-TW" altLang="en-US" sz="1300" b="1" dirty="0">
                <a:solidFill>
                  <a:srgbClr val="D03B3B"/>
                </a:solidFill>
                <a:latin typeface="微軟正黑體"/>
                <a:ea typeface="微軟正黑體"/>
                <a:cs typeface="微軟正黑體"/>
              </a:rPr>
              <a:t>這條鏈上每一環都要人在線上</a:t>
            </a:r>
            <a:r>
              <a:rPr lang="zh-TW" altLang="en-US" sz="1300" b="1" dirty="0">
                <a:solidFill>
                  <a:srgbClr val="0B0B0B"/>
                </a:solidFill>
                <a:latin typeface="微軟正黑體"/>
                <a:ea typeface="微軟正黑體"/>
                <a:cs typeface="微軟正黑體"/>
              </a:rPr>
              <a:t>。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01" name="Shape 901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1C4F8F"/>
          </a:solidFill>
          <a:ln>
            <a:noFill/>
          </a:ln>
          <a:effectLst/>
        </p:spPr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902" name="Shape 902"/>
          <p:cNvSpPr/>
          <p:nvPr/>
        </p:nvSpPr>
        <p:spPr>
          <a:xfrm>
            <a:off x="566928" y="1335024"/>
            <a:ext cx="11055096" cy="27432"/>
          </a:xfrm>
          <a:prstGeom prst="rect">
            <a:avLst/>
          </a:prstGeom>
          <a:solidFill>
            <a:srgbClr val="1C4F8F"/>
          </a:solidFill>
          <a:ln>
            <a:noFill/>
          </a:ln>
          <a:effectLst/>
        </p:spPr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2" name="Text 0"/>
          <p:cNvSpPr txBox="1"/>
          <p:nvPr/>
        </p:nvSpPr>
        <p:spPr>
          <a:xfrm>
            <a:off x="566928" y="384048"/>
            <a:ext cx="1105509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sz="1250" lang="en-US" b="1" dirty="0">
                <a:solidFill>
                  <a:srgbClr val="2A78D6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三、已導入的 AI 工具</a:t>
            </a:r>
            <a:endParaRPr lang="en-US" sz="16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694944"/>
            <a:ext cx="11055096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0B0B0B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目前已導入的 AI 工具 — 省了什麼、又有什麼取代不了</a:t>
            </a:r>
            <a:endParaRPr lang="en-US" sz="2200" dirty="0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66928" y="1536192"/>
          <a:ext cx="11055096" cy="4114800"/>
        </p:xfrm>
        <a:graphic>
          <a:graphicData uri="http://schemas.openxmlformats.org/drawingml/2006/table">
            <a:tbl>
              <a:tblPr/>
              <a:tblGrid>
                <a:gridCol w="286912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59956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586406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45720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工具</a:t>
                      </a:r>
                      <a:endParaRPr lang="en-US" sz="1200" dirty="0">
                        <a:latin typeface="微軟正黑體" charset="0"/>
                        <a:ea typeface="微軟正黑體" charset="0"/>
                        <a:cs typeface="微軟正黑體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D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4F8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做什麼／取代掉的手動步驟</a:t>
                      </a:r>
                      <a:endParaRPr lang="en-US" sz="1200" dirty="0">
                        <a:latin typeface="微軟正黑體" charset="0"/>
                        <a:ea typeface="微軟正黑體" charset="0"/>
                        <a:cs typeface="微軟正黑體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D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4F8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AI 無法取代的部分</a:t>
                      </a:r>
                      <a:endParaRPr lang="en-US" sz="1200" dirty="0">
                        <a:latin typeface="微軟正黑體" charset="0"/>
                        <a:ea typeface="微軟正黑體" charset="0"/>
                        <a:cs typeface="微軟正黑體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D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4F8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7315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dirty="0">
                          <a:solidFill>
                            <a:srgbClr val="1C4F8F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GU TA 用量自動核對填入 skill</a:t>
                      </a:r>
                      <a:endParaRPr lang="en-US" sz="1100" dirty="0">
                        <a:latin typeface="微軟正黑體" charset="0"/>
                        <a:ea typeface="微軟正黑體" charset="0"/>
                        <a:cs typeface="微軟正黑體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D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dirty="0">
                          <a:solidFill>
                            <a:srgbClr val="1C4F8F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核對布料用量截圖／表格，自動填入 TA 的 Order Qty 欄</a:t>
                      </a:r>
                      <a:endParaRPr lang="en-US" sz="1100" dirty="0">
                        <a:latin typeface="微軟正黑體" charset="0"/>
                        <a:ea typeface="微軟正黑體" charset="0"/>
                        <a:cs typeface="微軟正黑體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D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dirty="0">
                          <a:solidFill>
                            <a:srgbClr val="1C4F8F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色號數超出既有列數時仍需人工重建區塊；異常數字仍須人核對</a:t>
                      </a:r>
                      <a:endParaRPr lang="en-US" sz="1100" dirty="0">
                        <a:latin typeface="微軟正黑體" charset="0"/>
                        <a:ea typeface="微軟正黑體" charset="0"/>
                        <a:cs typeface="微軟正黑體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D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7315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dirty="0">
                          <a:solidFill>
                            <a:srgbClr val="1C4F8F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Invoice 核對填 TA skill</a:t>
                      </a:r>
                      <a:endParaRPr lang="en-US" sz="1100" dirty="0">
                        <a:latin typeface="微軟正黑體" charset="0"/>
                        <a:ea typeface="微軟正黑體" charset="0"/>
                        <a:cs typeface="微軟正黑體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D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F1F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dirty="0">
                          <a:solidFill>
                            <a:srgbClr val="1C4F8F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比對布廠出貨 Invoice 與 TA，列出比對建議清單（可填/衝突/模糊）</a:t>
                      </a:r>
                      <a:endParaRPr lang="en-US" sz="1100" dirty="0">
                        <a:latin typeface="微軟正黑體" charset="0"/>
                        <a:ea typeface="微軟正黑體" charset="0"/>
                        <a:cs typeface="微軟正黑體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D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F1F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dirty="0">
                          <a:solidFill>
                            <a:srgbClr val="1C4F8F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是否覆蓋既有數字、衝突與模糊案例仍須人確認後才寫入</a:t>
                      </a:r>
                      <a:endParaRPr lang="en-US" sz="1100" dirty="0">
                        <a:latin typeface="微軟正黑體" charset="0"/>
                        <a:ea typeface="微軟正黑體" charset="0"/>
                        <a:cs typeface="微軟正黑體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D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F1F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7315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dirty="0">
                          <a:solidFill>
                            <a:srgbClr val="1C4F8F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B/L 缸差比對 skill</a:t>
                      </a:r>
                      <a:endParaRPr lang="en-US" sz="1100" dirty="0">
                        <a:latin typeface="微軟正黑體" charset="0"/>
                        <a:ea typeface="微軟正黑體" charset="0"/>
                        <a:cs typeface="微軟正黑體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D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dirty="0">
                          <a:solidFill>
                            <a:srgbClr val="1C4F8F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自動解析碼單、比對缸差追蹤表，產出核可狀態報告</a:t>
                      </a:r>
                      <a:endParaRPr lang="en-US" sz="1100" dirty="0">
                        <a:latin typeface="微軟正黑體" charset="0"/>
                        <a:ea typeface="微軟正黑體" charset="0"/>
                        <a:cs typeface="微軟正黑體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D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dirty="0">
                          <a:solidFill>
                            <a:srgbClr val="1C4F8F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核色結果本身、是否核可仍須人工目視判斷，報告需人確認後才寄出</a:t>
                      </a:r>
                      <a:endParaRPr lang="en-US" sz="1100" dirty="0">
                        <a:latin typeface="微軟正黑體" charset="0"/>
                        <a:ea typeface="微軟正黑體" charset="0"/>
                        <a:cs typeface="微軟正黑體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D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7315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dirty="0">
                          <a:solidFill>
                            <a:srgbClr val="1C4F8F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CBD → TA 產出工具</a:t>
                      </a:r>
                      <a:endParaRPr lang="en-US" sz="1100" dirty="0">
                        <a:latin typeface="微軟正黑體" charset="0"/>
                        <a:ea typeface="微軟正黑體" charset="0"/>
                        <a:cs typeface="微軟正黑體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D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F1F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dirty="0">
                          <a:solidFill>
                            <a:srgbClr val="1C4F8F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輔助將業務 CBD 確認資料轉換為 TA 格式</a:t>
                      </a:r>
                      <a:endParaRPr lang="en-US" sz="1100" dirty="0">
                        <a:latin typeface="微軟正黑體" charset="0"/>
                        <a:ea typeface="微軟正黑體" charset="0"/>
                        <a:cs typeface="微軟正黑體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D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F1F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dirty="0">
                          <a:solidFill>
                            <a:srgbClr val="1C4F8F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資料是否已收斂到「可下單版本」須由人判斷</a:t>
                      </a:r>
                      <a:endParaRPr lang="en-US" sz="1100" dirty="0">
                        <a:latin typeface="微軟正黑體" charset="0"/>
                        <a:ea typeface="微軟正黑體" charset="0"/>
                        <a:cs typeface="微軟正黑體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D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F1F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7315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dirty="0">
                          <a:solidFill>
                            <a:srgbClr val="1C4F8F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海空運費比較 產出工具</a:t>
                      </a:r>
                      <a:endParaRPr lang="en-US" sz="1100" dirty="0">
                        <a:latin typeface="微軟正黑體" charset="0"/>
                        <a:ea typeface="微軟正黑體" charset="0"/>
                        <a:cs typeface="微軟正黑體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D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F1F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dirty="0">
                          <a:solidFill>
                            <a:srgbClr val="1C4F8F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查詢海／空運報價，選定報價後產出符合原始格式的「海空運費比較」Excel</a:t>
                      </a:r>
                      <a:endParaRPr lang="en-US" sz="1100" dirty="0">
                        <a:latin typeface="微軟正黑體" charset="0"/>
                        <a:ea typeface="微軟正黑體" charset="0"/>
                        <a:cs typeface="微軟正黑體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D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F1F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dirty="0">
                          <a:solidFill>
                            <a:srgbClr val="1C4F8F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選哪一家、走海運或空運，仍須依當下產能、船期與交期風險判斷</a:t>
                      </a:r>
                      <a:endParaRPr lang="en-US" sz="1100" dirty="0">
                        <a:latin typeface="微軟正黑體" charset="0"/>
                        <a:ea typeface="微軟正黑體" charset="0"/>
                        <a:cs typeface="微軟正黑體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D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F1F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5" name="Text 2"/>
          <p:cNvSpPr txBox="1"/>
          <p:nvPr/>
        </p:nvSpPr>
        <p:spPr>
          <a:xfrm>
            <a:off x="566928" y="6565392"/>
            <a:ext cx="1105509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sz="850" lang="en-US" i="1" dirty="0">
                <a:solidFill>
                  <a:srgbClr val="898781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資料來源：主採團隊現行 Claude Code skill 清單（bl-dyelot-check／ta-invoice-fill／gu-ta-orderqty-fill／gu-cbd-to-ta-tool，另含海空運費比較產出工具）。</a:t>
            </a:r>
            <a:endParaRPr lang="en-US" sz="900" dirty="0"/>
          </a:p>
        </p:txBody>
      </p:sp>
      <p:sp>
        <p:nvSpPr>
          <p:cNvPr id="951" name="Shape 951"/>
          <p:cNvSpPr/>
          <p:nvPr/>
        </p:nvSpPr>
        <p:spPr>
          <a:xfrm>
            <a:off x="566928" y="5815584"/>
            <a:ext cx="11055096" cy="530352"/>
          </a:xfrm>
          <a:prstGeom prst="roundRect">
            <a:avLst/>
          </a:prstGeom>
          <a:solidFill>
            <a:srgbClr val="E8F1FC"/>
          </a:solidFill>
          <a:ln>
            <a:noFill/>
          </a:ln>
          <a:effectLst/>
        </p:spPr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952" name="Shape 952"/>
          <p:cNvSpPr/>
          <p:nvPr/>
        </p:nvSpPr>
        <p:spPr>
          <a:xfrm>
            <a:off x="566928" y="5815584"/>
            <a:ext cx="54864" cy="530352"/>
          </a:xfrm>
          <a:prstGeom prst="rect">
            <a:avLst/>
          </a:prstGeom>
          <a:solidFill>
            <a:srgbClr val="1C4F8F"/>
          </a:solidFill>
          <a:ln>
            <a:noFill/>
          </a:ln>
          <a:effectLst/>
        </p:spPr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953" name="TextBox 953"/>
          <p:cNvSpPr txBox="1"/>
          <p:nvPr/>
        </p:nvSpPr>
        <p:spPr>
          <a:xfrm>
            <a:off x="786384" y="5843016"/>
            <a:ext cx="10616184" cy="475488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lang="zh-TW" altLang="en-US" sz="1300" b="1" dirty="0">
                <a:solidFill>
                  <a:srgbClr val="1C4F8F"/>
                </a:solidFill>
                <a:latin typeface="微軟正黑體"/>
                <a:ea typeface="微軟正黑體"/>
                <a:cs typeface="微軟正黑體"/>
              </a:rPr>
              <a:t xml:space="preserve">→ </a:t>
            </a:r>
            <a:r>
              <a:rPr lang="zh-TW" altLang="en-US" sz="1300" b="1" dirty="0">
                <a:solidFill>
                  <a:srgbClr val="0B0B0B"/>
                </a:solidFill>
                <a:latin typeface="微軟正黑體"/>
                <a:ea typeface="微軟正黑體"/>
                <a:cs typeface="微軟正黑體"/>
              </a:rPr>
              <a:t>五支工具接手的都是「比對與填入」；要不要覆蓋、算不算核可、報告能不能寄出，</a:t>
            </a:r>
            <a:r>
              <a:rPr lang="zh-TW" altLang="en-US" sz="1300" b="1" dirty="0">
                <a:solidFill>
                  <a:srgbClr val="D03B3B"/>
                </a:solidFill>
                <a:latin typeface="微軟正黑體"/>
                <a:ea typeface="微軟正黑體"/>
                <a:cs typeface="微軟正黑體"/>
              </a:rPr>
              <a:t>仍然是人按下確認鍵</a:t>
            </a:r>
            <a:r>
              <a:rPr lang="zh-TW" altLang="en-US" sz="1300" b="1" dirty="0">
                <a:solidFill>
                  <a:srgbClr val="0B0B0B"/>
                </a:solidFill>
                <a:latin typeface="微軟正黑體"/>
                <a:ea typeface="微軟正黑體"/>
                <a:cs typeface="微軟正黑體"/>
              </a:rPr>
              <a:t>。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01" name="Shape 901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1C4F8F"/>
          </a:solidFill>
          <a:ln>
            <a:noFill/>
          </a:ln>
          <a:effectLst/>
        </p:spPr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902" name="Shape 902"/>
          <p:cNvSpPr/>
          <p:nvPr/>
        </p:nvSpPr>
        <p:spPr>
          <a:xfrm>
            <a:off x="566928" y="1335024"/>
            <a:ext cx="11055096" cy="27432"/>
          </a:xfrm>
          <a:prstGeom prst="rect">
            <a:avLst/>
          </a:prstGeom>
          <a:solidFill>
            <a:srgbClr val="1C4F8F"/>
          </a:solidFill>
          <a:ln>
            <a:noFill/>
          </a:ln>
          <a:effectLst/>
        </p:spPr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2" name="Text 0"/>
          <p:cNvSpPr txBox="1"/>
          <p:nvPr/>
        </p:nvSpPr>
        <p:spPr>
          <a:xfrm>
            <a:off x="566928" y="384048"/>
            <a:ext cx="1105509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sz="1250" lang="en-US" b="1" dirty="0">
                <a:solidFill>
                  <a:srgbClr val="2A78D6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二、AI 能協助到哪裡</a:t>
            </a:r>
            <a:endParaRPr lang="en-US" sz="16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694944"/>
            <a:ext cx="11055096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0B0B0B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AI 能協助分析，但「答案是否合理」取決於人</a:t>
            </a:r>
            <a:endParaRPr lang="en-US" sz="2200" dirty="0"/>
          </a:p>
        </p:txBody>
      </p:sp>
      <p:sp>
        <p:nvSpPr>
          <p:cNvPr id="4" name="Text 2"/>
          <p:cNvSpPr txBox="1"/>
          <p:nvPr/>
        </p:nvSpPr>
        <p:spPr>
          <a:xfrm>
            <a:off x="566928" y="1536192"/>
            <a:ext cx="5379609" cy="3444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C4F8F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① AI 幫不上的，具體是這些事</a:t>
            </a:r>
            <a:endParaRPr lang="en-US" sz="1400" dirty="0"/>
          </a:p>
        </p:txBody>
      </p:sp>
      <p:sp>
        <p:nvSpPr>
          <p:cNvPr id="5" name="Text 3"/>
          <p:cNvSpPr txBox="1"/>
          <p:nvPr/>
        </p:nvSpPr>
        <p:spPr>
          <a:xfrm>
            <a:off x="6242415" y="1536192"/>
            <a:ext cx="5379609" cy="3444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C4F8F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② 仍需人承擔責任才能拍板的事</a:t>
            </a:r>
            <a:endParaRPr lang="en-US" sz="1400" dirty="0"/>
          </a:p>
        </p:txBody>
      </p:sp>
      <p:sp>
        <p:nvSpPr>
          <p:cNvPr id="6" name="Text 4"/>
          <p:cNvSpPr txBox="1"/>
          <p:nvPr/>
        </p:nvSpPr>
        <p:spPr>
          <a:xfrm>
            <a:off x="566928" y="1966722"/>
            <a:ext cx="5379609" cy="370255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400"/>
              </a:spcAft>
              <a:buSzPct val="100000"/>
              <a:buChar char="•"/>
            </a:pPr>
            <a:r>
              <a:rPr lang="en-US" sz="1250" dirty="0">
                <a:solidFill>
                  <a:srgbClr val="1C4F8F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色差是否可接受 — 多數情況須人工目視或實物色板比對才能拍板</a:t>
            </a:r>
            <a:endParaRPr lang="en-US" sz="1250" dirty="0"/>
          </a:p>
          <a:p>
            <a:pPr marL="342900" indent="-342900">
              <a:spcAft>
                <a:spcPts val="1400"/>
              </a:spcAft>
              <a:buSzPct val="100000"/>
              <a:buChar char="•"/>
            </a:pPr>
            <a:r>
              <a:rPr lang="en-US" sz="1250" dirty="0">
                <a:solidFill>
                  <a:srgbClr val="1C4F8F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NG 後重修或上訴 — 交期／成本／客訴風險三方權衡，還要客戶點頭</a:t>
            </a:r>
            <a:endParaRPr lang="en-US" sz="1250" dirty="0"/>
          </a:p>
          <a:p>
            <a:pPr marL="342900" indent="-342900">
              <a:spcAft>
                <a:spcPts val="1400"/>
              </a:spcAft>
              <a:buSzPct val="100000"/>
              <a:buChar char="•"/>
            </a:pPr>
            <a:r>
              <a:rPr lang="en-US" sz="1250" dirty="0">
                <a:solidFill>
                  <a:srgbClr val="1C4F8F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交期／產能三方議定 — 布廠產能、成衣廠排線、業務訂單需求須同時滿足</a:t>
            </a:r>
            <a:endParaRPr lang="en-US" sz="1250" dirty="0"/>
          </a:p>
          <a:p>
            <a:pPr marL="342900" indent="-342900">
              <a:spcAft>
                <a:spcPts val="1400"/>
              </a:spcAft>
              <a:buSzPct val="100000"/>
              <a:buChar char="•"/>
            </a:pPr>
            <a:r>
              <a:rPr lang="en-US" sz="1250" dirty="0">
                <a:solidFill>
                  <a:srgbClr val="1C4F8F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下單時機拍板 — 判斷 CBD／FBO 資訊是否已收斂到最終版本才能執行</a:t>
            </a:r>
            <a:endParaRPr lang="en-US" sz="1250" dirty="0"/>
          </a:p>
        </p:txBody>
      </p:sp>
      <p:sp>
        <p:nvSpPr>
          <p:cNvPr id="7" name="Text 5"/>
          <p:cNvSpPr txBox="1"/>
          <p:nvPr/>
        </p:nvSpPr>
        <p:spPr>
          <a:xfrm>
            <a:off x="6242415" y="1966722"/>
            <a:ext cx="5379609" cy="370255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400"/>
              </a:spcAft>
              <a:buSzPct val="100000"/>
              <a:buChar char="•"/>
            </a:pPr>
            <a:r>
              <a:rPr lang="en-US" sz="1250" dirty="0">
                <a:solidFill>
                  <a:srgbClr val="1C4F8F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異常責任歸屬 — 布廠／裁剪／客戶規格，無標準答案，需人扛後續究責</a:t>
            </a:r>
            <a:endParaRPr lang="en-US" sz="1250" dirty="0"/>
          </a:p>
          <a:p>
            <a:pPr marL="342900" indent="-342900">
              <a:spcAft>
                <a:spcPts val="1400"/>
              </a:spcAft>
              <a:buSzPct val="100000"/>
              <a:buChar char="•"/>
            </a:pPr>
            <a:r>
              <a:rPr lang="en-US" sz="1250" dirty="0">
                <a:solidFill>
                  <a:srgbClr val="1C4F8F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系統操作與催辦 — ERP／船務系統 KEY IN、催促布廠訂艙，屬權限與人際範疇</a:t>
            </a:r>
            <a:endParaRPr lang="en-US" sz="1250" dirty="0"/>
          </a:p>
          <a:p>
            <a:pPr marL="342900" indent="-342900">
              <a:spcAft>
                <a:spcPts val="1400"/>
              </a:spcAft>
              <a:buSzPct val="100000"/>
              <a:buChar char="•"/>
            </a:pPr>
            <a:r>
              <a:rPr lang="en-US" sz="1250" dirty="0">
                <a:solidFill>
                  <a:srgbClr val="1C4F8F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微信／即時通訊溝通 — 零散對話、圖片核對，非結構化資料，AI 無法系統化追蹤</a:t>
            </a:r>
            <a:endParaRPr lang="en-US" sz="1250" dirty="0"/>
          </a:p>
          <a:p>
            <a:pPr marL="342900" indent="-342900">
              <a:spcAft>
                <a:spcPts val="1400"/>
              </a:spcAft>
              <a:buSzPct val="100000"/>
              <a:buChar char="•"/>
            </a:pPr>
            <a:r>
              <a:rPr lang="en-US" sz="1250" dirty="0">
                <a:solidFill>
                  <a:srgbClr val="1C4F8F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跨國交涉（上訴日本核色等）— AI 不能代為出席、發言或即時協調</a:t>
            </a:r>
            <a:endParaRPr lang="en-US" sz="1250" dirty="0"/>
          </a:p>
        </p:txBody>
      </p:sp>
      <p:sp>
        <p:nvSpPr>
          <p:cNvPr id="8" name="Text 6"/>
          <p:cNvSpPr txBox="1"/>
          <p:nvPr/>
        </p:nvSpPr>
        <p:spPr>
          <a:xfrm>
            <a:off x="566928" y="6565392"/>
            <a:ext cx="1105509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sz="850" lang="en-US" i="1" dirty="0">
                <a:solidFill>
                  <a:srgbClr val="898781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資料來源：主採工作內容分類與AI可行性分析（綜合分析分頁）各列「為什麼」欄位彙整。</a:t>
            </a:r>
            <a:endParaRPr lang="en-US" sz="900" dirty="0"/>
          </a:p>
        </p:txBody>
      </p:sp>
      <p:sp>
        <p:nvSpPr>
          <p:cNvPr id="951" name="Shape 951"/>
          <p:cNvSpPr/>
          <p:nvPr/>
        </p:nvSpPr>
        <p:spPr>
          <a:xfrm>
            <a:off x="566928" y="6035040"/>
            <a:ext cx="11055096" cy="530352"/>
          </a:xfrm>
          <a:prstGeom prst="roundRect">
            <a:avLst/>
          </a:prstGeom>
          <a:solidFill>
            <a:srgbClr val="E8F1FC"/>
          </a:solidFill>
          <a:ln>
            <a:noFill/>
          </a:ln>
          <a:effectLst/>
        </p:spPr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952" name="Shape 952"/>
          <p:cNvSpPr/>
          <p:nvPr/>
        </p:nvSpPr>
        <p:spPr>
          <a:xfrm>
            <a:off x="566928" y="6035040"/>
            <a:ext cx="54864" cy="530352"/>
          </a:xfrm>
          <a:prstGeom prst="rect">
            <a:avLst/>
          </a:prstGeom>
          <a:solidFill>
            <a:srgbClr val="1C4F8F"/>
          </a:solidFill>
          <a:ln>
            <a:noFill/>
          </a:ln>
          <a:effectLst/>
        </p:spPr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953" name="TextBox 953"/>
          <p:cNvSpPr txBox="1"/>
          <p:nvPr/>
        </p:nvSpPr>
        <p:spPr>
          <a:xfrm>
            <a:off x="786384" y="6062472"/>
            <a:ext cx="10616184" cy="475488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lang="zh-TW" altLang="en-US" sz="1300" b="1" dirty="0">
                <a:solidFill>
                  <a:srgbClr val="1C4F8F"/>
                </a:solidFill>
                <a:latin typeface="微軟正黑體"/>
                <a:ea typeface="微軟正黑體"/>
                <a:cs typeface="微軟正黑體"/>
              </a:rPr>
              <a:t xml:space="preserve">→ </a:t>
            </a:r>
            <a:r>
              <a:rPr lang="zh-TW" altLang="en-US" sz="1300" b="1" dirty="0">
                <a:solidFill>
                  <a:srgbClr val="0B0B0B"/>
                </a:solidFill>
                <a:latin typeface="微軟正黑體"/>
                <a:ea typeface="微軟正黑體"/>
                <a:cs typeface="微軟正黑體"/>
              </a:rPr>
              <a:t>AI 可以整理與提示，但「答案合不合理」與「誰來扛」這兩件事，</a:t>
            </a:r>
            <a:r>
              <a:rPr lang="zh-TW" altLang="en-US" sz="1300" b="1" dirty="0">
                <a:solidFill>
                  <a:srgbClr val="D03B3B"/>
                </a:solidFill>
                <a:latin typeface="微軟正黑體"/>
                <a:ea typeface="微軟正黑體"/>
                <a:cs typeface="微軟正黑體"/>
              </a:rPr>
              <a:t>沒有任何一項能交出去</a:t>
            </a:r>
            <a:r>
              <a:rPr lang="zh-TW" altLang="en-US" sz="1300" b="1" dirty="0">
                <a:solidFill>
                  <a:srgbClr val="0B0B0B"/>
                </a:solidFill>
                <a:latin typeface="微軟正黑體"/>
                <a:ea typeface="微軟正黑體"/>
                <a:cs typeface="微軟正黑體"/>
              </a:rPr>
              <a:t>。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01" name="Shape 901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1C4F8F"/>
          </a:solidFill>
          <a:ln>
            <a:noFill/>
          </a:ln>
          <a:effectLst/>
        </p:spPr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902" name="Shape 902"/>
          <p:cNvSpPr/>
          <p:nvPr/>
        </p:nvSpPr>
        <p:spPr>
          <a:xfrm>
            <a:off x="566928" y="1335024"/>
            <a:ext cx="11055096" cy="27432"/>
          </a:xfrm>
          <a:prstGeom prst="rect">
            <a:avLst/>
          </a:prstGeom>
          <a:solidFill>
            <a:srgbClr val="1C4F8F"/>
          </a:solidFill>
          <a:ln>
            <a:noFill/>
          </a:ln>
          <a:effectLst/>
        </p:spPr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2" name="Text 0"/>
          <p:cNvSpPr txBox="1"/>
          <p:nvPr/>
        </p:nvSpPr>
        <p:spPr>
          <a:xfrm>
            <a:off x="566928" y="384048"/>
            <a:ext cx="1105509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sz="1250" lang="en-US" b="1" dirty="0">
                <a:solidFill>
                  <a:srgbClr val="2A78D6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四、結論與建議</a:t>
            </a:r>
            <a:endParaRPr lang="en-US" sz="16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694944"/>
            <a:ext cx="11055096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0B0B0B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AI 是協作者，不是替代人力的方案 — 行政步驟壓縮 10–15%，決策仍須人拍板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566928" y="1536192"/>
            <a:ext cx="3460882" cy="1463040"/>
          </a:xfrm>
          <a:prstGeom prst="roundRect">
            <a:avLst>
              <a:gd name="adj" fmla="val 3750"/>
            </a:avLst>
          </a:prstGeom>
          <a:solidFill>
            <a:srgbClr val="FFFFFF"/>
          </a:solidFill>
          <a:ln w="12700">
            <a:solidFill>
              <a:srgbClr val="DDE3E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566928" y="1673352"/>
            <a:ext cx="346088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600" b="1" dirty="0">
                <a:solidFill>
                  <a:srgbClr val="1C4F8F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15%</a:t>
            </a:r>
            <a:endParaRPr lang="en-US" sz="2600" dirty="0"/>
          </a:p>
        </p:txBody>
      </p:sp>
      <p:sp>
        <p:nvSpPr>
          <p:cNvPr id="6" name="Text 4"/>
          <p:cNvSpPr txBox="1"/>
          <p:nvPr/>
        </p:nvSpPr>
        <p:spPr>
          <a:xfrm>
            <a:off x="566928" y="2176272"/>
            <a:ext cx="346088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1C4F8F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重大品質異常占比最高</a:t>
            </a:r>
            <a:endParaRPr lang="en-US" sz="1100" dirty="0"/>
          </a:p>
        </p:txBody>
      </p:sp>
      <p:sp>
        <p:nvSpPr>
          <p:cNvPr id="7" name="Text 5"/>
          <p:cNvSpPr txBox="1"/>
          <p:nvPr/>
        </p:nvSpPr>
        <p:spPr>
          <a:xfrm>
            <a:off x="566928" y="2542032"/>
            <a:ext cx="346088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898781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AI可協助比例僅 5%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4251960" y="1536192"/>
            <a:ext cx="3460882" cy="1463040"/>
          </a:xfrm>
          <a:prstGeom prst="roundRect">
            <a:avLst>
              <a:gd name="adj" fmla="val 3750"/>
            </a:avLst>
          </a:prstGeom>
          <a:solidFill>
            <a:srgbClr val="FFFFFF"/>
          </a:solidFill>
          <a:ln w="12700">
            <a:solidFill>
              <a:srgbClr val="DDE3EE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4251960" y="1673352"/>
            <a:ext cx="346088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600" b="1" dirty="0">
                <a:solidFill>
                  <a:srgbClr val="1C4F8F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25%</a:t>
            </a:r>
            <a:endParaRPr lang="en-US" sz="2600" dirty="0"/>
          </a:p>
        </p:txBody>
      </p:sp>
      <p:sp>
        <p:nvSpPr>
          <p:cNvPr id="10" name="Text 8"/>
          <p:cNvSpPr txBox="1"/>
          <p:nvPr/>
        </p:nvSpPr>
        <p:spPr>
          <a:xfrm>
            <a:off x="4251960" y="2176272"/>
            <a:ext cx="346088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1C4F8F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FBO/CBD主料TA確認</a:t>
            </a:r>
            <a:endParaRPr lang="en-US" sz="1100" dirty="0"/>
          </a:p>
        </p:txBody>
      </p:sp>
      <p:sp>
        <p:nvSpPr>
          <p:cNvPr id="11" name="Text 9"/>
          <p:cNvSpPr txBox="1"/>
          <p:nvPr/>
        </p:nvSpPr>
        <p:spPr>
          <a:xfrm>
            <a:off x="4251960" y="2542032"/>
            <a:ext cx="346088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898781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可行性相對最高，仍需逐日人工KEY IN多節點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7936992" y="1536192"/>
            <a:ext cx="3460882" cy="1463040"/>
          </a:xfrm>
          <a:prstGeom prst="roundRect">
            <a:avLst>
              <a:gd name="adj" fmla="val 3750"/>
            </a:avLst>
          </a:prstGeom>
          <a:solidFill>
            <a:srgbClr val="FFFFFF"/>
          </a:solidFill>
          <a:ln w="12700">
            <a:solidFill>
              <a:srgbClr val="DDE3EE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7936992" y="1673352"/>
            <a:ext cx="346088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600" b="1" dirty="0">
                <a:solidFill>
                  <a:srgbClr val="1C4F8F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約10-15%</a:t>
            </a:r>
            <a:endParaRPr lang="en-US" sz="2600" dirty="0"/>
          </a:p>
        </p:txBody>
      </p:sp>
      <p:sp>
        <p:nvSpPr>
          <p:cNvPr id="14" name="Text 12"/>
          <p:cNvSpPr txBox="1"/>
          <p:nvPr/>
        </p:nvSpPr>
        <p:spPr>
          <a:xfrm>
            <a:off x="7936992" y="2176272"/>
            <a:ext cx="346088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1C4F8F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整體估算</a:t>
            </a:r>
            <a:endParaRPr lang="en-US" sz="1100" dirty="0"/>
          </a:p>
        </p:txBody>
      </p:sp>
      <p:sp>
        <p:nvSpPr>
          <p:cNvPr id="15" name="Text 13"/>
          <p:cNvSpPr txBox="1"/>
          <p:nvPr/>
        </p:nvSpPr>
        <p:spPr>
          <a:xfrm>
            <a:off x="7936992" y="2542032"/>
            <a:ext cx="346088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898781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可由 AI 輔助行政/結構化步驟</a:t>
            </a:r>
            <a:endParaRPr lang="en-US" sz="1000" dirty="0"/>
          </a:p>
        </p:txBody>
      </p:sp>
      <p:sp>
        <p:nvSpPr>
          <p:cNvPr id="16" name="Text 14"/>
          <p:cNvSpPr txBox="1"/>
          <p:nvPr/>
        </p:nvSpPr>
        <p:spPr>
          <a:xfrm>
            <a:off x="566928" y="3364992"/>
            <a:ext cx="268980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C4F8F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建議</a:t>
            </a:r>
            <a:endParaRPr lang="en-US" sz="1400" dirty="0"/>
          </a:p>
        </p:txBody>
      </p:sp>
      <p:sp>
        <p:nvSpPr>
          <p:cNvPr id="17" name="Text 15"/>
          <p:cNvSpPr txBox="1"/>
          <p:nvPr/>
        </p:nvSpPr>
        <p:spPr>
          <a:xfrm>
            <a:off x="566928" y="3776472"/>
            <a:ext cx="11055096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300" dirty="0">
                <a:solidFill>
                  <a:srgbClr val="1C4F8F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持續擴大結構化數字比對類 skill 的覆蓋範圍（TA／Invoice／B/L 比對），提升 10-15% 這類行政工作的 AI 代勞比例</a:t>
            </a:r>
            <a:endParaRPr lang="en-US" sz="130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300" dirty="0">
                <a:solidFill>
                  <a:srgbClr val="1C4F8F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Fabric TA 逐日多節點追蹤（頭缸核可／測試送測／APP寄送／出貨ETC-ETD-ETA）可評估開發自動更新提醒工具，但最終仍須人工確認</a:t>
            </a:r>
            <a:endParaRPr lang="en-US" sz="130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300" dirty="0">
                <a:solidFill>
                  <a:srgbClr val="1C4F8F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重大異常、議價協商（含匯率商談）、核色判斷等類別維持現有人力配置，不宜納入 AI 取代規劃</a:t>
            </a:r>
            <a:endParaRPr lang="en-US" sz="130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300" dirty="0">
                <a:solidFill>
                  <a:srgbClr val="1C4F8F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本分析為 AI 初步估算，正式引用前需與 Willson／Lomi／Erica 及主管確認</a:t>
            </a:r>
            <a:endParaRPr lang="en-US" sz="1300" dirty="0"/>
          </a:p>
        </p:txBody>
      </p:sp>
      <p:sp>
        <p:nvSpPr>
          <p:cNvPr id="18" name="Text 16"/>
          <p:cNvSpPr txBox="1"/>
          <p:nvPr/>
        </p:nvSpPr>
        <p:spPr>
          <a:xfrm>
            <a:off x="566928" y="6565392"/>
            <a:ext cx="1105509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sz="850" lang="en-US" i="1" dirty="0">
                <a:solidFill>
                  <a:srgbClr val="898781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剩下的 85–90% 仍然要人來談、來判斷、來承擔。｜本簡報部分內容由 AI 依既有資料整理，僅供參考；正式引用或對外前請相關單位及本人複核。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佈景主題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5</TotalTime>
  <Words>1965</Words>
  <Application>Microsoft Office PowerPoint</Application>
  <PresentationFormat>寬螢幕</PresentationFormat>
  <Paragraphs>292</Paragraphs>
  <Slides>11</Slides>
  <Notes>8</Notes>
  <HiddenSlides>0</HiddenSlides>
  <MMClips>0</MMClips>
  <ScaleCrop>false</ScaleCrop>
  <HeadingPairs>
    <vt:vector size="6" baseType="variant">
      <vt:variant>
        <vt:lpstr>使用字型</vt:lpstr>
      </vt:variant>
      <vt:variant>
        <vt:i4>3</vt:i4>
      </vt:variant>
      <vt:variant>
        <vt:lpstr>佈景主題</vt:lpstr>
      </vt:variant>
      <vt:variant>
        <vt:i4>1</vt:i4>
      </vt:variant>
      <vt:variant>
        <vt:lpstr>投影片標題</vt:lpstr>
      </vt:variant>
      <vt:variant>
        <vt:i4>11</vt:i4>
      </vt:variant>
    </vt:vector>
  </HeadingPairs>
  <TitlesOfParts>
    <vt:vector size="15" baseType="lpstr">
      <vt:lpstr>微軟正黑體</vt:lpstr>
      <vt:lpstr>Arial</vt:lpstr>
      <vt:lpstr>Calibri</vt:lpstr>
      <vt:lpstr>Office Theme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Joyce Chen (Taipei, 陳麗玲)</cp:lastModifiedBy>
  <cp:revision>6</cp:revision>
  <dcterms:created xsi:type="dcterms:W3CDTF">2026-09-07T10:27:59Z</dcterms:created>
  <dcterms:modified xsi:type="dcterms:W3CDTF">2026-09-08T06:35:56Z</dcterms:modified>
</cp:coreProperties>
</file>