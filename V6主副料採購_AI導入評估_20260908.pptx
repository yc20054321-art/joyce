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13"/>
    <p:sldId id="257" r:id="rId14"/>
    <p:sldId id="258" r:id="rId15"/>
    <p:sldId id="259" r:id="rId16"/>
    <p:sldId id="26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33"/>
    <a:srgbClr val="1C4F8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09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Shap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960120" y="2103120"/>
            <a:ext cx="1024128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4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主副料採購 — AI 導入評估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700" b="1" dirty="0">
                <a:solidFill>
                  <a:srgbClr val="C9DFF7"/>
                </a:solidFill>
                <a:latin typeface="微軟正黑體"/>
                <a:ea typeface="微軟正黑體"/>
                <a:cs typeface="微軟正黑體"/>
              </a:rPr>
              <a:t>為什麼工時省得下來，人力卻減不掉？</a:t>
            </a:r>
          </a:p>
        </p:txBody>
      </p:sp>
      <p:sp>
        <p:nvSpPr>
          <p:cNvPr id="5" name="Shape 5"/>
          <p:cNvSpPr/>
          <p:nvPr/>
        </p:nvSpPr>
        <p:spPr>
          <a:xfrm>
            <a:off x="960120" y="3749040"/>
            <a:ext cx="2743200" cy="3657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960120" y="4005072"/>
            <a:ext cx="10241280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一、主採／副採在做什麼 —— 量體與結構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二、六個共通原因 —— 為什麼 AI 只能協助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三、AI 已經接手到哪裡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四、結論與人力建議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60120" y="576072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彙整：主採／副採　│　2026-09-08　│　人力編制：主採 3 位＋副採 3 位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9EC4EF"/>
                </a:solidFill>
                <a:latin typeface="微軟正黑體"/>
                <a:ea typeface="微軟正黑體"/>
                <a:cs typeface="微軟正黑體"/>
              </a:rPr>
              <a:t>內部討論用，請勿外傳。部分內容由 AI 協助整理，數字需相關單位／本人複核後方可對外引用。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一、量體與結構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主採與副採的共同形狀 — 類別多、單一類別占比低、每項只有 10–30 分鐘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主採（編制 3 位）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65376"/>
            <a:ext cx="5349240" cy="3072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65376"/>
            <a:ext cx="54864" cy="3072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804672" y="20116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14 類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15184" y="20116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已盤點的工作類型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04672" y="24688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1,993 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15184" y="24688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樣本期間信件總數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04672" y="29260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15%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15184" y="29260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最大單一類別：重大品質異常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4672" y="33832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12.6%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15184" y="33832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AI 可協助比例的占比加權平均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04672" y="3968496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十四類的 AI 可協助比例逐類落在 5–25%，加權後 12.6% —— 與該簡報自述的「約 10–15%」一致。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272784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副採（編制 3 位）</a:t>
            </a:r>
          </a:p>
        </p:txBody>
      </p:sp>
      <p:sp>
        <p:nvSpPr>
          <p:cNvPr id="19" name="Shape 19"/>
          <p:cNvSpPr/>
          <p:nvPr/>
        </p:nvSpPr>
        <p:spPr>
          <a:xfrm>
            <a:off x="6272784" y="1865376"/>
            <a:ext cx="5349240" cy="3072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6272784" y="1865376"/>
            <a:ext cx="54864" cy="3072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6510528" y="20116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11 類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21040" y="20116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已盤點的工作類型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10528" y="24688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2,656 張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321040" y="24688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ERP PO（2026 年 1–9 月）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10528" y="29260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20%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21040" y="29260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最大單一類別：by 款採購／品質 ISSUE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10528" y="33832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10–30 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321040" y="33832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每項作業的典型耗時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10528" y="3968496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Shipping Monitor key-in 約 4,000 次（推算）；十一類佔比加總 100%，分布平均、無單一大宗。</a:t>
            </a:r>
          </a:p>
        </p:txBody>
      </p:sp>
      <p:sp>
        <p:nvSpPr>
          <p:cNvPr id="30" name="Shape 30"/>
          <p:cNvSpPr/>
          <p:nvPr/>
        </p:nvSpPr>
        <p:spPr>
          <a:xfrm>
            <a:off x="566928" y="5102352"/>
            <a:ext cx="11055096" cy="566928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Shape 31"/>
          <p:cNvSpPr/>
          <p:nvPr/>
        </p:nvSpPr>
        <p:spPr>
          <a:xfrm>
            <a:off x="566928" y="5102352"/>
            <a:ext cx="54864" cy="56692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786384" y="5175504"/>
            <a:ext cx="1874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★ 關鍵的形狀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761488" y="5175504"/>
            <a:ext cx="864108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兩邊都沒有一塊「大到值得整批自動化」的工作 —— 主採最大的一類占 15%，副採最大的兩類各占 20%。就算把最大的一類完全自動化，也只動到整體的一到兩成，而那一類偏偏是最不能自動化的品質異常。</a:t>
            </a:r>
          </a:p>
        </p:txBody>
      </p:sp>
      <p:sp>
        <p:nvSpPr>
          <p:cNvPr id="34" name="Shape 34"/>
          <p:cNvSpPr/>
          <p:nvPr/>
        </p:nvSpPr>
        <p:spPr>
          <a:xfrm>
            <a:off x="566928" y="5852160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Shape 35"/>
          <p:cNvSpPr/>
          <p:nvPr/>
        </p:nvSpPr>
        <p:spPr>
          <a:xfrm>
            <a:off x="566928" y="5852160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6"/>
          <p:cNvSpPr txBox="1"/>
          <p:nvPr/>
        </p:nvSpPr>
        <p:spPr>
          <a:xfrm>
            <a:off x="786384" y="5879592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工作是「碎的」而不是「大的」—— 自動化任何單一類別的邊際效益都有限，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這是人力減不掉的第一個結構原因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資料來源：主採業務範疇說明（2026-09-07）十四大類表；V6副採工作範疇簡略說明（2026-09-07）十一大類與 ERP／Shipping Monitor 實績。12.6% 為依占比加權平均之推算值。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二、共通原因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六個共通原因 — 為什麼 AI 只能協助，不能按比例替換人力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17904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主採談布廠、副採談副料供應商，對象不同，但卡住的地方一模一樣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68096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① 是「議定」，不是「查詢」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8096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交期、價格、責任都要多輪來回談定 —— 主採還含人民幣匯率商談，副採要與供應商／成衣廠反覆議定。AI 產得出初稿，談不出共識。</a:t>
            </a:r>
          </a:p>
        </p:txBody>
      </p:sp>
      <p:sp>
        <p:nvSpPr>
          <p:cNvPr id="11" name="Shape 11"/>
          <p:cNvSpPr/>
          <p:nvPr/>
        </p:nvSpPr>
        <p:spPr>
          <a:xfrm>
            <a:off x="4325112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Shape 12"/>
          <p:cNvSpPr/>
          <p:nvPr/>
        </p:nvSpPr>
        <p:spPr>
          <a:xfrm>
            <a:off x="4325112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526280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② 等待不會因為 AI 而變快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26280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工時花在等布廠、成衣廠、客戶回覆。處理速度從來不是瓶頸 —— 就算報表 3 秒生成，對方明天才回。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Shape 16"/>
          <p:cNvSpPr/>
          <p:nvPr/>
        </p:nvSpPr>
        <p:spPr>
          <a:xfrm>
            <a:off x="8083296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8284464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③ 要看實物才能拍板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84464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色差、移染、白汙、看色核色，都要目視實物與色板比對，並送樣、複測、打樣驗證。這些動作本身無法由 AI 執行。</a:t>
            </a:r>
          </a:p>
        </p:txBody>
      </p:sp>
      <p:sp>
        <p:nvSpPr>
          <p:cNvPr id="19" name="Shape 19"/>
          <p:cNvSpPr/>
          <p:nvPr/>
        </p:nvSpPr>
        <p:spPr>
          <a:xfrm>
            <a:off x="566928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566928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768096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④ 溝通載體不在系統裡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8096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缸差核色靠微信與上海布組即時互動；重大異常多為電話、現場會議、口頭確認。零散對話與圖片，AI 讀不到也追不了。</a:t>
            </a:r>
          </a:p>
        </p:txBody>
      </p:sp>
      <p:sp>
        <p:nvSpPr>
          <p:cNvPr id="23" name="Shape 23"/>
          <p:cNvSpPr/>
          <p:nvPr/>
        </p:nvSpPr>
        <p:spPr>
          <a:xfrm>
            <a:off x="4325112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4325112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4526280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⑤ 承諾與責任要人來扛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26280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下單即產生商業約束力；異常究責、換不換標、CAP 報告都要有人簽名負責。責任無法交給工具，這與工具好不好無關。</a:t>
            </a:r>
          </a:p>
        </p:txBody>
      </p:sp>
      <p:sp>
        <p:nvSpPr>
          <p:cNvPr id="27" name="Shape 27"/>
          <p:cNvSpPr/>
          <p:nvPr/>
        </p:nvSpPr>
        <p:spPr>
          <a:xfrm>
            <a:off x="8083296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Shape 28"/>
          <p:cNvSpPr/>
          <p:nvPr/>
        </p:nvSpPr>
        <p:spPr>
          <a:xfrm>
            <a:off x="8083296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284464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⑥ 資料會回頭改寫上一輪的答案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284464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訂單切割、分廠重算、TA 變動、PH3 填補 —— 任何時間點算出的答案，都可能在下一刻被工廠或供應商的回覆推翻。</a:t>
            </a:r>
          </a:p>
        </p:txBody>
      </p:sp>
      <p:sp>
        <p:nvSpPr>
          <p:cNvPr id="31" name="Shape 31"/>
          <p:cNvSpPr/>
          <p:nvPr/>
        </p:nvSpPr>
        <p:spPr>
          <a:xfrm>
            <a:off x="566928" y="4919472"/>
            <a:ext cx="11055096" cy="566928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Shape 32"/>
          <p:cNvSpPr/>
          <p:nvPr/>
        </p:nvSpPr>
        <p:spPr>
          <a:xfrm>
            <a:off x="566928" y="4919472"/>
            <a:ext cx="54864" cy="56692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3"/>
          <p:cNvSpPr txBox="1"/>
          <p:nvPr/>
        </p:nvSpPr>
        <p:spPr>
          <a:xfrm>
            <a:off x="786384" y="4992624"/>
            <a:ext cx="1874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★ 六項的共同點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761488" y="4992624"/>
            <a:ext cx="864108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沒有一項是「人做得比較慢」，全部都是「不能由工具代為決定」。AI 加速的是前置整理，決定權從頭到尾沒有移轉過。</a:t>
            </a:r>
          </a:p>
        </p:txBody>
      </p:sp>
      <p:sp>
        <p:nvSpPr>
          <p:cNvPr id="35" name="Shape 35"/>
          <p:cNvSpPr/>
          <p:nvPr/>
        </p:nvSpPr>
        <p:spPr>
          <a:xfrm>
            <a:off x="566928" y="5705856"/>
            <a:ext cx="11055096" cy="54864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Shape 36"/>
          <p:cNvSpPr/>
          <p:nvPr/>
        </p:nvSpPr>
        <p:spPr>
          <a:xfrm>
            <a:off x="566928" y="5705856"/>
            <a:ext cx="54864" cy="54864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7"/>
          <p:cNvSpPr txBox="1"/>
          <p:nvPr/>
        </p:nvSpPr>
        <p:spPr>
          <a:xfrm>
            <a:off x="786384" y="5733288"/>
            <a:ext cx="10616184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 xml:space="preserve">能被壓縮的是產出速度；主副採的工時花在等別人回覆、和別人談定、對實物拍板 —— 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這三件事 AI 幫得上忙，卻沒有一件能代替人完成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資料來源：主採業務範疇說明（2026-09-07）「為什麼」欄之歸納；V6副採工作範疇簡略說明（2026-09-07）代表性工作情境與工時特性頁。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三、AI 導入現況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已經接手到哪裡 — 全部落在輸入端，沒有一項能跨進判斷端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主採｜已導入 5 支 skill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65376"/>
            <a:ext cx="5349240" cy="2670048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65376"/>
            <a:ext cx="54864" cy="2670048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804672" y="20116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GU TA 用量自動核對填入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4670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填入 TA 的 Order Qty 欄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04672" y="2340864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Invoice 核對填 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46704" y="234086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產出可填／衝突／模糊清單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04672" y="26700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B/L 缸差比對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346704" y="267004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產出核可狀態報告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4672" y="29992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CBD → TA 產出工具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46704" y="29992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轉換為 TA 格式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04672" y="3328416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海空運費比較 產出工具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346704" y="332841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查詢海／空運報價，產出比較 Excel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04672" y="3694176"/>
            <a:ext cx="4873752" cy="6949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對應的類別合計約占 25% 的信件量；十四類加權後的 AI 可協助比例為 12.6%（該簡報自述約 10–15%）。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272784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副採｜4 個潛在可介入點</a:t>
            </a:r>
          </a:p>
        </p:txBody>
      </p:sp>
      <p:sp>
        <p:nvSpPr>
          <p:cNvPr id="21" name="Shape 21"/>
          <p:cNvSpPr/>
          <p:nvPr/>
        </p:nvSpPr>
        <p:spPr>
          <a:xfrm>
            <a:off x="6272784" y="1865376"/>
            <a:ext cx="5349240" cy="267004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Shape 22"/>
          <p:cNvSpPr/>
          <p:nvPr/>
        </p:nvSpPr>
        <p:spPr>
          <a:xfrm>
            <a:off x="6272784" y="1865376"/>
            <a:ext cx="54864" cy="2670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6510528" y="2011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PO／BOM 系統性資料 key-in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18320" y="2011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by 款採購作業　20%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10528" y="234086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空運費計算（by flow）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18320" y="2340864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空運費計算　5%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10528" y="26700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出貨 TA 表格更新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18320" y="267004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出貨 TA 更新　10%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10528" y="29992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分廠數量計算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418320" y="299923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中國產區分廠計算　5%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10528" y="3694176"/>
            <a:ext cx="4873752" cy="6949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這四個介入點分布在合計約 40% 的類別中（20＋5＋10＋5）——但可自動化的只是這些類別裡的登錄與計算步驟。</a:t>
            </a:r>
          </a:p>
        </p:txBody>
      </p:sp>
      <p:sp>
        <p:nvSpPr>
          <p:cNvPr id="32" name="Shape 32"/>
          <p:cNvSpPr/>
          <p:nvPr/>
        </p:nvSpPr>
        <p:spPr>
          <a:xfrm>
            <a:off x="566928" y="4645152"/>
            <a:ext cx="11055096" cy="694944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Shape 33"/>
          <p:cNvSpPr/>
          <p:nvPr/>
        </p:nvSpPr>
        <p:spPr>
          <a:xfrm>
            <a:off x="566928" y="4645152"/>
            <a:ext cx="54864" cy="69494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4"/>
          <p:cNvSpPr txBox="1"/>
          <p:nvPr/>
        </p:nvSpPr>
        <p:spPr>
          <a:xfrm>
            <a:off x="786384" y="4718304"/>
            <a:ext cx="1874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別讀錯這兩個數字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761488" y="4718304"/>
            <a:ext cx="864108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「25%」與「40%」講的是這些工具「碰得到的類別」占多少，不是「可以被取代的工時」。工具接手的是類別裡的登錄與比對步驟；同一類別裡的議定、催辦、判讀、拍板，仍然逐件由人處理。</a:t>
            </a:r>
          </a:p>
        </p:txBody>
      </p:sp>
      <p:sp>
        <p:nvSpPr>
          <p:cNvPr id="36" name="Shape 36"/>
          <p:cNvSpPr/>
          <p:nvPr/>
        </p:nvSpPr>
        <p:spPr>
          <a:xfrm>
            <a:off x="566928" y="5705856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Shape 37"/>
          <p:cNvSpPr/>
          <p:nvPr/>
        </p:nvSpPr>
        <p:spPr>
          <a:xfrm>
            <a:off x="566928" y="5705856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786384" y="5733288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九個項目全部落在「比對與填入」；要不要覆蓋、算不算核可、報告能不能寄出，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仍然是人按下確認鍵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資料來源：主採團隊現行 Claude Code skill 清單（bl-dyelot-check／ta-invoice-fill／gu-ta-orderqty-fill／gu-cbd-to-ta-tool，另含海空運費比較產出工具）；V6副採工作範疇簡略說明（2026-09-07）工時特性頁。25%、40%、12.6% 均為依表列占比推算之估算值。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四、結論與建議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是協作者，不是替代人力的方案 — 建議維持現有配置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Shape 6"/>
          <p:cNvSpPr/>
          <p:nvPr/>
        </p:nvSpPr>
        <p:spPr>
          <a:xfrm>
            <a:off x="566928" y="1554480"/>
            <a:ext cx="11055096" cy="786384"/>
          </a:xfrm>
          <a:prstGeom prst="round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877824" y="1645920"/>
            <a:ext cx="10433304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省下的 10–15% 不是集中在某一個人、某一段時間，而是散在六個人每天的 10–30 分鐘切片裡 —— 省下的是等待中的空隙，不是可以整併掉的一個編制。</a:t>
            </a:r>
          </a:p>
        </p:txBody>
      </p:sp>
      <p:sp>
        <p:nvSpPr>
          <p:cNvPr id="8" name="Shape 8"/>
          <p:cNvSpPr/>
          <p:nvPr/>
        </p:nvSpPr>
        <p:spPr>
          <a:xfrm>
            <a:off x="566928" y="2487168"/>
            <a:ext cx="11055096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Shape 9"/>
          <p:cNvSpPr/>
          <p:nvPr/>
        </p:nvSpPr>
        <p:spPr>
          <a:xfrm>
            <a:off x="566928" y="2487168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786384" y="2569464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① 繼續擴大，但目標放對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94176" y="2569464"/>
            <a:ext cx="7708392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持續擴大結構化比對類工具的覆蓋（TA／Invoice／B/L 比對、分廠數量、空運費計算）。目標是把這 10–15% 的行政步驟做穩、降低 key-in 錯誤，而不是拿它折抵編制。</a:t>
            </a:r>
          </a:p>
        </p:txBody>
      </p:sp>
      <p:sp>
        <p:nvSpPr>
          <p:cNvPr id="12" name="Shape 12"/>
          <p:cNvSpPr/>
          <p:nvPr/>
        </p:nvSpPr>
        <p:spPr>
          <a:xfrm>
            <a:off x="566928" y="3346704"/>
            <a:ext cx="11055096" cy="786384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Shape 13"/>
          <p:cNvSpPr/>
          <p:nvPr/>
        </p:nvSpPr>
        <p:spPr>
          <a:xfrm>
            <a:off x="566928" y="3346704"/>
            <a:ext cx="54864" cy="78638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4"/>
          <p:cNvSpPr txBox="1"/>
          <p:nvPr/>
        </p:nvSpPr>
        <p:spPr>
          <a:xfrm>
            <a:off x="786384" y="3429000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② 這幾類不納入 AI 取代規劃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94176" y="3429000"/>
            <a:ext cx="7708392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重大品質異常、議價協商（含匯率商談）、看色與核色判斷、跨廠催辦、跨國交涉 —— 維持現有人力配置。這些不是工具成熟度問題，是責任歸屬問題。</a:t>
            </a:r>
          </a:p>
        </p:txBody>
      </p:sp>
      <p:sp>
        <p:nvSpPr>
          <p:cNvPr id="16" name="Shape 16"/>
          <p:cNvSpPr/>
          <p:nvPr/>
        </p:nvSpPr>
        <p:spPr>
          <a:xfrm>
            <a:off x="566928" y="4206240"/>
            <a:ext cx="11055096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Shape 17"/>
          <p:cNvSpPr/>
          <p:nvPr/>
        </p:nvSpPr>
        <p:spPr>
          <a:xfrm>
            <a:off x="566928" y="4206240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786384" y="4288536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③ 之後要調整編制，看量體不看工具數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694176" y="4288536"/>
            <a:ext cx="7708392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若日後評估人力，建議以款數／PO 張數／異常件數／製樣階段數等量體指標判斷，而不是以導入了幾支 AI 工具判斷 —— 兩者不成比例。</a:t>
            </a:r>
          </a:p>
        </p:txBody>
      </p:sp>
      <p:sp>
        <p:nvSpPr>
          <p:cNvPr id="20" name="Shape 20"/>
          <p:cNvSpPr/>
          <p:nvPr/>
        </p:nvSpPr>
        <p:spPr>
          <a:xfrm>
            <a:off x="566928" y="5175504"/>
            <a:ext cx="11055096" cy="54864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Shape 21"/>
          <p:cNvSpPr/>
          <p:nvPr/>
        </p:nvSpPr>
        <p:spPr>
          <a:xfrm>
            <a:off x="566928" y="5175504"/>
            <a:ext cx="54864" cy="54864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786384" y="5202936"/>
            <a:ext cx="10616184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 xml:space="preserve">AI 讓同樣的六個人接得住愈來愈多的款數與異常 —— 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它撐住的是產能，不是騰出的編制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23" name="Shape 23"/>
          <p:cNvSpPr/>
          <p:nvPr/>
        </p:nvSpPr>
        <p:spPr>
          <a:xfrm>
            <a:off x="566928" y="5870448"/>
            <a:ext cx="11055096" cy="56692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566928" y="5870448"/>
            <a:ext cx="54864" cy="566928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786384" y="5943600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數字口徑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441448" y="5943600"/>
            <a:ext cx="896112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主採占比取自信箱關鍵字分類估算，樣本僅一人信箱可見範圍、非三人完整信箱、不含微信；副採占比為體感估計。兩者皆非工時實測，正式引用前請主採／副採本人及主管複核。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資料來源：主採業務範疇說明（2026-09-07）結論與建議頁；V6副採工作範疇簡略說明（2026-09-07）。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1212</Words>
  <Application>Microsoft Office PowerPoint</Application>
  <PresentationFormat>寬螢幕</PresentationFormat>
  <Paragraphs>137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Joyce Chen (Taipei, 陳麗玲)</cp:lastModifiedBy>
  <cp:revision>13</cp:revision>
  <dcterms:created xsi:type="dcterms:W3CDTF">2026-09-07T14:46:22Z</dcterms:created>
  <dcterms:modified xsi:type="dcterms:W3CDTF">2026-09-08T06:12:19Z</dcterms:modified>
</cp:coreProperties>
</file>