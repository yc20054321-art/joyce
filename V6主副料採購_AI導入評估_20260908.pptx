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13"/>
    <p:sldId id="257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33"/>
    <a:srgbClr val="1C4F8F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13" Type="http://schemas.openxmlformats.org/officeDocument/2006/relationships/slide" Target="slides/slide1.xml"/><Relationship Id="rId14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090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主副料採購 ‧ AI 導入評估　①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66928" y="694944"/>
            <a:ext cx="11055096" cy="393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5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AI 接手的是輸入端 — 量體、已導入的工具，以及它們接手到哪裡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Shape 6"/>
          <p:cNvSpPr/>
          <p:nvPr/>
        </p:nvSpPr>
        <p:spPr>
          <a:xfrm>
            <a:off x="566928" y="1536192"/>
            <a:ext cx="2599182" cy="78638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Shape 7"/>
          <p:cNvSpPr/>
          <p:nvPr/>
        </p:nvSpPr>
        <p:spPr>
          <a:xfrm>
            <a:off x="566928" y="1536192"/>
            <a:ext cx="54864" cy="786384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786384" y="1618488"/>
            <a:ext cx="219684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1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25 類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86384" y="2002536"/>
            <a:ext cx="219684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主副採已盤點的工作類型（14＋11）</a:t>
            </a:r>
          </a:p>
        </p:txBody>
      </p:sp>
      <p:sp>
        <p:nvSpPr>
          <p:cNvPr id="10" name="Shape 10"/>
          <p:cNvSpPr/>
          <p:nvPr/>
        </p:nvSpPr>
        <p:spPr>
          <a:xfrm>
            <a:off x="3385566" y="1536192"/>
            <a:ext cx="2599182" cy="78638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Shape 11"/>
          <p:cNvSpPr/>
          <p:nvPr/>
        </p:nvSpPr>
        <p:spPr>
          <a:xfrm>
            <a:off x="3385566" y="1536192"/>
            <a:ext cx="54864" cy="786384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2"/>
          <p:cNvSpPr txBox="1"/>
          <p:nvPr/>
        </p:nvSpPr>
        <p:spPr>
          <a:xfrm>
            <a:off x="3605022" y="1618488"/>
            <a:ext cx="219684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1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10 位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05022" y="2002536"/>
            <a:ext cx="219684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人力編制（主採 7＋副採 3）</a:t>
            </a:r>
          </a:p>
        </p:txBody>
      </p:sp>
      <p:sp>
        <p:nvSpPr>
          <p:cNvPr id="14" name="Shape 14"/>
          <p:cNvSpPr/>
          <p:nvPr/>
        </p:nvSpPr>
        <p:spPr>
          <a:xfrm>
            <a:off x="6204204" y="1536192"/>
            <a:ext cx="2599182" cy="78638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Shape 15"/>
          <p:cNvSpPr/>
          <p:nvPr/>
        </p:nvSpPr>
        <p:spPr>
          <a:xfrm>
            <a:off x="6204204" y="1536192"/>
            <a:ext cx="54864" cy="78638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6"/>
          <p:cNvSpPr txBox="1"/>
          <p:nvPr/>
        </p:nvSpPr>
        <p:spPr>
          <a:xfrm>
            <a:off x="6423660" y="1618488"/>
            <a:ext cx="219684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1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12.6%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423660" y="2002536"/>
            <a:ext cx="219684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主採 AI 可協助比例（占比加權）</a:t>
            </a:r>
          </a:p>
        </p:txBody>
      </p:sp>
      <p:sp>
        <p:nvSpPr>
          <p:cNvPr id="18" name="Shape 18"/>
          <p:cNvSpPr/>
          <p:nvPr/>
        </p:nvSpPr>
        <p:spPr>
          <a:xfrm>
            <a:off x="9022842" y="1536192"/>
            <a:ext cx="2599182" cy="78638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Shape 19"/>
          <p:cNvSpPr/>
          <p:nvPr/>
        </p:nvSpPr>
        <p:spPr>
          <a:xfrm>
            <a:off x="9022842" y="1536192"/>
            <a:ext cx="54864" cy="78638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9242298" y="1618488"/>
            <a:ext cx="219684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1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9 項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242298" y="2002536"/>
            <a:ext cx="219684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已導入 skill ＋ 潛在可介入點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66928" y="2450592"/>
            <a:ext cx="534924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主採｜已導入 5 支 skill</a:t>
            </a:r>
          </a:p>
        </p:txBody>
      </p:sp>
      <p:sp>
        <p:nvSpPr>
          <p:cNvPr id="23" name="Shape 23"/>
          <p:cNvSpPr/>
          <p:nvPr/>
        </p:nvSpPr>
        <p:spPr>
          <a:xfrm>
            <a:off x="566928" y="2761488"/>
            <a:ext cx="5349240" cy="2487168"/>
          </a:xfrm>
          <a:prstGeom prst="roundRect">
            <a:avLst/>
          </a:prstGeom>
          <a:solidFill>
            <a:srgbClr val="E8F1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Shape 24"/>
          <p:cNvSpPr/>
          <p:nvPr/>
        </p:nvSpPr>
        <p:spPr>
          <a:xfrm>
            <a:off x="566928" y="2761488"/>
            <a:ext cx="54864" cy="2487168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5"/>
          <p:cNvSpPr txBox="1"/>
          <p:nvPr/>
        </p:nvSpPr>
        <p:spPr>
          <a:xfrm>
            <a:off x="804672" y="2889504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GU TA 用量自動核對填入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346704" y="288950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填入 TA 的 Order Qty 欄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04672" y="320040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Invoice 核對填 TA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346704" y="320040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產出可填／衝突／模糊清單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04672" y="3511296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B/L 缸差比對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346704" y="3511296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產出核可狀態報告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04672" y="382219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CBD → TA 產出工具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346704" y="382219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轉換為 TA 格式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04672" y="413308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海空運費比較 產出工具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346704" y="4133088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查詢海／空運報價，產出比較 Excel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04672" y="4553712"/>
            <a:ext cx="487375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對應的類別合計約占 25% 的信件量；十四類加權後的 AI 可協助比例為 12.6%（該簡報自述約 10–15%）。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272784" y="2450592"/>
            <a:ext cx="534924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副採｜4 個潛在可介入點</a:t>
            </a:r>
          </a:p>
        </p:txBody>
      </p:sp>
      <p:sp>
        <p:nvSpPr>
          <p:cNvPr id="37" name="Shape 37"/>
          <p:cNvSpPr/>
          <p:nvPr/>
        </p:nvSpPr>
        <p:spPr>
          <a:xfrm>
            <a:off x="6272784" y="2761488"/>
            <a:ext cx="5349240" cy="2487168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Shape 38"/>
          <p:cNvSpPr/>
          <p:nvPr/>
        </p:nvSpPr>
        <p:spPr>
          <a:xfrm>
            <a:off x="6272784" y="2761488"/>
            <a:ext cx="54864" cy="24871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9"/>
          <p:cNvSpPr txBox="1"/>
          <p:nvPr/>
        </p:nvSpPr>
        <p:spPr>
          <a:xfrm>
            <a:off x="6510528" y="28895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· PO／BOM 系統性資料 key-in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418320" y="2889504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by 款採購作業　20%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510528" y="32004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· 空運費計算（by flow）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418320" y="320040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空運費計算　5%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510528" y="351129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· 出貨 TA 表格更新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9418320" y="3511296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出貨 TA 更新　10%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510528" y="382219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· 分廠數量計算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418320" y="382219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中國產區分廠計算　5%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510528" y="4553712"/>
            <a:ext cx="487375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分布在合計約 40% 的類別中（20＋5＋10＋5）；可自動化的只是這些類別裡的登錄與計算步驟，不是整類工作。</a:t>
            </a:r>
          </a:p>
        </p:txBody>
      </p:sp>
      <p:sp>
        <p:nvSpPr>
          <p:cNvPr id="48" name="Shape 48"/>
          <p:cNvSpPr/>
          <p:nvPr/>
        </p:nvSpPr>
        <p:spPr>
          <a:xfrm>
            <a:off x="566928" y="5413248"/>
            <a:ext cx="11055096" cy="786384"/>
          </a:xfrm>
          <a:prstGeom prst="roundRect">
            <a:avLst/>
          </a:prstGeom>
          <a:solidFill>
            <a:srgbClr val="FDEFE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Shape 49"/>
          <p:cNvSpPr/>
          <p:nvPr/>
        </p:nvSpPr>
        <p:spPr>
          <a:xfrm>
            <a:off x="566928" y="5413248"/>
            <a:ext cx="54864" cy="786384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50"/>
          <p:cNvSpPr txBox="1"/>
          <p:nvPr/>
        </p:nvSpPr>
        <p:spPr>
          <a:xfrm>
            <a:off x="786384" y="5504688"/>
            <a:ext cx="21031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⚠ 別讀錯這兩個數字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2999232" y="5504688"/>
            <a:ext cx="840333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「25%」與「40%」講的是這些工具「碰得到的類別」占多少，不是「可以被取代的工時」。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九個項目全部落在「比對與填入」—— 要不要覆蓋、算不算核可、報告能不能寄出，仍然是人按下確認鍵。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6928" y="6437376"/>
            <a:ext cx="11055096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850" b="0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資料來源：主採業務範疇說明（2026-09-07）；V6副採工作範疇簡略說明（2026-09-07）。12.6%／25%／40% 均為依表列占比推算之估算值，非工時實測。主採占比取自信箱關鍵字分類（樣本僅一人信箱可見範圍、不含微信），副採占比為體感估計。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主副料採購 ‧ AI 導入評估　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66928" y="694944"/>
            <a:ext cx="11055096" cy="393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5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為什麼工時省得下來，人力卻減不掉 — 六個共通原因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566928" y="1481328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主採談布廠、副採談副料供應商，對象不同，但卡住的地方一模一樣</a:t>
            </a:r>
          </a:p>
        </p:txBody>
      </p:sp>
      <p:sp>
        <p:nvSpPr>
          <p:cNvPr id="7" name="Shape 7"/>
          <p:cNvSpPr/>
          <p:nvPr/>
        </p:nvSpPr>
        <p:spPr>
          <a:xfrm>
            <a:off x="566928" y="1792224"/>
            <a:ext cx="3538728" cy="106070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Shape 8"/>
          <p:cNvSpPr/>
          <p:nvPr/>
        </p:nvSpPr>
        <p:spPr>
          <a:xfrm>
            <a:off x="566928" y="1792224"/>
            <a:ext cx="54864" cy="10607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768096" y="1892808"/>
            <a:ext cx="313639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① 是「議定」，不是「查詢」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8096" y="2148840"/>
            <a:ext cx="3136392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交期、價格、責任都要多輪來回談定，主採還含人民幣匯率商談。AI 產得出初稿，談不出共識。</a:t>
            </a:r>
          </a:p>
        </p:txBody>
      </p:sp>
      <p:sp>
        <p:nvSpPr>
          <p:cNvPr id="11" name="Shape 11"/>
          <p:cNvSpPr/>
          <p:nvPr/>
        </p:nvSpPr>
        <p:spPr>
          <a:xfrm>
            <a:off x="4325112" y="1792224"/>
            <a:ext cx="3538728" cy="106070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Shape 12"/>
          <p:cNvSpPr/>
          <p:nvPr/>
        </p:nvSpPr>
        <p:spPr>
          <a:xfrm>
            <a:off x="4325112" y="1792224"/>
            <a:ext cx="54864" cy="10607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4526280" y="1892808"/>
            <a:ext cx="313639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② 等待不會因為 AI 而變快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526280" y="2148840"/>
            <a:ext cx="3136392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工時花在等布廠、成衣廠、客戶回覆。就算報表 3 秒生成，對方明天才回 —— 處理速度從來不是瓶頸。</a:t>
            </a:r>
          </a:p>
        </p:txBody>
      </p:sp>
      <p:sp>
        <p:nvSpPr>
          <p:cNvPr id="15" name="Shape 15"/>
          <p:cNvSpPr/>
          <p:nvPr/>
        </p:nvSpPr>
        <p:spPr>
          <a:xfrm>
            <a:off x="8083296" y="1792224"/>
            <a:ext cx="3538728" cy="106070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Shape 16"/>
          <p:cNvSpPr/>
          <p:nvPr/>
        </p:nvSpPr>
        <p:spPr>
          <a:xfrm>
            <a:off x="8083296" y="1792224"/>
            <a:ext cx="54864" cy="10607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7"/>
          <p:cNvSpPr txBox="1"/>
          <p:nvPr/>
        </p:nvSpPr>
        <p:spPr>
          <a:xfrm>
            <a:off x="8284464" y="1892808"/>
            <a:ext cx="313639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③ 要看實物才能拍板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284464" y="2148840"/>
            <a:ext cx="3136392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色差、移染、白汙、看色核色，都要目視實物與色板比對，並送樣、複測、打樣驗證。</a:t>
            </a:r>
          </a:p>
        </p:txBody>
      </p:sp>
      <p:sp>
        <p:nvSpPr>
          <p:cNvPr id="19" name="Shape 19"/>
          <p:cNvSpPr/>
          <p:nvPr/>
        </p:nvSpPr>
        <p:spPr>
          <a:xfrm>
            <a:off x="566928" y="2962656"/>
            <a:ext cx="3538728" cy="106070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Shape 20"/>
          <p:cNvSpPr/>
          <p:nvPr/>
        </p:nvSpPr>
        <p:spPr>
          <a:xfrm>
            <a:off x="566928" y="2962656"/>
            <a:ext cx="54864" cy="10607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1"/>
          <p:cNvSpPr txBox="1"/>
          <p:nvPr/>
        </p:nvSpPr>
        <p:spPr>
          <a:xfrm>
            <a:off x="768096" y="3063240"/>
            <a:ext cx="313639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④ 溝通載體不在系統裡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8096" y="3319272"/>
            <a:ext cx="3136392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缸差核色靠微信、重大異常靠電話與現場會議。零散對話與圖片，AI 讀不到也追不了。</a:t>
            </a:r>
          </a:p>
        </p:txBody>
      </p:sp>
      <p:sp>
        <p:nvSpPr>
          <p:cNvPr id="23" name="Shape 23"/>
          <p:cNvSpPr/>
          <p:nvPr/>
        </p:nvSpPr>
        <p:spPr>
          <a:xfrm>
            <a:off x="4325112" y="2962656"/>
            <a:ext cx="3538728" cy="106070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Shape 24"/>
          <p:cNvSpPr/>
          <p:nvPr/>
        </p:nvSpPr>
        <p:spPr>
          <a:xfrm>
            <a:off x="4325112" y="2962656"/>
            <a:ext cx="54864" cy="10607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5"/>
          <p:cNvSpPr txBox="1"/>
          <p:nvPr/>
        </p:nvSpPr>
        <p:spPr>
          <a:xfrm>
            <a:off x="4526280" y="3063240"/>
            <a:ext cx="313639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⑤ 承諾與責任要人來扛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526280" y="3319272"/>
            <a:ext cx="3136392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下單即產生商業約束力；異常究責、換不換標、CAP 報告都要有人簽名。責任無法交給工具。</a:t>
            </a:r>
          </a:p>
        </p:txBody>
      </p:sp>
      <p:sp>
        <p:nvSpPr>
          <p:cNvPr id="27" name="Shape 27"/>
          <p:cNvSpPr/>
          <p:nvPr/>
        </p:nvSpPr>
        <p:spPr>
          <a:xfrm>
            <a:off x="8083296" y="2962656"/>
            <a:ext cx="3538728" cy="106070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Shape 28"/>
          <p:cNvSpPr/>
          <p:nvPr/>
        </p:nvSpPr>
        <p:spPr>
          <a:xfrm>
            <a:off x="8083296" y="2962656"/>
            <a:ext cx="54864" cy="10607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9"/>
          <p:cNvSpPr txBox="1"/>
          <p:nvPr/>
        </p:nvSpPr>
        <p:spPr>
          <a:xfrm>
            <a:off x="8284464" y="3063240"/>
            <a:ext cx="313639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⑥ 資料會回頭改寫上一輪的答案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284464" y="3319272"/>
            <a:ext cx="3136392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訂單切割、分廠重算、TA 變動、PH3 填補 —— 前一刻算出的答案，隨時被工廠或供應商的回覆推翻。</a:t>
            </a:r>
          </a:p>
        </p:txBody>
      </p:sp>
      <p:sp>
        <p:nvSpPr>
          <p:cNvPr id="31" name="Shape 31"/>
          <p:cNvSpPr/>
          <p:nvPr/>
        </p:nvSpPr>
        <p:spPr>
          <a:xfrm>
            <a:off x="566928" y="4133088"/>
            <a:ext cx="11055096" cy="676656"/>
          </a:xfrm>
          <a:prstGeom prst="round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2"/>
          <p:cNvSpPr txBox="1"/>
          <p:nvPr/>
        </p:nvSpPr>
        <p:spPr>
          <a:xfrm>
            <a:off x="859536" y="4206240"/>
            <a:ext cx="1046988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主採最大的一類占 15%、副採最大的兩類各占 20% —— 沒有一塊大到值得整批自動化；而省下的 10–15% 散在十個人每天的 10–30 分鐘切片裡，</a:t>
            </a:r>
            <a:r>
              <a:rPr lang="zh-TW" altLang="en-US" sz="1200" b="1" dirty="0">
                <a:solidFill>
                  <a:srgbClr val="FFD9D9"/>
                </a:solidFill>
                <a:latin typeface="微軟正黑體"/>
                <a:ea typeface="微軟正黑體"/>
                <a:cs typeface="微軟正黑體"/>
              </a:rPr>
              <a:t>是等待中的空隙，不是可以整併掉的一個編制。</a:t>
            </a:r>
          </a:p>
        </p:txBody>
      </p:sp>
      <p:sp>
        <p:nvSpPr>
          <p:cNvPr id="33" name="Shape 33"/>
          <p:cNvSpPr/>
          <p:nvPr/>
        </p:nvSpPr>
        <p:spPr>
          <a:xfrm>
            <a:off x="566928" y="4937760"/>
            <a:ext cx="11055096" cy="402336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Shape 34"/>
          <p:cNvSpPr/>
          <p:nvPr/>
        </p:nvSpPr>
        <p:spPr>
          <a:xfrm>
            <a:off x="566928" y="4937760"/>
            <a:ext cx="54864" cy="402336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5"/>
          <p:cNvSpPr txBox="1"/>
          <p:nvPr/>
        </p:nvSpPr>
        <p:spPr>
          <a:xfrm>
            <a:off x="786384" y="4937760"/>
            <a:ext cx="278892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① 繼續擴大，但目標放對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694176" y="4937760"/>
            <a:ext cx="7708392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擴大結構化比對類工具的覆蓋；目標是把這 10–15% 的行政步驟做穩、降低 key-in 錯誤，而不是拿它折抵編制。</a:t>
            </a:r>
          </a:p>
        </p:txBody>
      </p:sp>
      <p:sp>
        <p:nvSpPr>
          <p:cNvPr id="37" name="Shape 37"/>
          <p:cNvSpPr/>
          <p:nvPr/>
        </p:nvSpPr>
        <p:spPr>
          <a:xfrm>
            <a:off x="566928" y="5394960"/>
            <a:ext cx="11055096" cy="402336"/>
          </a:xfrm>
          <a:prstGeom prst="roundRect">
            <a:avLst/>
          </a:prstGeom>
          <a:solidFill>
            <a:srgbClr val="FDEFE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Shape 38"/>
          <p:cNvSpPr/>
          <p:nvPr/>
        </p:nvSpPr>
        <p:spPr>
          <a:xfrm>
            <a:off x="566928" y="5394960"/>
            <a:ext cx="54864" cy="402336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9"/>
          <p:cNvSpPr txBox="1"/>
          <p:nvPr/>
        </p:nvSpPr>
        <p:spPr>
          <a:xfrm>
            <a:off x="786384" y="5394960"/>
            <a:ext cx="278892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② 這幾類不納入 AI 取代規劃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3694176" y="5394960"/>
            <a:ext cx="7708392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重大品質異常、議價協商（含匯率商談）、看色與核色判斷、跨廠催辦、跨國交涉 —— 維持現有人力配置。</a:t>
            </a:r>
          </a:p>
        </p:txBody>
      </p:sp>
      <p:sp>
        <p:nvSpPr>
          <p:cNvPr id="41" name="Shape 41"/>
          <p:cNvSpPr/>
          <p:nvPr/>
        </p:nvSpPr>
        <p:spPr>
          <a:xfrm>
            <a:off x="566928" y="5852160"/>
            <a:ext cx="11055096" cy="402336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Shape 42"/>
          <p:cNvSpPr/>
          <p:nvPr/>
        </p:nvSpPr>
        <p:spPr>
          <a:xfrm>
            <a:off x="566928" y="5852160"/>
            <a:ext cx="54864" cy="402336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3"/>
          <p:cNvSpPr txBox="1"/>
          <p:nvPr/>
        </p:nvSpPr>
        <p:spPr>
          <a:xfrm>
            <a:off x="786384" y="5852160"/>
            <a:ext cx="278892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③ 評估編制看量體，不看工具數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3694176" y="5852160"/>
            <a:ext cx="7708392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日後若要評估人力，以款數／PO 張數／異常件數等量體指標判斷，而不是以導入了幾支 AI 工具判斷。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66928" y="6437376"/>
            <a:ext cx="11055096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850" b="0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結論：AI 是協作者，不是替代人力的方案 —— 它撐住的是產能，不是騰出的編制。｜資料來源：主採業務範疇說明（2026-09-07）、V6副採工作範疇簡略說明（2026-09-07）。占比皆為估算值、非工時實測，正式引用前請主採／副採本人及主管複核。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737</TotalTime>
  <Words>1212</Words>
  <Application>Microsoft Office PowerPoint</Application>
  <PresentationFormat>寬螢幕</PresentationFormat>
  <Paragraphs>137</Paragraphs>
  <Slides>6</Slides>
  <Notes>5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0" baseType="lpstr">
      <vt:lpstr>微軟正黑體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Joyce Chen (Taipei, 陳麗玲)</cp:lastModifiedBy>
  <cp:revision>13</cp:revision>
  <dcterms:created xsi:type="dcterms:W3CDTF">2026-09-07T14:46:22Z</dcterms:created>
  <dcterms:modified xsi:type="dcterms:W3CDTF">2026-09-08T06:12:19Z</dcterms:modified>
</cp:coreProperties>
</file>