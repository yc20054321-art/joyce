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13"/>
    <p:sldId id="257" r:id="rId14"/>
    <p:sldId id="258" r:id="rId15"/>
    <p:sldId id="259" r:id="rId16"/>
    <p:sldId id="260" r:id="rId17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660033"/>
    <a:srgbClr val="1C4F8F"/>
    <a:srgbClr val="FF33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13" d="100"/>
          <a:sy n="113" d="100"/>
        </p:scale>
        <p:origin x="47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<Relationship Id="rId12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11" Type="http://schemas.openxmlformats.org/officeDocument/2006/relationships/theme" Target="theme/theme1.xml"/><Relationship Id="rId10" Type="http://schemas.openxmlformats.org/officeDocument/2006/relationships/viewProps" Target="viewProps.xml"/><Relationship Id="rId9" Type="http://schemas.openxmlformats.org/officeDocument/2006/relationships/presProps" Target="presProps.xml"/><Relationship Id="rId13" Type="http://schemas.openxmlformats.org/officeDocument/2006/relationships/slide" Target="slides/slide1.xml"/><Relationship Id="rId14" Type="http://schemas.openxmlformats.org/officeDocument/2006/relationships/slide" Target="slides/slide2.xml"/><Relationship Id="rId15" Type="http://schemas.openxmlformats.org/officeDocument/2006/relationships/slide" Target="slides/slide3.xml"/><Relationship Id="rId16" Type="http://schemas.openxmlformats.org/officeDocument/2006/relationships/slide" Target="slides/slide4.xml"/><Relationship Id="rId17" Type="http://schemas.openxmlformats.org/officeDocument/2006/relationships/slide" Target="slides/slide5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609091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C4F8F"/>
          </a:solidFill>
          <a:ln>
            <a:noFill/>
          </a:ln>
          <a:effectLst/>
        </p:spPr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Shape 3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" name="TextBox 4"/>
          <p:cNvSpPr txBox="1"/>
          <p:nvPr/>
        </p:nvSpPr>
        <p:spPr>
          <a:xfrm>
            <a:off x="960120" y="2103120"/>
            <a:ext cx="10241280" cy="12801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4400" b="1" dirty="0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主副料採購 — AI 導入評估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2700" b="1" dirty="0">
                <a:solidFill>
                  <a:srgbClr val="C9DFF7"/>
                </a:solidFill>
                <a:latin typeface="微軟正黑體"/>
                <a:ea typeface="微軟正黑體"/>
                <a:cs typeface="微軟正黑體"/>
              </a:rPr>
              <a:t>為什麼工時省得下來，人力卻減不掉？</a:t>
            </a:r>
          </a:p>
        </p:txBody>
      </p:sp>
      <p:sp>
        <p:nvSpPr>
          <p:cNvPr id="5" name="Shape 5"/>
          <p:cNvSpPr/>
          <p:nvPr/>
        </p:nvSpPr>
        <p:spPr>
          <a:xfrm>
            <a:off x="960120" y="3749040"/>
            <a:ext cx="2743200" cy="36576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6"/>
          <p:cNvSpPr txBox="1"/>
          <p:nvPr/>
        </p:nvSpPr>
        <p:spPr>
          <a:xfrm>
            <a:off x="960120" y="4005072"/>
            <a:ext cx="10241280" cy="1600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1500" b="1" dirty="0">
                <a:solidFill>
                  <a:srgbClr val="D8E6F7"/>
                </a:solidFill>
                <a:latin typeface="微軟正黑體"/>
                <a:ea typeface="微軟正黑體"/>
                <a:cs typeface="微軟正黑體"/>
              </a:rPr>
              <a:t>一、主採／副採在做什麼 —— 量體與結構</a:t>
            </a:r>
          </a:p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1500" b="1" dirty="0">
                <a:solidFill>
                  <a:srgbClr val="D8E6F7"/>
                </a:solidFill>
                <a:latin typeface="微軟正黑體"/>
                <a:ea typeface="微軟正黑體"/>
                <a:cs typeface="微軟正黑體"/>
              </a:rPr>
              <a:t>二、六個共通原因 —— 為什麼 AI 只能協助</a:t>
            </a:r>
          </a:p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1500" b="1" dirty="0">
                <a:solidFill>
                  <a:srgbClr val="D8E6F7"/>
                </a:solidFill>
                <a:latin typeface="微軟正黑體"/>
                <a:ea typeface="微軟正黑體"/>
                <a:cs typeface="微軟正黑體"/>
              </a:rPr>
              <a:t>三、AI 已經接手到哪裡</a:t>
            </a:r>
          </a:p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1500" b="1" dirty="0">
                <a:solidFill>
                  <a:srgbClr val="D8E6F7"/>
                </a:solidFill>
                <a:latin typeface="微軟正黑體"/>
                <a:ea typeface="微軟正黑體"/>
                <a:cs typeface="微軟正黑體"/>
              </a:rPr>
              <a:t>四、結論與人力建議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960120" y="5760720"/>
            <a:ext cx="10241280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1200" b="1" dirty="0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彙整：主採／副採　│　2026-09-08　│　人力編制：主採 3 位＋副採 3 位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950" b="0" dirty="0">
                <a:solidFill>
                  <a:srgbClr val="9EC4EF"/>
                </a:solidFill>
                <a:latin typeface="微軟正黑體"/>
                <a:ea typeface="微軟正黑體"/>
                <a:cs typeface="微軟正黑體"/>
              </a:rPr>
              <a:t>內部討論用，請勿外傳。部分內容由 AI 協助整理，數字需相關單位／本人複核後方可對外引用。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C4F8F"/>
          </a:solidFill>
          <a:ln>
            <a:noFill/>
          </a:ln>
          <a:effectLst/>
        </p:spPr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3"/>
          <p:cNvSpPr txBox="1"/>
          <p:nvPr/>
        </p:nvSpPr>
        <p:spPr>
          <a:xfrm>
            <a:off x="566928" y="384048"/>
            <a:ext cx="11055096" cy="2926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1250" b="1" dirty="0">
                <a:solidFill>
                  <a:srgbClr val="2A78D6"/>
                </a:solidFill>
                <a:latin typeface="微軟正黑體"/>
                <a:ea typeface="微軟正黑體"/>
                <a:cs typeface="微軟正黑體"/>
              </a:rPr>
              <a:t>一、量體與結構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566928" y="694944"/>
            <a:ext cx="11055096" cy="39319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2500" b="1" dirty="0">
                <a:solidFill>
                  <a:srgbClr val="0B0B0B"/>
                </a:solidFill>
                <a:latin typeface="微軟正黑體"/>
                <a:ea typeface="微軟正黑體"/>
                <a:cs typeface="微軟正黑體"/>
              </a:rPr>
              <a:t>主採與副採的共同形狀 — 類別多、單一類別占比低、每項只有 10–30 分鐘</a:t>
            </a:r>
          </a:p>
        </p:txBody>
      </p:sp>
      <p:sp>
        <p:nvSpPr>
          <p:cNvPr id="5" name="Shape 5"/>
          <p:cNvSpPr/>
          <p:nvPr/>
        </p:nvSpPr>
        <p:spPr>
          <a:xfrm>
            <a:off x="566928" y="1335024"/>
            <a:ext cx="11055096" cy="27432"/>
          </a:xfrm>
          <a:prstGeom prst="rect">
            <a:avLst/>
          </a:prstGeom>
          <a:solidFill>
            <a:srgbClr val="1C4F8F"/>
          </a:solidFill>
          <a:ln>
            <a:noFill/>
          </a:ln>
          <a:effectLst/>
        </p:spPr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6"/>
          <p:cNvSpPr txBox="1"/>
          <p:nvPr/>
        </p:nvSpPr>
        <p:spPr>
          <a:xfrm>
            <a:off x="566928" y="1554480"/>
            <a:ext cx="534924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1250" b="1" dirty="0">
                <a:solidFill>
                  <a:srgbClr val="1C4F8F"/>
                </a:solidFill>
                <a:latin typeface="微軟正黑體"/>
                <a:ea typeface="微軟正黑體"/>
                <a:cs typeface="微軟正黑體"/>
              </a:rPr>
              <a:t>主採（編制 3 位）</a:t>
            </a:r>
          </a:p>
        </p:txBody>
      </p:sp>
      <p:sp>
        <p:nvSpPr>
          <p:cNvPr id="7" name="Shape 7"/>
          <p:cNvSpPr/>
          <p:nvPr/>
        </p:nvSpPr>
        <p:spPr>
          <a:xfrm>
            <a:off x="566928" y="1865376"/>
            <a:ext cx="5349240" cy="3072384"/>
          </a:xfrm>
          <a:prstGeom prst="roundRect">
            <a:avLst/>
          </a:prstGeom>
          <a:solidFill>
            <a:srgbClr val="F4F6F9"/>
          </a:solidFill>
          <a:ln>
            <a:noFill/>
          </a:ln>
          <a:effectLst/>
        </p:spPr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" name="Shape 8"/>
          <p:cNvSpPr/>
          <p:nvPr/>
        </p:nvSpPr>
        <p:spPr>
          <a:xfrm>
            <a:off x="566928" y="1865376"/>
            <a:ext cx="54864" cy="3072384"/>
          </a:xfrm>
          <a:prstGeom prst="rect">
            <a:avLst/>
          </a:prstGeom>
          <a:solidFill>
            <a:srgbClr val="1C4F8F"/>
          </a:solidFill>
          <a:ln>
            <a:noFill/>
          </a:ln>
          <a:effectLst/>
        </p:spPr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TextBox 9"/>
          <p:cNvSpPr txBox="1"/>
          <p:nvPr/>
        </p:nvSpPr>
        <p:spPr>
          <a:xfrm>
            <a:off x="804672" y="2011680"/>
            <a:ext cx="1691640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1700" b="1" dirty="0">
                <a:solidFill>
                  <a:srgbClr val="1C4F8F"/>
                </a:solidFill>
                <a:latin typeface="微軟正黑體"/>
                <a:ea typeface="微軟正黑體"/>
                <a:cs typeface="微軟正黑體"/>
              </a:rPr>
              <a:t>14 類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2615184" y="2011680"/>
            <a:ext cx="3063240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950" b="0" dirty="0">
                <a:solidFill>
                  <a:srgbClr val="454441"/>
                </a:solidFill>
                <a:latin typeface="微軟正黑體"/>
                <a:ea typeface="微軟正黑體"/>
                <a:cs typeface="微軟正黑體"/>
              </a:rPr>
              <a:t>已盤點的工作類型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804672" y="2468880"/>
            <a:ext cx="1691640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1700" b="1" dirty="0">
                <a:solidFill>
                  <a:srgbClr val="1C4F8F"/>
                </a:solidFill>
                <a:latin typeface="微軟正黑體"/>
                <a:ea typeface="微軟正黑體"/>
                <a:cs typeface="微軟正黑體"/>
              </a:rPr>
              <a:t>1,993 封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2615184" y="2468880"/>
            <a:ext cx="3063240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950" b="0" dirty="0">
                <a:solidFill>
                  <a:srgbClr val="454441"/>
                </a:solidFill>
                <a:latin typeface="微軟正黑體"/>
                <a:ea typeface="微軟正黑體"/>
                <a:cs typeface="微軟正黑體"/>
              </a:rPr>
              <a:t>樣本期間信件總數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804672" y="2926080"/>
            <a:ext cx="1691640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1700" b="1" dirty="0">
                <a:solidFill>
                  <a:srgbClr val="1C4F8F"/>
                </a:solidFill>
                <a:latin typeface="微軟正黑體"/>
                <a:ea typeface="微軟正黑體"/>
                <a:cs typeface="微軟正黑體"/>
              </a:rPr>
              <a:t>15%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2615184" y="2926080"/>
            <a:ext cx="3063240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950" b="0" dirty="0">
                <a:solidFill>
                  <a:srgbClr val="454441"/>
                </a:solidFill>
                <a:latin typeface="微軟正黑體"/>
                <a:ea typeface="微軟正黑體"/>
                <a:cs typeface="微軟正黑體"/>
              </a:rPr>
              <a:t>最大單一類別：重大品質異常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804672" y="3383280"/>
            <a:ext cx="1691640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1700" b="1" dirty="0">
                <a:solidFill>
                  <a:srgbClr val="1C4F8F"/>
                </a:solidFill>
                <a:latin typeface="微軟正黑體"/>
                <a:ea typeface="微軟正黑體"/>
                <a:cs typeface="微軟正黑體"/>
              </a:rPr>
              <a:t>12.6%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2615184" y="3383280"/>
            <a:ext cx="3063240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950" b="0" dirty="0">
                <a:solidFill>
                  <a:srgbClr val="454441"/>
                </a:solidFill>
                <a:latin typeface="微軟正黑體"/>
                <a:ea typeface="微軟正黑體"/>
                <a:cs typeface="微軟正黑體"/>
              </a:rPr>
              <a:t>AI 可協助比例的占比加權平均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804672" y="3968496"/>
            <a:ext cx="4873752" cy="56692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900" b="0" dirty="0">
                <a:solidFill>
                  <a:srgbClr val="898781"/>
                </a:solidFill>
                <a:latin typeface="微軟正黑體"/>
                <a:ea typeface="微軟正黑體"/>
                <a:cs typeface="微軟正黑體"/>
              </a:rPr>
              <a:t>十四類的 AI 可協助比例逐類落在 5–25%，加權後 12.6% —— 與該簡報自述的「約 10–15%」一致。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6272784" y="1554480"/>
            <a:ext cx="534924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1250" b="1" dirty="0">
                <a:solidFill>
                  <a:srgbClr val="2A78D6"/>
                </a:solidFill>
                <a:latin typeface="微軟正黑體"/>
                <a:ea typeface="微軟正黑體"/>
                <a:cs typeface="微軟正黑體"/>
              </a:rPr>
              <a:t>副採（編制 3 位）</a:t>
            </a:r>
          </a:p>
        </p:txBody>
      </p:sp>
      <p:sp>
        <p:nvSpPr>
          <p:cNvPr id="19" name="Shape 19"/>
          <p:cNvSpPr/>
          <p:nvPr/>
        </p:nvSpPr>
        <p:spPr>
          <a:xfrm>
            <a:off x="6272784" y="1865376"/>
            <a:ext cx="5349240" cy="3072384"/>
          </a:xfrm>
          <a:prstGeom prst="roundRect">
            <a:avLst/>
          </a:prstGeom>
          <a:solidFill>
            <a:srgbClr val="F4F6F9"/>
          </a:solidFill>
          <a:ln>
            <a:noFill/>
          </a:ln>
          <a:effectLst/>
        </p:spPr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0" name="Shape 20"/>
          <p:cNvSpPr/>
          <p:nvPr/>
        </p:nvSpPr>
        <p:spPr>
          <a:xfrm>
            <a:off x="6272784" y="1865376"/>
            <a:ext cx="54864" cy="307238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1" name="TextBox 21"/>
          <p:cNvSpPr txBox="1"/>
          <p:nvPr/>
        </p:nvSpPr>
        <p:spPr>
          <a:xfrm>
            <a:off x="6510528" y="2011680"/>
            <a:ext cx="1691640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1700" b="1" dirty="0">
                <a:solidFill>
                  <a:srgbClr val="2A78D6"/>
                </a:solidFill>
                <a:latin typeface="微軟正黑體"/>
                <a:ea typeface="微軟正黑體"/>
                <a:cs typeface="微軟正黑體"/>
              </a:rPr>
              <a:t>11 類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8321040" y="2011680"/>
            <a:ext cx="3063240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950" b="0" dirty="0">
                <a:solidFill>
                  <a:srgbClr val="454441"/>
                </a:solidFill>
                <a:latin typeface="微軟正黑體"/>
                <a:ea typeface="微軟正黑體"/>
                <a:cs typeface="微軟正黑體"/>
              </a:rPr>
              <a:t>已盤點的工作類型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6510528" y="2468880"/>
            <a:ext cx="1691640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1700" b="1" dirty="0">
                <a:solidFill>
                  <a:srgbClr val="2A78D6"/>
                </a:solidFill>
                <a:latin typeface="微軟正黑體"/>
                <a:ea typeface="微軟正黑體"/>
                <a:cs typeface="微軟正黑體"/>
              </a:rPr>
              <a:t>2,656 張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8321040" y="2468880"/>
            <a:ext cx="3063240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950" b="0" dirty="0">
                <a:solidFill>
                  <a:srgbClr val="454441"/>
                </a:solidFill>
                <a:latin typeface="微軟正黑體"/>
                <a:ea typeface="微軟正黑體"/>
                <a:cs typeface="微軟正黑體"/>
              </a:rPr>
              <a:t>ERP PO（2026 年 1–9 月）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6510528" y="2926080"/>
            <a:ext cx="1691640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1700" b="1" dirty="0">
                <a:solidFill>
                  <a:srgbClr val="2A78D6"/>
                </a:solidFill>
                <a:latin typeface="微軟正黑體"/>
                <a:ea typeface="微軟正黑體"/>
                <a:cs typeface="微軟正黑體"/>
              </a:rPr>
              <a:t>20%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8321040" y="2926080"/>
            <a:ext cx="3063240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950" b="0" dirty="0">
                <a:solidFill>
                  <a:srgbClr val="454441"/>
                </a:solidFill>
                <a:latin typeface="微軟正黑體"/>
                <a:ea typeface="微軟正黑體"/>
                <a:cs typeface="微軟正黑體"/>
              </a:rPr>
              <a:t>最大單一類別：by 款採購／品質 ISSUE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6510528" y="3383280"/>
            <a:ext cx="1691640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1700" b="1" dirty="0">
                <a:solidFill>
                  <a:srgbClr val="2A78D6"/>
                </a:solidFill>
                <a:latin typeface="微軟正黑體"/>
                <a:ea typeface="微軟正黑體"/>
                <a:cs typeface="微軟正黑體"/>
              </a:rPr>
              <a:t>10–30 分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8321040" y="3383280"/>
            <a:ext cx="3063240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950" b="0" dirty="0">
                <a:solidFill>
                  <a:srgbClr val="454441"/>
                </a:solidFill>
                <a:latin typeface="微軟正黑體"/>
                <a:ea typeface="微軟正黑體"/>
                <a:cs typeface="微軟正黑體"/>
              </a:rPr>
              <a:t>每項作業的典型耗時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6510528" y="3968496"/>
            <a:ext cx="4873752" cy="56692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900" b="0" dirty="0">
                <a:solidFill>
                  <a:srgbClr val="898781"/>
                </a:solidFill>
                <a:latin typeface="微軟正黑體"/>
                <a:ea typeface="微軟正黑體"/>
                <a:cs typeface="微軟正黑體"/>
              </a:rPr>
              <a:t>Shipping Monitor key-in 約 4,000 次（推算）；十一類佔比加總 100%，分布平均、無單一大宗。</a:t>
            </a:r>
          </a:p>
        </p:txBody>
      </p:sp>
      <p:sp>
        <p:nvSpPr>
          <p:cNvPr id="30" name="Shape 30"/>
          <p:cNvSpPr/>
          <p:nvPr/>
        </p:nvSpPr>
        <p:spPr>
          <a:xfrm>
            <a:off x="566928" y="5102352"/>
            <a:ext cx="11055096" cy="566928"/>
          </a:xfrm>
          <a:prstGeom prst="roundRect">
            <a:avLst/>
          </a:prstGeom>
          <a:solidFill>
            <a:srgbClr val="FDEFEF"/>
          </a:solidFill>
          <a:ln>
            <a:noFill/>
          </a:ln>
          <a:effectLst/>
        </p:spPr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1" name="Shape 31"/>
          <p:cNvSpPr/>
          <p:nvPr/>
        </p:nvSpPr>
        <p:spPr>
          <a:xfrm>
            <a:off x="566928" y="5102352"/>
            <a:ext cx="54864" cy="566928"/>
          </a:xfrm>
          <a:prstGeom prst="rect">
            <a:avLst/>
          </a:prstGeom>
          <a:solidFill>
            <a:srgbClr val="D03B3B"/>
          </a:solidFill>
          <a:ln>
            <a:noFill/>
          </a:ln>
          <a:effectLst/>
        </p:spPr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2" name="TextBox 32"/>
          <p:cNvSpPr txBox="1"/>
          <p:nvPr/>
        </p:nvSpPr>
        <p:spPr>
          <a:xfrm>
            <a:off x="786384" y="5175504"/>
            <a:ext cx="1874520" cy="21945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1050" b="1" dirty="0">
                <a:solidFill>
                  <a:srgbClr val="D03B3B"/>
                </a:solidFill>
                <a:latin typeface="微軟正黑體"/>
                <a:ea typeface="微軟正黑體"/>
                <a:cs typeface="微軟正黑體"/>
              </a:rPr>
              <a:t>★ 關鍵的形狀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2761488" y="5175504"/>
            <a:ext cx="8641080" cy="43891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1000" b="1" dirty="0">
                <a:solidFill>
                  <a:srgbClr val="454441"/>
                </a:solidFill>
                <a:latin typeface="微軟正黑體"/>
                <a:ea typeface="微軟正黑體"/>
                <a:cs typeface="微軟正黑體"/>
              </a:rPr>
              <a:t>兩邊都沒有一塊「大到值得整批自動化」的工作 —— 主採最大的一類占 15%，副採最大的兩類各占 20%。就算把最大的一類完全自動化，也只動到整體的一到兩成，而那一類偏偏是最不能自動化的品質異常。</a:t>
            </a:r>
          </a:p>
        </p:txBody>
      </p:sp>
      <p:sp>
        <p:nvSpPr>
          <p:cNvPr id="34" name="Shape 34"/>
          <p:cNvSpPr/>
          <p:nvPr/>
        </p:nvSpPr>
        <p:spPr>
          <a:xfrm>
            <a:off x="566928" y="5852160"/>
            <a:ext cx="11055096" cy="530352"/>
          </a:xfrm>
          <a:prstGeom prst="roundRect">
            <a:avLst/>
          </a:prstGeom>
          <a:solidFill>
            <a:srgbClr val="E8F1FC"/>
          </a:solidFill>
          <a:ln>
            <a:noFill/>
          </a:ln>
          <a:effectLst/>
        </p:spPr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5" name="Shape 35"/>
          <p:cNvSpPr/>
          <p:nvPr/>
        </p:nvSpPr>
        <p:spPr>
          <a:xfrm>
            <a:off x="566928" y="5852160"/>
            <a:ext cx="54864" cy="530352"/>
          </a:xfrm>
          <a:prstGeom prst="rect">
            <a:avLst/>
          </a:prstGeom>
          <a:solidFill>
            <a:srgbClr val="1C4F8F"/>
          </a:solidFill>
          <a:ln>
            <a:noFill/>
          </a:ln>
          <a:effectLst/>
        </p:spPr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6" name="TextBox 36"/>
          <p:cNvSpPr txBox="1"/>
          <p:nvPr/>
        </p:nvSpPr>
        <p:spPr>
          <a:xfrm>
            <a:off x="786384" y="5879592"/>
            <a:ext cx="10616184" cy="47548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1300" b="1" dirty="0">
                <a:solidFill>
                  <a:srgbClr val="1C4F8F"/>
                </a:solidFill>
                <a:latin typeface="微軟正黑體"/>
                <a:ea typeface="微軟正黑體"/>
                <a:cs typeface="微軟正黑體"/>
              </a:rPr>
              <a:t xml:space="preserve">→ </a:t>
            </a:r>
            <a:r>
              <a:rPr lang="zh-TW" altLang="en-US" sz="1300" b="1" dirty="0">
                <a:solidFill>
                  <a:srgbClr val="0B0B0B"/>
                </a:solidFill>
                <a:latin typeface="微軟正黑體"/>
                <a:ea typeface="微軟正黑體"/>
                <a:cs typeface="微軟正黑體"/>
              </a:rPr>
              <a:t>工作是「碎的」而不是「大的」—— 自動化任何單一類別的邊際效益都有限，</a:t>
            </a:r>
            <a:r>
              <a:rPr lang="zh-TW" altLang="en-US" sz="1300" b="1" dirty="0">
                <a:solidFill>
                  <a:srgbClr val="D03B3B"/>
                </a:solidFill>
                <a:latin typeface="微軟正黑體"/>
                <a:ea typeface="微軟正黑體"/>
                <a:cs typeface="微軟正黑體"/>
              </a:rPr>
              <a:t>這是人力減不掉的第一個結構原因</a:t>
            </a:r>
            <a:r>
              <a:rPr lang="zh-TW" altLang="en-US" sz="1300" b="1" dirty="0">
                <a:solidFill>
                  <a:srgbClr val="0B0B0B"/>
                </a:solidFill>
                <a:latin typeface="微軟正黑體"/>
                <a:ea typeface="微軟正黑體"/>
                <a:cs typeface="微軟正黑體"/>
              </a:rPr>
              <a:t>。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566928" y="6565392"/>
            <a:ext cx="11055096" cy="23774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850" b="0" dirty="0">
                <a:solidFill>
                  <a:srgbClr val="898781"/>
                </a:solidFill>
                <a:latin typeface="微軟正黑體"/>
                <a:ea typeface="微軟正黑體"/>
                <a:cs typeface="微軟正黑體"/>
              </a:rPr>
              <a:t>資料來源：主採業務範疇說明（2026-09-07）十四大類表；V6副採工作範疇簡略說明（2026-09-07）十一大類與 ERP／Shipping Monitor 實績。12.6% 為依占比加權平均之推算值。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C4F8F"/>
          </a:solidFill>
          <a:ln>
            <a:noFill/>
          </a:ln>
          <a:effectLst/>
        </p:spPr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3"/>
          <p:cNvSpPr txBox="1"/>
          <p:nvPr/>
        </p:nvSpPr>
        <p:spPr>
          <a:xfrm>
            <a:off x="566928" y="384048"/>
            <a:ext cx="11055096" cy="2926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1250" b="1" dirty="0">
                <a:solidFill>
                  <a:srgbClr val="2A78D6"/>
                </a:solidFill>
                <a:latin typeface="微軟正黑體"/>
                <a:ea typeface="微軟正黑體"/>
                <a:cs typeface="微軟正黑體"/>
              </a:rPr>
              <a:t>二、共通原因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566928" y="694944"/>
            <a:ext cx="11055096" cy="39319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2500" b="1" dirty="0">
                <a:solidFill>
                  <a:srgbClr val="0B0B0B"/>
                </a:solidFill>
                <a:latin typeface="微軟正黑體"/>
                <a:ea typeface="微軟正黑體"/>
                <a:cs typeface="微軟正黑體"/>
              </a:rPr>
              <a:t>六個共通原因 — 為什麼 AI 只能協助，不能按比例替換人力</a:t>
            </a:r>
          </a:p>
        </p:txBody>
      </p:sp>
      <p:sp>
        <p:nvSpPr>
          <p:cNvPr id="5" name="Shape 5"/>
          <p:cNvSpPr/>
          <p:nvPr/>
        </p:nvSpPr>
        <p:spPr>
          <a:xfrm>
            <a:off x="566928" y="1335024"/>
            <a:ext cx="11055096" cy="27432"/>
          </a:xfrm>
          <a:prstGeom prst="rect">
            <a:avLst/>
          </a:prstGeom>
          <a:solidFill>
            <a:srgbClr val="1C4F8F"/>
          </a:solidFill>
          <a:ln>
            <a:noFill/>
          </a:ln>
          <a:effectLst/>
        </p:spPr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6"/>
          <p:cNvSpPr txBox="1"/>
          <p:nvPr/>
        </p:nvSpPr>
        <p:spPr>
          <a:xfrm>
            <a:off x="566928" y="1517904"/>
            <a:ext cx="11055096" cy="23774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1250" b="1" dirty="0">
                <a:solidFill>
                  <a:srgbClr val="1C4F8F"/>
                </a:solidFill>
                <a:latin typeface="微軟正黑體"/>
                <a:ea typeface="微軟正黑體"/>
                <a:cs typeface="微軟正黑體"/>
              </a:rPr>
              <a:t>主採談布廠、副採談副料供應商，對象不同，但卡住的地方一模一樣</a:t>
            </a:r>
          </a:p>
        </p:txBody>
      </p:sp>
      <p:sp>
        <p:nvSpPr>
          <p:cNvPr id="7" name="Shape 7"/>
          <p:cNvSpPr/>
          <p:nvPr/>
        </p:nvSpPr>
        <p:spPr>
          <a:xfrm>
            <a:off x="566928" y="1847088"/>
            <a:ext cx="3538728" cy="1371600"/>
          </a:xfrm>
          <a:prstGeom prst="roundRect">
            <a:avLst/>
          </a:prstGeom>
          <a:solidFill>
            <a:srgbClr val="F4F6F9"/>
          </a:solidFill>
          <a:ln>
            <a:noFill/>
          </a:ln>
          <a:effectLst/>
        </p:spPr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" name="Shape 8"/>
          <p:cNvSpPr/>
          <p:nvPr/>
        </p:nvSpPr>
        <p:spPr>
          <a:xfrm>
            <a:off x="566928" y="1847088"/>
            <a:ext cx="54864" cy="13716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TextBox 9"/>
          <p:cNvSpPr txBox="1"/>
          <p:nvPr/>
        </p:nvSpPr>
        <p:spPr>
          <a:xfrm>
            <a:off x="768096" y="1965960"/>
            <a:ext cx="3136392" cy="21945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1050" b="1" dirty="0">
                <a:solidFill>
                  <a:srgbClr val="2A78D6"/>
                </a:solidFill>
                <a:latin typeface="微軟正黑體"/>
                <a:ea typeface="微軟正黑體"/>
                <a:cs typeface="微軟正黑體"/>
              </a:rPr>
              <a:t>① 是「議定」，不是「查詢」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768096" y="2249424"/>
            <a:ext cx="3136392" cy="84124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900" b="0" dirty="0">
                <a:solidFill>
                  <a:srgbClr val="454441"/>
                </a:solidFill>
                <a:latin typeface="微軟正黑體"/>
                <a:ea typeface="微軟正黑體"/>
                <a:cs typeface="微軟正黑體"/>
              </a:rPr>
              <a:t>交期、價格、責任都要多輪來回談定 —— 主採還含人民幣匯率商談，副採要與供應商／成衣廠反覆議定。AI 產得出初稿，談不出共識。</a:t>
            </a:r>
          </a:p>
        </p:txBody>
      </p:sp>
      <p:sp>
        <p:nvSpPr>
          <p:cNvPr id="11" name="Shape 11"/>
          <p:cNvSpPr/>
          <p:nvPr/>
        </p:nvSpPr>
        <p:spPr>
          <a:xfrm>
            <a:off x="4325112" y="1847088"/>
            <a:ext cx="3538728" cy="1371600"/>
          </a:xfrm>
          <a:prstGeom prst="roundRect">
            <a:avLst/>
          </a:prstGeom>
          <a:solidFill>
            <a:srgbClr val="F4F6F9"/>
          </a:solidFill>
          <a:ln>
            <a:noFill/>
          </a:ln>
          <a:effectLst/>
        </p:spPr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" name="Shape 12"/>
          <p:cNvSpPr/>
          <p:nvPr/>
        </p:nvSpPr>
        <p:spPr>
          <a:xfrm>
            <a:off x="4325112" y="1847088"/>
            <a:ext cx="54864" cy="13716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3" name="TextBox 13"/>
          <p:cNvSpPr txBox="1"/>
          <p:nvPr/>
        </p:nvSpPr>
        <p:spPr>
          <a:xfrm>
            <a:off x="4526280" y="1965960"/>
            <a:ext cx="3136392" cy="21945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1050" b="1" dirty="0">
                <a:solidFill>
                  <a:srgbClr val="2A78D6"/>
                </a:solidFill>
                <a:latin typeface="微軟正黑體"/>
                <a:ea typeface="微軟正黑體"/>
                <a:cs typeface="微軟正黑體"/>
              </a:rPr>
              <a:t>② 等待不會因為 AI 而變快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4526280" y="2249424"/>
            <a:ext cx="3136392" cy="84124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900" b="0" dirty="0">
                <a:solidFill>
                  <a:srgbClr val="454441"/>
                </a:solidFill>
                <a:latin typeface="微軟正黑體"/>
                <a:ea typeface="微軟正黑體"/>
                <a:cs typeface="微軟正黑體"/>
              </a:rPr>
              <a:t>工時花在等布廠、成衣廠、客戶回覆。處理速度從來不是瓶頸 —— 就算報表 3 秒生成，對方明天才回。</a:t>
            </a:r>
          </a:p>
        </p:txBody>
      </p:sp>
      <p:sp>
        <p:nvSpPr>
          <p:cNvPr id="15" name="Shape 15"/>
          <p:cNvSpPr/>
          <p:nvPr/>
        </p:nvSpPr>
        <p:spPr>
          <a:xfrm>
            <a:off x="8083296" y="1847088"/>
            <a:ext cx="3538728" cy="1371600"/>
          </a:xfrm>
          <a:prstGeom prst="roundRect">
            <a:avLst/>
          </a:prstGeom>
          <a:solidFill>
            <a:srgbClr val="F4F6F9"/>
          </a:solidFill>
          <a:ln>
            <a:noFill/>
          </a:ln>
          <a:effectLst/>
        </p:spPr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6" name="Shape 16"/>
          <p:cNvSpPr/>
          <p:nvPr/>
        </p:nvSpPr>
        <p:spPr>
          <a:xfrm>
            <a:off x="8083296" y="1847088"/>
            <a:ext cx="54864" cy="13716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7" name="TextBox 17"/>
          <p:cNvSpPr txBox="1"/>
          <p:nvPr/>
        </p:nvSpPr>
        <p:spPr>
          <a:xfrm>
            <a:off x="8284464" y="1965960"/>
            <a:ext cx="3136392" cy="21945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1050" b="1" dirty="0">
                <a:solidFill>
                  <a:srgbClr val="2A78D6"/>
                </a:solidFill>
                <a:latin typeface="微軟正黑體"/>
                <a:ea typeface="微軟正黑體"/>
                <a:cs typeface="微軟正黑體"/>
              </a:rPr>
              <a:t>③ 要看實物才能拍板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8284464" y="2249424"/>
            <a:ext cx="3136392" cy="84124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900" b="0" dirty="0">
                <a:solidFill>
                  <a:srgbClr val="454441"/>
                </a:solidFill>
                <a:latin typeface="微軟正黑體"/>
                <a:ea typeface="微軟正黑體"/>
                <a:cs typeface="微軟正黑體"/>
              </a:rPr>
              <a:t>色差、移染、白汙、看色核色，都要目視實物與色板比對，並送樣、複測、打樣驗證。這些動作本身無法由 AI 執行。</a:t>
            </a:r>
          </a:p>
        </p:txBody>
      </p:sp>
      <p:sp>
        <p:nvSpPr>
          <p:cNvPr id="19" name="Shape 19"/>
          <p:cNvSpPr/>
          <p:nvPr/>
        </p:nvSpPr>
        <p:spPr>
          <a:xfrm>
            <a:off x="566928" y="3364992"/>
            <a:ext cx="3538728" cy="1371600"/>
          </a:xfrm>
          <a:prstGeom prst="roundRect">
            <a:avLst/>
          </a:prstGeom>
          <a:solidFill>
            <a:srgbClr val="F4F6F9"/>
          </a:solidFill>
          <a:ln>
            <a:noFill/>
          </a:ln>
          <a:effectLst/>
        </p:spPr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0" name="Shape 20"/>
          <p:cNvSpPr/>
          <p:nvPr/>
        </p:nvSpPr>
        <p:spPr>
          <a:xfrm>
            <a:off x="566928" y="3364992"/>
            <a:ext cx="54864" cy="13716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1" name="TextBox 21"/>
          <p:cNvSpPr txBox="1"/>
          <p:nvPr/>
        </p:nvSpPr>
        <p:spPr>
          <a:xfrm>
            <a:off x="768096" y="3483864"/>
            <a:ext cx="3136392" cy="21945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1050" b="1" dirty="0">
                <a:solidFill>
                  <a:srgbClr val="2A78D6"/>
                </a:solidFill>
                <a:latin typeface="微軟正黑體"/>
                <a:ea typeface="微軟正黑體"/>
                <a:cs typeface="微軟正黑體"/>
              </a:rPr>
              <a:t>④ 溝通載體不在系統裡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768096" y="3767328"/>
            <a:ext cx="3136392" cy="84124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900" b="0" dirty="0">
                <a:solidFill>
                  <a:srgbClr val="454441"/>
                </a:solidFill>
                <a:latin typeface="微軟正黑體"/>
                <a:ea typeface="微軟正黑體"/>
                <a:cs typeface="微軟正黑體"/>
              </a:rPr>
              <a:t>缸差核色靠微信與上海布組即時互動；重大異常多為電話、現場會議、口頭確認。零散對話與圖片，AI 讀不到也追不了。</a:t>
            </a:r>
          </a:p>
        </p:txBody>
      </p:sp>
      <p:sp>
        <p:nvSpPr>
          <p:cNvPr id="23" name="Shape 23"/>
          <p:cNvSpPr/>
          <p:nvPr/>
        </p:nvSpPr>
        <p:spPr>
          <a:xfrm>
            <a:off x="4325112" y="3364992"/>
            <a:ext cx="3538728" cy="1371600"/>
          </a:xfrm>
          <a:prstGeom prst="roundRect">
            <a:avLst/>
          </a:prstGeom>
          <a:solidFill>
            <a:srgbClr val="F4F6F9"/>
          </a:solidFill>
          <a:ln>
            <a:noFill/>
          </a:ln>
          <a:effectLst/>
        </p:spPr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4" name="Shape 24"/>
          <p:cNvSpPr/>
          <p:nvPr/>
        </p:nvSpPr>
        <p:spPr>
          <a:xfrm>
            <a:off x="4325112" y="3364992"/>
            <a:ext cx="54864" cy="13716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5" name="TextBox 25"/>
          <p:cNvSpPr txBox="1"/>
          <p:nvPr/>
        </p:nvSpPr>
        <p:spPr>
          <a:xfrm>
            <a:off x="4526280" y="3483864"/>
            <a:ext cx="3136392" cy="21945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1050" b="1" dirty="0">
                <a:solidFill>
                  <a:srgbClr val="2A78D6"/>
                </a:solidFill>
                <a:latin typeface="微軟正黑體"/>
                <a:ea typeface="微軟正黑體"/>
                <a:cs typeface="微軟正黑體"/>
              </a:rPr>
              <a:t>⑤ 承諾與責任要人來扛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4526280" y="3767328"/>
            <a:ext cx="3136392" cy="84124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900" b="0" dirty="0">
                <a:solidFill>
                  <a:srgbClr val="454441"/>
                </a:solidFill>
                <a:latin typeface="微軟正黑體"/>
                <a:ea typeface="微軟正黑體"/>
                <a:cs typeface="微軟正黑體"/>
              </a:rPr>
              <a:t>下單即產生商業約束力；異常究責、換不換標、CAP 報告都要有人簽名負責。責任無法交給工具，這與工具好不好無關。</a:t>
            </a:r>
          </a:p>
        </p:txBody>
      </p:sp>
      <p:sp>
        <p:nvSpPr>
          <p:cNvPr id="27" name="Shape 27"/>
          <p:cNvSpPr/>
          <p:nvPr/>
        </p:nvSpPr>
        <p:spPr>
          <a:xfrm>
            <a:off x="8083296" y="3364992"/>
            <a:ext cx="3538728" cy="1371600"/>
          </a:xfrm>
          <a:prstGeom prst="roundRect">
            <a:avLst/>
          </a:prstGeom>
          <a:solidFill>
            <a:srgbClr val="F4F6F9"/>
          </a:solidFill>
          <a:ln>
            <a:noFill/>
          </a:ln>
          <a:effectLst/>
        </p:spPr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8" name="Shape 28"/>
          <p:cNvSpPr/>
          <p:nvPr/>
        </p:nvSpPr>
        <p:spPr>
          <a:xfrm>
            <a:off x="8083296" y="3364992"/>
            <a:ext cx="54864" cy="13716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9" name="TextBox 29"/>
          <p:cNvSpPr txBox="1"/>
          <p:nvPr/>
        </p:nvSpPr>
        <p:spPr>
          <a:xfrm>
            <a:off x="8284464" y="3483864"/>
            <a:ext cx="3136392" cy="21945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1050" b="1" dirty="0">
                <a:solidFill>
                  <a:srgbClr val="2A78D6"/>
                </a:solidFill>
                <a:latin typeface="微軟正黑體"/>
                <a:ea typeface="微軟正黑體"/>
                <a:cs typeface="微軟正黑體"/>
              </a:rPr>
              <a:t>⑥ 資料會回頭改寫上一輪的答案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8284464" y="3767328"/>
            <a:ext cx="3136392" cy="84124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900" b="0" dirty="0">
                <a:solidFill>
                  <a:srgbClr val="454441"/>
                </a:solidFill>
                <a:latin typeface="微軟正黑體"/>
                <a:ea typeface="微軟正黑體"/>
                <a:cs typeface="微軟正黑體"/>
              </a:rPr>
              <a:t>訂單切割、分廠重算、TA 變動、PH3 填補 —— 任何時間點算出的答案，都可能在下一刻被工廠或供應商的回覆推翻。</a:t>
            </a:r>
          </a:p>
        </p:txBody>
      </p:sp>
      <p:sp>
        <p:nvSpPr>
          <p:cNvPr id="31" name="Shape 31"/>
          <p:cNvSpPr/>
          <p:nvPr/>
        </p:nvSpPr>
        <p:spPr>
          <a:xfrm>
            <a:off x="566928" y="4919472"/>
            <a:ext cx="11055096" cy="566928"/>
          </a:xfrm>
          <a:prstGeom prst="roundRect">
            <a:avLst/>
          </a:prstGeom>
          <a:solidFill>
            <a:srgbClr val="FDEFEF"/>
          </a:solidFill>
          <a:ln>
            <a:noFill/>
          </a:ln>
          <a:effectLst/>
        </p:spPr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2" name="Shape 32"/>
          <p:cNvSpPr/>
          <p:nvPr/>
        </p:nvSpPr>
        <p:spPr>
          <a:xfrm>
            <a:off x="566928" y="4919472"/>
            <a:ext cx="54864" cy="566928"/>
          </a:xfrm>
          <a:prstGeom prst="rect">
            <a:avLst/>
          </a:prstGeom>
          <a:solidFill>
            <a:srgbClr val="D03B3B"/>
          </a:solidFill>
          <a:ln>
            <a:noFill/>
          </a:ln>
          <a:effectLst/>
        </p:spPr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3" name="TextBox 33"/>
          <p:cNvSpPr txBox="1"/>
          <p:nvPr/>
        </p:nvSpPr>
        <p:spPr>
          <a:xfrm>
            <a:off x="786384" y="4992624"/>
            <a:ext cx="1874520" cy="21945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1050" b="1" dirty="0">
                <a:solidFill>
                  <a:srgbClr val="D03B3B"/>
                </a:solidFill>
                <a:latin typeface="微軟正黑體"/>
                <a:ea typeface="微軟正黑體"/>
                <a:cs typeface="微軟正黑體"/>
              </a:rPr>
              <a:t>★ 六項的共同點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2761488" y="4992624"/>
            <a:ext cx="8641080" cy="43891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1000" b="1" dirty="0">
                <a:solidFill>
                  <a:srgbClr val="454441"/>
                </a:solidFill>
                <a:latin typeface="微軟正黑體"/>
                <a:ea typeface="微軟正黑體"/>
                <a:cs typeface="微軟正黑體"/>
              </a:rPr>
              <a:t>沒有一項是「人做得比較慢」，全部都是「不能由工具代為決定」。AI 加速的是前置整理，決定權從頭到尾沒有移轉過。</a:t>
            </a:r>
          </a:p>
        </p:txBody>
      </p:sp>
      <p:sp>
        <p:nvSpPr>
          <p:cNvPr id="35" name="Shape 35"/>
          <p:cNvSpPr/>
          <p:nvPr/>
        </p:nvSpPr>
        <p:spPr>
          <a:xfrm>
            <a:off x="566928" y="5705856"/>
            <a:ext cx="11055096" cy="548640"/>
          </a:xfrm>
          <a:prstGeom prst="roundRect">
            <a:avLst/>
          </a:prstGeom>
          <a:solidFill>
            <a:srgbClr val="E8F1FC"/>
          </a:solidFill>
          <a:ln>
            <a:noFill/>
          </a:ln>
          <a:effectLst/>
        </p:spPr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6" name="Shape 36"/>
          <p:cNvSpPr/>
          <p:nvPr/>
        </p:nvSpPr>
        <p:spPr>
          <a:xfrm>
            <a:off x="566928" y="5705856"/>
            <a:ext cx="54864" cy="548640"/>
          </a:xfrm>
          <a:prstGeom prst="rect">
            <a:avLst/>
          </a:prstGeom>
          <a:solidFill>
            <a:srgbClr val="1C4F8F"/>
          </a:solidFill>
          <a:ln>
            <a:noFill/>
          </a:ln>
          <a:effectLst/>
        </p:spPr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7" name="TextBox 37"/>
          <p:cNvSpPr txBox="1"/>
          <p:nvPr/>
        </p:nvSpPr>
        <p:spPr>
          <a:xfrm>
            <a:off x="786384" y="5733288"/>
            <a:ext cx="10616184" cy="49377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1300" b="1" dirty="0">
                <a:solidFill>
                  <a:srgbClr val="1C4F8F"/>
                </a:solidFill>
                <a:latin typeface="微軟正黑體"/>
                <a:ea typeface="微軟正黑體"/>
                <a:cs typeface="微軟正黑體"/>
              </a:rPr>
              <a:t xml:space="preserve">→ </a:t>
            </a:r>
            <a:r>
              <a:rPr lang="zh-TW" altLang="en-US" sz="1300" b="1" dirty="0">
                <a:solidFill>
                  <a:srgbClr val="0B0B0B"/>
                </a:solidFill>
                <a:latin typeface="微軟正黑體"/>
                <a:ea typeface="微軟正黑體"/>
                <a:cs typeface="微軟正黑體"/>
              </a:rPr>
              <a:t xml:space="preserve">能被壓縮的是產出速度；主副採的工時花在等別人回覆、和別人談定、對實物拍板 —— </a:t>
            </a:r>
            <a:r>
              <a:rPr lang="zh-TW" altLang="en-US" sz="1300" b="1" dirty="0">
                <a:solidFill>
                  <a:srgbClr val="D03B3B"/>
                </a:solidFill>
                <a:latin typeface="微軟正黑體"/>
                <a:ea typeface="微軟正黑體"/>
                <a:cs typeface="微軟正黑體"/>
              </a:rPr>
              <a:t>這三件事 AI 幫得上忙，卻沒有一件能代替人完成</a:t>
            </a:r>
            <a:r>
              <a:rPr lang="zh-TW" altLang="en-US" sz="1300" b="1" dirty="0">
                <a:solidFill>
                  <a:srgbClr val="0B0B0B"/>
                </a:solidFill>
                <a:latin typeface="微軟正黑體"/>
                <a:ea typeface="微軟正黑體"/>
                <a:cs typeface="微軟正黑體"/>
              </a:rPr>
              <a:t>。</a:t>
            </a:r>
          </a:p>
        </p:txBody>
      </p:sp>
      <p:sp>
        <p:nvSpPr>
          <p:cNvPr id="38" name="TextBox 38"/>
          <p:cNvSpPr txBox="1"/>
          <p:nvPr/>
        </p:nvSpPr>
        <p:spPr>
          <a:xfrm>
            <a:off x="566928" y="6565392"/>
            <a:ext cx="11055096" cy="23774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850" b="0" dirty="0">
                <a:solidFill>
                  <a:srgbClr val="898781"/>
                </a:solidFill>
                <a:latin typeface="微軟正黑體"/>
                <a:ea typeface="微軟正黑體"/>
                <a:cs typeface="微軟正黑體"/>
              </a:rPr>
              <a:t>資料來源：主採業務範疇說明（2026-09-07）「為什麼」欄之歸納；V6副採工作範疇簡略說明（2026-09-07）代表性工作情境與工時特性頁。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C4F8F"/>
          </a:solidFill>
          <a:ln>
            <a:noFill/>
          </a:ln>
          <a:effectLst/>
        </p:spPr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3"/>
          <p:cNvSpPr txBox="1"/>
          <p:nvPr/>
        </p:nvSpPr>
        <p:spPr>
          <a:xfrm>
            <a:off x="566928" y="384048"/>
            <a:ext cx="11055096" cy="2926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1250" b="1" dirty="0">
                <a:solidFill>
                  <a:srgbClr val="2A78D6"/>
                </a:solidFill>
                <a:latin typeface="微軟正黑體"/>
                <a:ea typeface="微軟正黑體"/>
                <a:cs typeface="微軟正黑體"/>
              </a:rPr>
              <a:t>三、AI 導入現況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566928" y="694944"/>
            <a:ext cx="11055096" cy="39319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2500" b="1" dirty="0">
                <a:solidFill>
                  <a:srgbClr val="0B0B0B"/>
                </a:solidFill>
                <a:latin typeface="微軟正黑體"/>
                <a:ea typeface="微軟正黑體"/>
                <a:cs typeface="微軟正黑體"/>
              </a:rPr>
              <a:t>AI 已經接手到哪裡 — 全部落在輸入端，沒有一項跨進判斷端</a:t>
            </a:r>
          </a:p>
        </p:txBody>
      </p:sp>
      <p:sp>
        <p:nvSpPr>
          <p:cNvPr id="5" name="Shape 5"/>
          <p:cNvSpPr/>
          <p:nvPr/>
        </p:nvSpPr>
        <p:spPr>
          <a:xfrm>
            <a:off x="566928" y="1335024"/>
            <a:ext cx="11055096" cy="27432"/>
          </a:xfrm>
          <a:prstGeom prst="rect">
            <a:avLst/>
          </a:prstGeom>
          <a:solidFill>
            <a:srgbClr val="1C4F8F"/>
          </a:solidFill>
          <a:ln>
            <a:noFill/>
          </a:ln>
          <a:effectLst/>
        </p:spPr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6"/>
          <p:cNvSpPr txBox="1"/>
          <p:nvPr/>
        </p:nvSpPr>
        <p:spPr>
          <a:xfrm>
            <a:off x="566928" y="1554480"/>
            <a:ext cx="534924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1250" b="1" dirty="0">
                <a:solidFill>
                  <a:srgbClr val="1C4F8F"/>
                </a:solidFill>
                <a:latin typeface="微軟正黑體"/>
                <a:ea typeface="微軟正黑體"/>
                <a:cs typeface="微軟正黑體"/>
              </a:rPr>
              <a:t>主採｜已導入 4 支 skill</a:t>
            </a:r>
          </a:p>
        </p:txBody>
      </p:sp>
      <p:sp>
        <p:nvSpPr>
          <p:cNvPr id="7" name="Shape 7"/>
          <p:cNvSpPr/>
          <p:nvPr/>
        </p:nvSpPr>
        <p:spPr>
          <a:xfrm>
            <a:off x="566928" y="1865376"/>
            <a:ext cx="5349240" cy="2487168"/>
          </a:xfrm>
          <a:prstGeom prst="roundRect">
            <a:avLst/>
          </a:prstGeom>
          <a:solidFill>
            <a:srgbClr val="E8F1FC"/>
          </a:solidFill>
          <a:ln>
            <a:noFill/>
          </a:ln>
          <a:effectLst/>
        </p:spPr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" name="Shape 8"/>
          <p:cNvSpPr/>
          <p:nvPr/>
        </p:nvSpPr>
        <p:spPr>
          <a:xfrm>
            <a:off x="566928" y="1865376"/>
            <a:ext cx="54864" cy="2487168"/>
          </a:xfrm>
          <a:prstGeom prst="rect">
            <a:avLst/>
          </a:prstGeom>
          <a:solidFill>
            <a:srgbClr val="1C4F8F"/>
          </a:solidFill>
          <a:ln>
            <a:noFill/>
          </a:ln>
          <a:effectLst/>
        </p:spPr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TextBox 9"/>
          <p:cNvSpPr txBox="1"/>
          <p:nvPr/>
        </p:nvSpPr>
        <p:spPr>
          <a:xfrm>
            <a:off x="804672" y="2011680"/>
            <a:ext cx="246888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1000" b="1" dirty="0">
                <a:solidFill>
                  <a:srgbClr val="1C4F8F"/>
                </a:solidFill>
                <a:latin typeface="微軟正黑體"/>
                <a:ea typeface="微軟正黑體"/>
                <a:cs typeface="微軟正黑體"/>
              </a:rPr>
              <a:t>· GU TA 用量自動核對填入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3346704" y="2011680"/>
            <a:ext cx="233172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950" b="0" dirty="0">
                <a:solidFill>
                  <a:srgbClr val="454441"/>
                </a:solidFill>
                <a:latin typeface="微軟正黑體"/>
                <a:ea typeface="微軟正黑體"/>
                <a:cs typeface="微軟正黑體"/>
              </a:rPr>
              <a:t>填入 TA 的 Order Qty 欄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804672" y="2340864"/>
            <a:ext cx="246888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1000" b="1" dirty="0">
                <a:solidFill>
                  <a:srgbClr val="1C4F8F"/>
                </a:solidFill>
                <a:latin typeface="微軟正黑體"/>
                <a:ea typeface="微軟正黑體"/>
                <a:cs typeface="微軟正黑體"/>
              </a:rPr>
              <a:t>· Invoice 核對填 TA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3346704" y="2340864"/>
            <a:ext cx="233172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950" b="0" dirty="0">
                <a:solidFill>
                  <a:srgbClr val="454441"/>
                </a:solidFill>
                <a:latin typeface="微軟正黑體"/>
                <a:ea typeface="微軟正黑體"/>
                <a:cs typeface="微軟正黑體"/>
              </a:rPr>
              <a:t>產出可填／衝突／模糊清單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804672" y="2670048"/>
            <a:ext cx="246888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1000" b="1" dirty="0">
                <a:solidFill>
                  <a:srgbClr val="1C4F8F"/>
                </a:solidFill>
                <a:latin typeface="微軟正黑體"/>
                <a:ea typeface="微軟正黑體"/>
                <a:cs typeface="微軟正黑體"/>
              </a:rPr>
              <a:t>· B/L 缸差比對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3346704" y="2670048"/>
            <a:ext cx="233172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950" b="0" dirty="0">
                <a:solidFill>
                  <a:srgbClr val="454441"/>
                </a:solidFill>
                <a:latin typeface="微軟正黑體"/>
                <a:ea typeface="微軟正黑體"/>
                <a:cs typeface="微軟正黑體"/>
              </a:rPr>
              <a:t>產出核可狀態報告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804672" y="2999232"/>
            <a:ext cx="246888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1000" b="1" dirty="0">
                <a:solidFill>
                  <a:srgbClr val="1C4F8F"/>
                </a:solidFill>
                <a:latin typeface="微軟正黑體"/>
                <a:ea typeface="微軟正黑體"/>
                <a:cs typeface="微軟正黑體"/>
              </a:rPr>
              <a:t>· CBD → TA 產出工具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3346704" y="2999232"/>
            <a:ext cx="233172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950" b="0" dirty="0">
                <a:solidFill>
                  <a:srgbClr val="454441"/>
                </a:solidFill>
                <a:latin typeface="微軟正黑體"/>
                <a:ea typeface="微軟正黑體"/>
                <a:cs typeface="微軟正黑體"/>
              </a:rPr>
              <a:t>轉換為 TA 格式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804672" y="3419856"/>
            <a:ext cx="4873752" cy="69494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950" b="0" dirty="0">
                <a:solidFill>
                  <a:srgbClr val="454441"/>
                </a:solidFill>
                <a:latin typeface="微軟正黑體"/>
                <a:ea typeface="微軟正黑體"/>
                <a:cs typeface="微軟正黑體"/>
              </a:rPr>
              <a:t>對應的三類合計約占 25% 的信件量；十四類加權後的 AI 可協助比例為 12.6%（該簡報自述約 10–15%）。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6272784" y="1554480"/>
            <a:ext cx="534924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1250" b="1" dirty="0">
                <a:solidFill>
                  <a:srgbClr val="2A78D6"/>
                </a:solidFill>
                <a:latin typeface="微軟正黑體"/>
                <a:ea typeface="微軟正黑體"/>
                <a:cs typeface="微軟正黑體"/>
              </a:rPr>
              <a:t>副採｜4 個潛在可介入點</a:t>
            </a:r>
          </a:p>
        </p:txBody>
      </p:sp>
      <p:sp>
        <p:nvSpPr>
          <p:cNvPr id="19" name="Shape 19"/>
          <p:cNvSpPr/>
          <p:nvPr/>
        </p:nvSpPr>
        <p:spPr>
          <a:xfrm>
            <a:off x="6272784" y="1865376"/>
            <a:ext cx="5349240" cy="2487168"/>
          </a:xfrm>
          <a:prstGeom prst="roundRect">
            <a:avLst/>
          </a:prstGeom>
          <a:solidFill>
            <a:srgbClr val="F4F6F9"/>
          </a:solidFill>
          <a:ln>
            <a:noFill/>
          </a:ln>
          <a:effectLst/>
        </p:spPr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0" name="Shape 20"/>
          <p:cNvSpPr/>
          <p:nvPr/>
        </p:nvSpPr>
        <p:spPr>
          <a:xfrm>
            <a:off x="6272784" y="1865376"/>
            <a:ext cx="54864" cy="2487168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1" name="TextBox 21"/>
          <p:cNvSpPr txBox="1"/>
          <p:nvPr/>
        </p:nvSpPr>
        <p:spPr>
          <a:xfrm>
            <a:off x="6510528" y="2011680"/>
            <a:ext cx="283464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1000" b="1" dirty="0">
                <a:solidFill>
                  <a:srgbClr val="2A78D6"/>
                </a:solidFill>
                <a:latin typeface="微軟正黑體"/>
                <a:ea typeface="微軟正黑體"/>
                <a:cs typeface="微軟正黑體"/>
              </a:rPr>
              <a:t>· PO／BOM 系統性資料 key-in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9418320" y="2011680"/>
            <a:ext cx="196596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950" b="0" dirty="0">
                <a:solidFill>
                  <a:srgbClr val="454441"/>
                </a:solidFill>
                <a:latin typeface="微軟正黑體"/>
                <a:ea typeface="微軟正黑體"/>
                <a:cs typeface="微軟正黑體"/>
              </a:rPr>
              <a:t>by 款採購作業　20%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6510528" y="2340864"/>
            <a:ext cx="283464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1000" b="1" dirty="0">
                <a:solidFill>
                  <a:srgbClr val="2A78D6"/>
                </a:solidFill>
                <a:latin typeface="微軟正黑體"/>
                <a:ea typeface="微軟正黑體"/>
                <a:cs typeface="微軟正黑體"/>
              </a:rPr>
              <a:t>· 空運費計算（by flow）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9418320" y="2340864"/>
            <a:ext cx="196596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950" b="0" dirty="0">
                <a:solidFill>
                  <a:srgbClr val="454441"/>
                </a:solidFill>
                <a:latin typeface="微軟正黑體"/>
                <a:ea typeface="微軟正黑體"/>
                <a:cs typeface="微軟正黑體"/>
              </a:rPr>
              <a:t>空運費計算　5%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6510528" y="2670048"/>
            <a:ext cx="283464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1000" b="1" dirty="0">
                <a:solidFill>
                  <a:srgbClr val="2A78D6"/>
                </a:solidFill>
                <a:latin typeface="微軟正黑體"/>
                <a:ea typeface="微軟正黑體"/>
                <a:cs typeface="微軟正黑體"/>
              </a:rPr>
              <a:t>· 出貨 TA 表格更新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9418320" y="2670048"/>
            <a:ext cx="196596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950" b="0" dirty="0">
                <a:solidFill>
                  <a:srgbClr val="454441"/>
                </a:solidFill>
                <a:latin typeface="微軟正黑體"/>
                <a:ea typeface="微軟正黑體"/>
                <a:cs typeface="微軟正黑體"/>
              </a:rPr>
              <a:t>出貨 TA 更新　10%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6510528" y="2999232"/>
            <a:ext cx="283464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1000" b="1" dirty="0">
                <a:solidFill>
                  <a:srgbClr val="2A78D6"/>
                </a:solidFill>
                <a:latin typeface="微軟正黑體"/>
                <a:ea typeface="微軟正黑體"/>
                <a:cs typeface="微軟正黑體"/>
              </a:rPr>
              <a:t>· 分廠數量計算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9418320" y="2999232"/>
            <a:ext cx="196596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950" b="0" dirty="0">
                <a:solidFill>
                  <a:srgbClr val="454441"/>
                </a:solidFill>
                <a:latin typeface="微軟正黑體"/>
                <a:ea typeface="微軟正黑體"/>
                <a:cs typeface="微軟正黑體"/>
              </a:rPr>
              <a:t>中國產區分廠計算　5%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6510528" y="3419856"/>
            <a:ext cx="4873752" cy="69494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950" b="0" dirty="0">
                <a:solidFill>
                  <a:srgbClr val="454441"/>
                </a:solidFill>
                <a:latin typeface="微軟正黑體"/>
                <a:ea typeface="微軟正黑體"/>
                <a:cs typeface="微軟正黑體"/>
              </a:rPr>
              <a:t>這四個介入點分布在合計約 40% 的類別中（20＋5＋10＋5）——但可自動化的只是這些類別裡的登錄與計算步驟。</a:t>
            </a:r>
          </a:p>
        </p:txBody>
      </p:sp>
      <p:sp>
        <p:nvSpPr>
          <p:cNvPr id="30" name="Shape 30"/>
          <p:cNvSpPr/>
          <p:nvPr/>
        </p:nvSpPr>
        <p:spPr>
          <a:xfrm>
            <a:off x="566928" y="4517136"/>
            <a:ext cx="11055096" cy="694944"/>
          </a:xfrm>
          <a:prstGeom prst="roundRect">
            <a:avLst/>
          </a:prstGeom>
          <a:solidFill>
            <a:srgbClr val="FDEFEF"/>
          </a:solidFill>
          <a:ln>
            <a:noFill/>
          </a:ln>
          <a:effectLst/>
        </p:spPr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1" name="Shape 31"/>
          <p:cNvSpPr/>
          <p:nvPr/>
        </p:nvSpPr>
        <p:spPr>
          <a:xfrm>
            <a:off x="566928" y="4517136"/>
            <a:ext cx="54864" cy="694944"/>
          </a:xfrm>
          <a:prstGeom prst="rect">
            <a:avLst/>
          </a:prstGeom>
          <a:solidFill>
            <a:srgbClr val="D03B3B"/>
          </a:solidFill>
          <a:ln>
            <a:noFill/>
          </a:ln>
          <a:effectLst/>
        </p:spPr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2" name="TextBox 32"/>
          <p:cNvSpPr txBox="1"/>
          <p:nvPr/>
        </p:nvSpPr>
        <p:spPr>
          <a:xfrm>
            <a:off x="786384" y="4590288"/>
            <a:ext cx="1874520" cy="21945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1050" b="1" dirty="0">
                <a:solidFill>
                  <a:srgbClr val="D03B3B"/>
                </a:solidFill>
                <a:latin typeface="微軟正黑體"/>
                <a:ea typeface="微軟正黑體"/>
                <a:cs typeface="微軟正黑體"/>
              </a:rPr>
              <a:t>⚠ 別讀錯這兩個數字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2761488" y="4590288"/>
            <a:ext cx="8641080" cy="56692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950" b="0" dirty="0">
                <a:solidFill>
                  <a:srgbClr val="454441"/>
                </a:solidFill>
                <a:latin typeface="微軟正黑體"/>
                <a:ea typeface="微軟正黑體"/>
                <a:cs typeface="微軟正黑體"/>
              </a:rPr>
              <a:t>「25%」與「40%」講的是這些工具「碰得到的類別」占多少，不是「可以被取代的工時」。工具接手的是類別裡的登錄與比對步驟；同一類別裡的議定、催辦、判讀、拍板，仍然逐件由人處理。</a:t>
            </a:r>
          </a:p>
        </p:txBody>
      </p:sp>
      <p:sp>
        <p:nvSpPr>
          <p:cNvPr id="34" name="Shape 34"/>
          <p:cNvSpPr/>
          <p:nvPr/>
        </p:nvSpPr>
        <p:spPr>
          <a:xfrm>
            <a:off x="566928" y="5394960"/>
            <a:ext cx="11055096" cy="530352"/>
          </a:xfrm>
          <a:prstGeom prst="roundRect">
            <a:avLst/>
          </a:prstGeom>
          <a:solidFill>
            <a:srgbClr val="E8F1FC"/>
          </a:solidFill>
          <a:ln>
            <a:noFill/>
          </a:ln>
          <a:effectLst/>
        </p:spPr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5" name="Shape 35"/>
          <p:cNvSpPr/>
          <p:nvPr/>
        </p:nvSpPr>
        <p:spPr>
          <a:xfrm>
            <a:off x="566928" y="5394960"/>
            <a:ext cx="54864" cy="530352"/>
          </a:xfrm>
          <a:prstGeom prst="rect">
            <a:avLst/>
          </a:prstGeom>
          <a:solidFill>
            <a:srgbClr val="1C4F8F"/>
          </a:solidFill>
          <a:ln>
            <a:noFill/>
          </a:ln>
          <a:effectLst/>
        </p:spPr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6" name="TextBox 36"/>
          <p:cNvSpPr txBox="1"/>
          <p:nvPr/>
        </p:nvSpPr>
        <p:spPr>
          <a:xfrm>
            <a:off x="786384" y="5422392"/>
            <a:ext cx="10616184" cy="47548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1300" b="1" dirty="0">
                <a:solidFill>
                  <a:srgbClr val="1C4F8F"/>
                </a:solidFill>
                <a:latin typeface="微軟正黑體"/>
                <a:ea typeface="微軟正黑體"/>
                <a:cs typeface="微軟正黑體"/>
              </a:rPr>
              <a:t xml:space="preserve">→ </a:t>
            </a:r>
            <a:r>
              <a:rPr lang="zh-TW" altLang="en-US" sz="1300" b="1" dirty="0">
                <a:solidFill>
                  <a:srgbClr val="0B0B0B"/>
                </a:solidFill>
                <a:latin typeface="微軟正黑體"/>
                <a:ea typeface="微軟正黑體"/>
                <a:cs typeface="微軟正黑體"/>
              </a:rPr>
              <a:t>八個項目全部落在「比對與填入」；要不要覆蓋、算不算核可、報告能不能寄出，</a:t>
            </a:r>
            <a:r>
              <a:rPr lang="zh-TW" altLang="en-US" sz="1300" b="1" dirty="0">
                <a:solidFill>
                  <a:srgbClr val="D03B3B"/>
                </a:solidFill>
                <a:latin typeface="微軟正黑體"/>
                <a:ea typeface="微軟正黑體"/>
                <a:cs typeface="微軟正黑體"/>
              </a:rPr>
              <a:t>仍然是人按下確認鍵</a:t>
            </a:r>
            <a:r>
              <a:rPr lang="zh-TW" altLang="en-US" sz="1300" b="1" dirty="0">
                <a:solidFill>
                  <a:srgbClr val="0B0B0B"/>
                </a:solidFill>
                <a:latin typeface="微軟正黑體"/>
                <a:ea typeface="微軟正黑體"/>
                <a:cs typeface="微軟正黑體"/>
              </a:rPr>
              <a:t>。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566928" y="6565392"/>
            <a:ext cx="11055096" cy="23774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850" b="0" dirty="0">
                <a:solidFill>
                  <a:srgbClr val="898781"/>
                </a:solidFill>
                <a:latin typeface="微軟正黑體"/>
                <a:ea typeface="微軟正黑體"/>
                <a:cs typeface="微軟正黑體"/>
              </a:rPr>
              <a:t>資料來源：主採團隊現行 Claude Code skill 清單（bl-dyelot-check／ta-invoice-fill／gu-ta-orderqty-fill／gu-cbd-to-ta-tool）；V6副採工作範疇簡略說明（2026-09-07）工時特性頁。25%、40%、12.6% 均為依表列占比推算之估算值。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C4F8F"/>
          </a:solidFill>
          <a:ln>
            <a:noFill/>
          </a:ln>
          <a:effectLst/>
        </p:spPr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3"/>
          <p:cNvSpPr txBox="1"/>
          <p:nvPr/>
        </p:nvSpPr>
        <p:spPr>
          <a:xfrm>
            <a:off x="566928" y="384048"/>
            <a:ext cx="11055096" cy="2926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1250" b="1" dirty="0">
                <a:solidFill>
                  <a:srgbClr val="2A78D6"/>
                </a:solidFill>
                <a:latin typeface="微軟正黑體"/>
                <a:ea typeface="微軟正黑體"/>
                <a:cs typeface="微軟正黑體"/>
              </a:rPr>
              <a:t>四、結論與建議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566928" y="694944"/>
            <a:ext cx="11055096" cy="39319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2500" b="1" dirty="0">
                <a:solidFill>
                  <a:srgbClr val="0B0B0B"/>
                </a:solidFill>
                <a:latin typeface="微軟正黑體"/>
                <a:ea typeface="微軟正黑體"/>
                <a:cs typeface="微軟正黑體"/>
              </a:rPr>
              <a:t>AI 是協作者，不是替代人力的方案 — 建議維持現有配置</a:t>
            </a:r>
          </a:p>
        </p:txBody>
      </p:sp>
      <p:sp>
        <p:nvSpPr>
          <p:cNvPr id="5" name="Shape 5"/>
          <p:cNvSpPr/>
          <p:nvPr/>
        </p:nvSpPr>
        <p:spPr>
          <a:xfrm>
            <a:off x="566928" y="1335024"/>
            <a:ext cx="11055096" cy="27432"/>
          </a:xfrm>
          <a:prstGeom prst="rect">
            <a:avLst/>
          </a:prstGeom>
          <a:solidFill>
            <a:srgbClr val="1C4F8F"/>
          </a:solidFill>
          <a:ln>
            <a:noFill/>
          </a:ln>
          <a:effectLst/>
        </p:spPr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Shape 6"/>
          <p:cNvSpPr/>
          <p:nvPr/>
        </p:nvSpPr>
        <p:spPr>
          <a:xfrm>
            <a:off x="566928" y="1554480"/>
            <a:ext cx="11055096" cy="786384"/>
          </a:xfrm>
          <a:prstGeom prst="roundRect">
            <a:avLst/>
          </a:prstGeom>
          <a:solidFill>
            <a:srgbClr val="1C4F8F"/>
          </a:solidFill>
          <a:ln>
            <a:noFill/>
          </a:ln>
          <a:effectLst/>
        </p:spPr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" name="TextBox 7"/>
          <p:cNvSpPr txBox="1"/>
          <p:nvPr/>
        </p:nvSpPr>
        <p:spPr>
          <a:xfrm>
            <a:off x="877824" y="1645920"/>
            <a:ext cx="10433304" cy="62179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1300" b="1" dirty="0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省下的 10–15% 不是集中在某一個人、某一段時間，而是散在六個人每天的 10–30 分鐘切片裡 —— 省下的是等待中的空隙，不是可以整併掉的一個編制。</a:t>
            </a:r>
          </a:p>
        </p:txBody>
      </p:sp>
      <p:sp>
        <p:nvSpPr>
          <p:cNvPr id="8" name="Shape 8"/>
          <p:cNvSpPr/>
          <p:nvPr/>
        </p:nvSpPr>
        <p:spPr>
          <a:xfrm>
            <a:off x="566928" y="2487168"/>
            <a:ext cx="11055096" cy="786384"/>
          </a:xfrm>
          <a:prstGeom prst="roundRect">
            <a:avLst/>
          </a:prstGeom>
          <a:solidFill>
            <a:srgbClr val="F4F6F9"/>
          </a:solidFill>
          <a:ln>
            <a:noFill/>
          </a:ln>
          <a:effectLst/>
        </p:spPr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Shape 9"/>
          <p:cNvSpPr/>
          <p:nvPr/>
        </p:nvSpPr>
        <p:spPr>
          <a:xfrm>
            <a:off x="566928" y="2487168"/>
            <a:ext cx="54864" cy="786384"/>
          </a:xfrm>
          <a:prstGeom prst="rect">
            <a:avLst/>
          </a:prstGeom>
          <a:solidFill>
            <a:srgbClr val="1C4F8F"/>
          </a:solidFill>
          <a:ln>
            <a:noFill/>
          </a:ln>
          <a:effectLst/>
        </p:spPr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" name="TextBox 10"/>
          <p:cNvSpPr txBox="1"/>
          <p:nvPr/>
        </p:nvSpPr>
        <p:spPr>
          <a:xfrm>
            <a:off x="786384" y="2569464"/>
            <a:ext cx="2788920" cy="21945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1050" b="1" dirty="0">
                <a:solidFill>
                  <a:srgbClr val="1C4F8F"/>
                </a:solidFill>
                <a:latin typeface="微軟正黑體"/>
                <a:ea typeface="微軟正黑體"/>
                <a:cs typeface="微軟正黑體"/>
              </a:rPr>
              <a:t>① 繼續擴大，但目標放對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3694176" y="2569464"/>
            <a:ext cx="7708392" cy="62179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950" b="0" dirty="0">
                <a:solidFill>
                  <a:srgbClr val="454441"/>
                </a:solidFill>
                <a:latin typeface="微軟正黑體"/>
                <a:ea typeface="微軟正黑體"/>
                <a:cs typeface="微軟正黑體"/>
              </a:rPr>
              <a:t>持續擴大結構化比對類工具的覆蓋（TA／Invoice／B/L 比對、分廠數量、空運費計算）。目標是把這 10–15% 的行政步驟做穩、降低 key-in 錯誤，而不是拿它折抵編制。</a:t>
            </a:r>
          </a:p>
        </p:txBody>
      </p:sp>
      <p:sp>
        <p:nvSpPr>
          <p:cNvPr id="12" name="Shape 12"/>
          <p:cNvSpPr/>
          <p:nvPr/>
        </p:nvSpPr>
        <p:spPr>
          <a:xfrm>
            <a:off x="566928" y="3346704"/>
            <a:ext cx="11055096" cy="786384"/>
          </a:xfrm>
          <a:prstGeom prst="roundRect">
            <a:avLst/>
          </a:prstGeom>
          <a:solidFill>
            <a:srgbClr val="FDEFEF"/>
          </a:solidFill>
          <a:ln>
            <a:noFill/>
          </a:ln>
          <a:effectLst/>
        </p:spPr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3" name="Shape 13"/>
          <p:cNvSpPr/>
          <p:nvPr/>
        </p:nvSpPr>
        <p:spPr>
          <a:xfrm>
            <a:off x="566928" y="3346704"/>
            <a:ext cx="54864" cy="786384"/>
          </a:xfrm>
          <a:prstGeom prst="rect">
            <a:avLst/>
          </a:prstGeom>
          <a:solidFill>
            <a:srgbClr val="D03B3B"/>
          </a:solidFill>
          <a:ln>
            <a:noFill/>
          </a:ln>
          <a:effectLst/>
        </p:spPr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" name="TextBox 14"/>
          <p:cNvSpPr txBox="1"/>
          <p:nvPr/>
        </p:nvSpPr>
        <p:spPr>
          <a:xfrm>
            <a:off x="786384" y="3429000"/>
            <a:ext cx="2788920" cy="21945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1050" b="1" dirty="0">
                <a:solidFill>
                  <a:srgbClr val="D03B3B"/>
                </a:solidFill>
                <a:latin typeface="微軟正黑體"/>
                <a:ea typeface="微軟正黑體"/>
                <a:cs typeface="微軟正黑體"/>
              </a:rPr>
              <a:t>② 這幾類不納入 AI 取代規劃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3694176" y="3429000"/>
            <a:ext cx="7708392" cy="62179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950" b="0" dirty="0">
                <a:solidFill>
                  <a:srgbClr val="454441"/>
                </a:solidFill>
                <a:latin typeface="微軟正黑體"/>
                <a:ea typeface="微軟正黑體"/>
                <a:cs typeface="微軟正黑體"/>
              </a:rPr>
              <a:t>重大品質異常、議價協商（含匯率商談）、看色與核色判斷、跨廠催辦、跨國交涉 —— 維持現有人力配置。這些不是工具成熟度問題，是責任歸屬問題。</a:t>
            </a:r>
          </a:p>
        </p:txBody>
      </p:sp>
      <p:sp>
        <p:nvSpPr>
          <p:cNvPr id="16" name="Shape 16"/>
          <p:cNvSpPr/>
          <p:nvPr/>
        </p:nvSpPr>
        <p:spPr>
          <a:xfrm>
            <a:off x="566928" y="4206240"/>
            <a:ext cx="11055096" cy="786384"/>
          </a:xfrm>
          <a:prstGeom prst="roundRect">
            <a:avLst/>
          </a:prstGeom>
          <a:solidFill>
            <a:srgbClr val="F4F6F9"/>
          </a:solidFill>
          <a:ln>
            <a:noFill/>
          </a:ln>
          <a:effectLst/>
        </p:spPr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7" name="Shape 17"/>
          <p:cNvSpPr/>
          <p:nvPr/>
        </p:nvSpPr>
        <p:spPr>
          <a:xfrm>
            <a:off x="566928" y="4206240"/>
            <a:ext cx="54864" cy="786384"/>
          </a:xfrm>
          <a:prstGeom prst="rect">
            <a:avLst/>
          </a:prstGeom>
          <a:solidFill>
            <a:srgbClr val="1C4F8F"/>
          </a:solidFill>
          <a:ln>
            <a:noFill/>
          </a:ln>
          <a:effectLst/>
        </p:spPr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8" name="TextBox 18"/>
          <p:cNvSpPr txBox="1"/>
          <p:nvPr/>
        </p:nvSpPr>
        <p:spPr>
          <a:xfrm>
            <a:off x="786384" y="4288536"/>
            <a:ext cx="2788920" cy="21945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1050" b="1" dirty="0">
                <a:solidFill>
                  <a:srgbClr val="1C4F8F"/>
                </a:solidFill>
                <a:latin typeface="微軟正黑體"/>
                <a:ea typeface="微軟正黑體"/>
                <a:cs typeface="微軟正黑體"/>
              </a:rPr>
              <a:t>③ 之後要調整編制，看量體不看工具數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3694176" y="4288536"/>
            <a:ext cx="7708392" cy="62179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950" b="0" dirty="0">
                <a:solidFill>
                  <a:srgbClr val="454441"/>
                </a:solidFill>
                <a:latin typeface="微軟正黑體"/>
                <a:ea typeface="微軟正黑體"/>
                <a:cs typeface="微軟正黑體"/>
              </a:rPr>
              <a:t>若日後評估人力，建議以款數／PO 張數／異常件數／製樣階段數等量體指標判斷，而不是以導入了幾支 AI 工具判斷 —— 兩者不成比例。</a:t>
            </a:r>
          </a:p>
        </p:txBody>
      </p:sp>
      <p:sp>
        <p:nvSpPr>
          <p:cNvPr id="20" name="Shape 20"/>
          <p:cNvSpPr/>
          <p:nvPr/>
        </p:nvSpPr>
        <p:spPr>
          <a:xfrm>
            <a:off x="566928" y="5175504"/>
            <a:ext cx="11055096" cy="548640"/>
          </a:xfrm>
          <a:prstGeom prst="roundRect">
            <a:avLst/>
          </a:prstGeom>
          <a:solidFill>
            <a:srgbClr val="E8F1FC"/>
          </a:solidFill>
          <a:ln>
            <a:noFill/>
          </a:ln>
          <a:effectLst/>
        </p:spPr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1" name="Shape 21"/>
          <p:cNvSpPr/>
          <p:nvPr/>
        </p:nvSpPr>
        <p:spPr>
          <a:xfrm>
            <a:off x="566928" y="5175504"/>
            <a:ext cx="54864" cy="548640"/>
          </a:xfrm>
          <a:prstGeom prst="rect">
            <a:avLst/>
          </a:prstGeom>
          <a:solidFill>
            <a:srgbClr val="1C4F8F"/>
          </a:solidFill>
          <a:ln>
            <a:noFill/>
          </a:ln>
          <a:effectLst/>
        </p:spPr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2" name="TextBox 22"/>
          <p:cNvSpPr txBox="1"/>
          <p:nvPr/>
        </p:nvSpPr>
        <p:spPr>
          <a:xfrm>
            <a:off x="786384" y="5202936"/>
            <a:ext cx="10616184" cy="49377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1300" b="1" dirty="0">
                <a:solidFill>
                  <a:srgbClr val="1C4F8F"/>
                </a:solidFill>
                <a:latin typeface="微軟正黑體"/>
                <a:ea typeface="微軟正黑體"/>
                <a:cs typeface="微軟正黑體"/>
              </a:rPr>
              <a:t xml:space="preserve">→ </a:t>
            </a:r>
            <a:r>
              <a:rPr lang="zh-TW" altLang="en-US" sz="1300" b="1" dirty="0">
                <a:solidFill>
                  <a:srgbClr val="0B0B0B"/>
                </a:solidFill>
                <a:latin typeface="微軟正黑體"/>
                <a:ea typeface="微軟正黑體"/>
                <a:cs typeface="微軟正黑體"/>
              </a:rPr>
              <a:t xml:space="preserve">AI 讓同樣的六個人接得住愈來愈多的款數與異常 —— </a:t>
            </a:r>
            <a:r>
              <a:rPr lang="zh-TW" altLang="en-US" sz="1300" b="1" dirty="0">
                <a:solidFill>
                  <a:srgbClr val="D03B3B"/>
                </a:solidFill>
                <a:latin typeface="微軟正黑體"/>
                <a:ea typeface="微軟正黑體"/>
                <a:cs typeface="微軟正黑體"/>
              </a:rPr>
              <a:t>它撐住的是產能，不是騰出的編制</a:t>
            </a:r>
            <a:r>
              <a:rPr lang="zh-TW" altLang="en-US" sz="1300" b="1" dirty="0">
                <a:solidFill>
                  <a:srgbClr val="0B0B0B"/>
                </a:solidFill>
                <a:latin typeface="微軟正黑體"/>
                <a:ea typeface="微軟正黑體"/>
                <a:cs typeface="微軟正黑體"/>
              </a:rPr>
              <a:t>。</a:t>
            </a:r>
          </a:p>
        </p:txBody>
      </p:sp>
      <p:sp>
        <p:nvSpPr>
          <p:cNvPr id="23" name="Shape 23"/>
          <p:cNvSpPr/>
          <p:nvPr/>
        </p:nvSpPr>
        <p:spPr>
          <a:xfrm>
            <a:off x="566928" y="5870448"/>
            <a:ext cx="11055096" cy="566928"/>
          </a:xfrm>
          <a:prstGeom prst="roundRect">
            <a:avLst/>
          </a:prstGeom>
          <a:solidFill>
            <a:srgbClr val="F4F6F9"/>
          </a:solidFill>
          <a:ln>
            <a:noFill/>
          </a:ln>
          <a:effectLst/>
        </p:spPr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4" name="Shape 24"/>
          <p:cNvSpPr/>
          <p:nvPr/>
        </p:nvSpPr>
        <p:spPr>
          <a:xfrm>
            <a:off x="566928" y="5870448"/>
            <a:ext cx="54864" cy="566928"/>
          </a:xfrm>
          <a:prstGeom prst="rect">
            <a:avLst/>
          </a:prstGeom>
          <a:solidFill>
            <a:srgbClr val="898781"/>
          </a:solidFill>
          <a:ln>
            <a:noFill/>
          </a:ln>
          <a:effectLst/>
        </p:spPr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5" name="TextBox 25"/>
          <p:cNvSpPr txBox="1"/>
          <p:nvPr/>
        </p:nvSpPr>
        <p:spPr>
          <a:xfrm>
            <a:off x="786384" y="5943600"/>
            <a:ext cx="1554480" cy="21945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1000" b="1" dirty="0">
                <a:solidFill>
                  <a:srgbClr val="D03B3B"/>
                </a:solidFill>
                <a:latin typeface="微軟正黑體"/>
                <a:ea typeface="微軟正黑體"/>
                <a:cs typeface="微軟正黑體"/>
              </a:rPr>
              <a:t>⚠ 數字口徑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2441448" y="5943600"/>
            <a:ext cx="8961120" cy="43891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900" b="0" dirty="0">
                <a:solidFill>
                  <a:srgbClr val="454441"/>
                </a:solidFill>
                <a:latin typeface="微軟正黑體"/>
                <a:ea typeface="微軟正黑體"/>
                <a:cs typeface="微軟正黑體"/>
              </a:rPr>
              <a:t>主採占比取自信箱關鍵字分類估算，樣本僅一人信箱可見範圍、非三人完整信箱、不含微信；副採占比為體感估計。兩者皆非工時實測，正式引用前請主採／副採本人及主管複核。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566928" y="6565392"/>
            <a:ext cx="11055096" cy="23774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850" b="0" dirty="0">
                <a:solidFill>
                  <a:srgbClr val="898781"/>
                </a:solidFill>
                <a:latin typeface="微軟正黑體"/>
                <a:ea typeface="微軟正黑體"/>
                <a:cs typeface="微軟正黑體"/>
              </a:rPr>
              <a:t>資料來源：主採業務範疇說明（2026-09-07）結論與建議頁；V6副採工作範疇簡略說明（2026-09-07）。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737</TotalTime>
  <Words>1212</Words>
  <Application>Microsoft Office PowerPoint</Application>
  <PresentationFormat>寬螢幕</PresentationFormat>
  <Paragraphs>137</Paragraphs>
  <Slides>6</Slides>
  <Notes>5</Notes>
  <HiddenSlides>0</HiddenSlides>
  <MMClips>0</MMClips>
  <ScaleCrop>false</ScaleCrop>
  <HeadingPairs>
    <vt:vector size="6" baseType="variant">
      <vt:variant>
        <vt:lpstr>使用字型</vt:lpstr>
      </vt:variant>
      <vt:variant>
        <vt:i4>3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6</vt:i4>
      </vt:variant>
    </vt:vector>
  </HeadingPairs>
  <TitlesOfParts>
    <vt:vector size="10" baseType="lpstr">
      <vt:lpstr>微軟正黑體</vt:lpstr>
      <vt:lpstr>Arial</vt:lpstr>
      <vt:lpstr>Calibri</vt:lpstr>
      <vt:lpstr>Office Theme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Joyce Chen (Taipei, 陳麗玲)</cp:lastModifiedBy>
  <cp:revision>13</cp:revision>
  <dcterms:created xsi:type="dcterms:W3CDTF">2026-09-07T14:46:22Z</dcterms:created>
  <dcterms:modified xsi:type="dcterms:W3CDTF">2026-09-08T06:12:19Z</dcterms:modified>
</cp:coreProperties>
</file>