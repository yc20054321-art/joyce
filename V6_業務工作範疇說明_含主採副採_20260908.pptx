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7" r:id="rId6"/>
    <p:sldId id="268" r:id="rId7"/>
    <p:sldId id="269" r:id="rId8"/>
    <p:sldId id="259" r:id="rId9"/>
    <p:sldId id="260" r:id="rId10"/>
    <p:sldId id="266" r:id="rId11"/>
    <p:sldId id="271" r:id="rId22"/>
    <p:sldId id="272" r:id="rId23"/>
    <p:sldId id="273" r:id="rId24"/>
    <p:sldId id="274" r:id="rId25"/>
    <p:sldId id="275" r:id="rId26"/>
    <p:sldId id="276" r:id="rId27"/>
    <p:sldId id="261" r:id="rId12"/>
    <p:sldId id="264" r:id="rId13"/>
    <p:sldId id="270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82967-4FD0-40C6-B043-C5AA9FAF634A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933B7-456C-490A-B45F-A9AA74DC0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933B7-456C-490A-B45F-A9AA74DC00C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0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1224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業務工作範疇說明</a:t>
            </a:r>
            <a:endParaRPr sz="4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開發／大貨／主採／副採在做什麼</a:t>
            </a:r>
            <a:r>
              <a:rPr lang="en-US" altLang="zh-TW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sz="2700" b="1" dirty="0">
              <a:solidFill>
                <a:srgbClr val="C9DF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3703320"/>
            <a:ext cx="27432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102412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一、開發工作範疇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　　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  </a:t>
            </a:r>
            <a:endParaRPr lang="en-US" altLang="zh-TW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二、大貨工作範疇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三、主採工作範疇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四、副採工作範疇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五、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 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無法再減人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</a:t>
            </a:r>
            <a:endParaRPr lang="en-US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缺口如何消化吸收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41280" cy="413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彙整：V6 　│　2026-09-0</a:t>
            </a:r>
            <a:r>
              <a:rPr lang="en-US" altLang="zh-TW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sz="12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內部討論用，請勿外傳。部分內容由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協助整理，數字需人工複核後方可對外引用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六大類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品質要求下，異常處理時間已跟開發報價約當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635815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1635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20824"/>
            <a:ext cx="1635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5603" y="1572768"/>
            <a:ext cx="2741599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5603" y="1618488"/>
            <a:ext cx="27415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603" y="2020824"/>
            <a:ext cx="27415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0063" y="1572768"/>
            <a:ext cx="218870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0063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前期下單 TA 推算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1631" y="1572768"/>
            <a:ext cx="1082923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1631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後期下單確認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7415" y="1572768"/>
            <a:ext cx="1082923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7415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二級核樣安排</a:t>
            </a:r>
            <a:endParaRPr sz="10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13199" y="1572768"/>
            <a:ext cx="2188707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3199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199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異常應對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7744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一款從下單到出貨，開發業務實際要跑的六個階段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88336"/>
            <a:ext cx="11057839" cy="4617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743200"/>
            <a:ext cx="208483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階段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828107"/>
            <a:ext cx="1078992" cy="182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耗時</a:t>
            </a:r>
            <a:r>
              <a:rPr 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單款</a:t>
            </a:r>
            <a:endParaRPr sz="11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1103" y="2743200"/>
            <a:ext cx="729051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實際內容 / 溝通對象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50108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94944" y="318668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下單後製單／翻譯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944" y="318668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3" y="3221174"/>
            <a:ext cx="7290511" cy="319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逐頁翻譯式樣書＆版管理書，比對客人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MD Sheet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有無作工或主副料出入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新作工先與大貨技師、GU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版師／設計師互動；收樣後再以實物與式樣書比對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3611879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3648456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樣品下單準備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3648456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3" y="3648456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主副料調料通知、品質澄清、製作樣品需求表；對接 GU 設計師／布廠／主採／副採，並與布廠確認放樣時間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73652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4110228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樣品作工確認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110228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3" y="4228042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澄清紙版／車縫作工並評估大貨再現性；與客人版師、平湖技師、IE、估碼師、特研、機研互動；週末樣品室上班亦須即時回應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8" y="4535424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572000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0944" y="4572000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</a:t>
            </a: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分／款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61103" y="4572000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IE／YY／特工單、製作報價明細與原価計算書、QS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Key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in；產區適性與產能現況須由業務判斷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66928" y="4997196"/>
            <a:ext cx="11057839" cy="461772"/>
          </a:xfrm>
          <a:prstGeom prst="rect">
            <a:avLst/>
          </a:prstGeom>
          <a:solidFill>
            <a:srgbClr val="FFF7E8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" y="5033772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CBD 下單 – APP 進單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944" y="5033772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1–2 個月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1103" y="5033772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訂單確認到品質／打色核色進度、採購、APP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製樣作工澄清到核可；轉為產區後工廠仍會提出多點建議作工，須人為多方溝通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5458968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549554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交期確認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549554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全程持續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61103" y="5613358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非單純從客人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WH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推算，須按產品類型、面料來源、當下各產區產能判斷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接線點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產能缺口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與客人溝通；</a:t>
            </a:r>
            <a:r>
              <a:rPr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PH3 </a:t>
            </a:r>
            <a:r>
              <a:rPr sz="950" b="1" u="sng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訂單每週檢視</a:t>
            </a:r>
            <a:endParaRPr sz="950" b="1" u="sng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66928" y="592531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5925312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598017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式樣書翻譯不是把日文換成中英文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還要靠經驗補上提醒事項；而「叮嚀」AI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做不到，只能靠人工判斷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資料來源：開發業務工作範疇彙整（2026-08-26 ～ 08-31）。比例為部門盤點值，會依客人樣品會議需求推進調配；例行報告輪值／會議主持、新客戶推進未計入。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文書只是表象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每一類工作真正吃時間的是人的判斷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91056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工作項目（佔比）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9776" y="1591056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表面上看起來是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1496" y="1591056"/>
            <a:ext cx="642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實際需要人的部分 —— AI 取代不了的地方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5681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1. 樣品開發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195681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翻譯製單、系統進單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5" y="2033845"/>
            <a:ext cx="6421831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要先聽懂平湖版師的技術提問，才能用日文精準轉達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端；</a:t>
            </a:r>
            <a:endParaRPr lang="en-US"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VT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討論也要整理成信給版師（例：荷葉邊不要車超出領座，會刺脖子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）。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同時掌握技術細節、雙語表達與雙方語境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5164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455164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491740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2. 報價整理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491740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資料蒐集、系統試算、報表產出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5" y="2491740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主副料有疑問要反覆澄清才能報出；價格有落差要主動提簡化提案、與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IE／YY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重新下單重算。常有柬轉印／印轉越／越轉中互調，CM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不同，內部系統與客人原価計算書都要重新提交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0088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990088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26664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3a. 前期下單推算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3026664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發產詢、排交期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5" y="3026664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每次更新產詢都要重問主副料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TA。客人卡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PH2 PO~WH 45 天、PH3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車縫只能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LT 14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天上下，一超出客人系統設定天數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就先打槍，業務得先說服；說服不了才由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協同布廠爭取，布廠能縮短又要重發產詢請廠端重排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25012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525012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561588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3b. 後期下單確認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3561588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表格置換、狀態更新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5" y="3561588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缸差上訴這類案件，採購轉寄 PMD 後常拿不到第一時間回饋，要另外用即時訊息或日文信件主動說明、催促 —— 靠的是人際溝通與追蹤耐性，不是等系統自動回應。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59935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059935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096511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3c. 二級核樣安排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4096511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製單翻譯、樣品跟催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5" y="4096511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同款跨廠製樣要召開串連會議向廠端重講客戶需求；廠端若有建議做法要整理後問 GU 能否反映在 APP 核樣。追加單須協調承接工廠完全比照原廠核樣。樣品晚一週，廠端排線就接不上。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594859"/>
            <a:ext cx="11057839" cy="534924"/>
          </a:xfrm>
          <a:prstGeom prst="rect">
            <a:avLst/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4594859"/>
            <a:ext cx="45720" cy="5349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3143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4. 異常應對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463143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數據撈取、交期重排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5" y="4631436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沒有固定公式可套。要同時權衡採購、產銷、廠端、GU PMD 各自的限制與立場，即時判斷應對優先順序並居中協調 —— 最難標準化、最依賴經驗與判斷力的部分。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9437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5294375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" y="5473195"/>
            <a:ext cx="10655503" cy="20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這六類加起來就是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100%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的開發工作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中間那欄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已陸續在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幫忙用小工具消化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右邊那欄，每一項都要人在現場判斷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資料來源：開發業務工作範疇說明（人的角色版，2026-08-26 內部討論彙整）。比例僅供參考，實際依客人樣品會議需求調配。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9" y="694944"/>
            <a:ext cx="7707172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新任總監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x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新版師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  <a:sym typeface="Wingdings" panose="05000000000000000000" pitchFamily="2" charset="2"/>
              </a:rPr>
              <a:t>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樣品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~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產前樣都是細節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60226F064A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23 天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con-call，只為一個荷葉邊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2026-07-06 ～ 07-28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持續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con-call，一天有時不止一次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對象：GU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版師／設計師、平湖版師、樣品室技師、大貨技師、IE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爭點是「機台做不做得出來」的現場可行性，不是文書往返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同一問題會在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PROTO／1st／PreAPP／APP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各階段重複發生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</a:t>
            </a:r>
            <a:r>
              <a:rPr sz="1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1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60227H058A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紙板澄清橫跨整月，仍未結案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149498" cy="860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2026-07-29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起往返至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08-26，已跨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個樣品階段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每次澄清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皆為多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段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工程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：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en-US" altLang="zh-TW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GU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  <a:endParaRPr lang="en-US" altLang="zh-TW" sz="1050" b="0" u="sng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</a:t>
            </a:r>
            <a:r>
              <a:rPr lang="zh-TW" altLang="en-US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大貨技師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5068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60226H026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當天的六段連鎖判斷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7719" y="2452538"/>
            <a:ext cx="3451736" cy="1402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①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與產銷確認缺口銜接、接線點在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②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盤點可填補款、重排後可補多少量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③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填補款的主副料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製樣／核色進度如何調整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④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或回頭請客人放寬允收、提前布期、至少下到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min qty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⑤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判斷哪些款需跨產區移轉、Flow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是否銜接得上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⑥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通知主副料廠停產並計算殘素材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712643"/>
            <a:ext cx="3310128" cy="5599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94 封 / 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部與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技術窗口的紙板澄清往返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zh-TW" altLang="en-US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款數共</a:t>
            </a:r>
            <a:r>
              <a:rPr lang="en-US" altLang="zh-TW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</a:t>
            </a:r>
            <a:r>
              <a:rPr lang="en-US"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base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4 封 / </a:t>
            </a:r>
            <a:r>
              <a:rPr sz="2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工作日</a:t>
            </a:r>
            <a:endParaRPr sz="2100" b="1" dirty="0">
              <a:solidFill>
                <a:srgbClr val="1C4F8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平均每個工作日需判讀並決定是否升級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9871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9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46%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個月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2,766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封信中屬做工／紙板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／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做工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56869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62355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con-call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不只在開發樣品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其餘多來自工廠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APP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問題與大貨異常，需代為與生產部溝通，涵蓋範圍越拉越後面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資料來源：開發業務工作範疇彙整（2026-08-31）；A 部 GU 紙板交涉信件量實證（期間 2026-07-27 ～ 08-26）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0C81B58-8688-449D-83F4-3BFEC7FD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4" y="1162942"/>
            <a:ext cx="11945346" cy="541488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5220AEB2-B8D8-4C6C-98B2-0977C54797BA}"/>
              </a:ext>
            </a:extLst>
          </p:cNvPr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  <a:endParaRPr sz="12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4A2511-E1A3-4FCB-91F3-C7E021688DF8}"/>
              </a:ext>
            </a:extLst>
          </p:cNvPr>
          <p:cNvSpPr txBox="1"/>
          <p:nvPr/>
        </p:nvSpPr>
        <p:spPr>
          <a:xfrm>
            <a:off x="244198" y="676656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10/8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CRFP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因抽皺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荷葉邊樣品多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產前樣品從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8/21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就得開始跟工廠互動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 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図 28">
            <a:extLst>
              <a:ext uri="{FF2B5EF4-FFF2-40B4-BE49-F238E27FC236}">
                <a16:creationId xmlns:a16="http://schemas.microsoft.com/office/drawing/2014/main" id="{00000000-0008-0000-0200-00001D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17" y="3962401"/>
            <a:ext cx="3623489" cy="12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溝通的量體 — 280 個對象，沒有一個能自動化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1,151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寄出信件（封）　平均每週約 44 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3,973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To 人次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280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溝通對象人數，橫跨 8 種型態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3.45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平均每封信涉及人次　並非一對一問答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寄出信件的協調對象分布（依 To 人次佔比）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1635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內部｜處內跨部門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6781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公司｜開發技術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309524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98648" y="3095243"/>
            <a:ext cx="2861118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6781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927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公司｜產銷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34670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98648" y="3346703"/>
            <a:ext cx="86480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31927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7073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生產部／現地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59816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98648" y="3598163"/>
            <a:ext cx="573840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57073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2219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設計師／版師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648" y="384962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98648" y="3849624"/>
            <a:ext cx="29096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7365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公司｜行政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0108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98648" y="4101084"/>
            <a:ext cx="56575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7365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2511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外部｜布廠供應商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8648" y="435254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898648" y="435254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32511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57657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外部｜其他（驗貨／測試）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460400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98648" y="460400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57657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2523744"/>
            <a:ext cx="4327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版師・樣品中心技師通話統計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6912" y="2816351"/>
            <a:ext cx="4327855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8352" y="2852927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852927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同期間
07/29–08/27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2852927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完整範圍
04/30–08/25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19" y="2852927"/>
            <a:ext cx="758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未接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6912" y="3218687"/>
            <a:ext cx="432785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88352" y="3246119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4611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32.3 分 / 5 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3246119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105.7 分 / 24 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19" y="3246119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 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3529583"/>
            <a:ext cx="4327855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88352" y="3557015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557015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32.9 分 / 7 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8" y="3557015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41.2 分 / 10 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19" y="3557015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 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6912" y="3840479"/>
            <a:ext cx="4327855" cy="310896"/>
          </a:xfrm>
          <a:prstGeom prst="rect">
            <a:avLst/>
          </a:prstGeom>
          <a:solidFill>
            <a:srgbClr val="E9EEF5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88352" y="3867911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3867911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65.2 分 / 12 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867911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146.9 分 / 34 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19" y="3867911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 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4297679"/>
            <a:ext cx="4327855" cy="52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假日分布：同期間假日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26.1 分（6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通，全集中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08/23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週日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完整範圍假日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43.7 分（8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通，落在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06/06、07/18、08/23）。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階段若涉及反覆修改版型、來回重新確認，整體溝通經常達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週以上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497433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66928" y="497433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6384" y="502920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排除群發後結構幾乎不變 —— 這些是逐案、指名、具實質協調內容的往來，無法靠取消群發或自動通知壓縮。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資料來源：開發業務溝通統計（2026-03-01 ～ 08-27，約 26 週）。僅涵蓋本人「寄出」信件之 To 對象，未含收件匣、CC、Teams 訊息及電話往來，實際協調量高於此。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生產調整是即時應變 — 不是可以排程的流程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36.2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全期間平均　2024-10 ～ 2026-08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46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12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週平均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高於全期間平均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63.1%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內文至少提到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PH3／追加／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生產調整／DROP／填補其一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PH3 DROP 的當下：一個上午要跑完的判斷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1"/>
            <a:ext cx="6035040" cy="210312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816351"/>
            <a:ext cx="50292" cy="21031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944368"/>
            <a:ext cx="5632703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客人早上通知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 DROP →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立即與產銷確認缺口銜接問題、尋找可填補款號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依新舊款不同，填補對象的主副料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製樣進度／主副料核色進度各要如何調整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或回頭請客人放寬容許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都要討論各項條件後，才能確認是否補得到缺口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款同步通知主副料廠停止生產，並計算殘素材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EC ～ 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DL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表的數量及交期變動較頻繁，有異動通常要重新與主／副採確認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6035040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029200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5074920"/>
            <a:ext cx="563270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產詢表修改頻率：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以北越為例，產詢需與 PJT 系統同步 —— 客人 DL 計畫各 Flow 數量／交期有任何變化、IE 有變化時都要更新，北越產區每週更新；其他產區於重大變動時更新。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23744"/>
            <a:ext cx="4693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內文關鍵字比例（同一封信可能符合多項）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5292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PH3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57839" y="2852927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43.9%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255263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追加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14232" y="3282695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3282695"/>
            <a:ext cx="204695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57839" y="3255263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65759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生產調整／產銷指定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685031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14232" y="3685031"/>
            <a:ext cx="1369769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57839" y="3657599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059935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4087368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14232" y="4087368"/>
            <a:ext cx="1046565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57839" y="4059935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46227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填補／補單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4232" y="4489704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14232" y="4489704"/>
            <a:ext cx="564324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57839" y="446227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956048"/>
            <a:ext cx="46936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以近期中國產區為例：一款訂單 DROP 後須由另一款填補，連帶牽動後續一連串供料點、主副料核可進度、核色允收等條件，甚至需要拜託客人放寬允收標準。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這類環環相扣的連帶判斷，正是 AI 無法取代的部分。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650992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570585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近 12 週平均每週 46 封、63.1% 提到生產調整相關字眼 —— 這不是偶發，是每天都在發生的常態。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資料來源：產詢資料夾信件量分析（25FW／26SS／26FW／27SS，季節篩選後）；開發業務工作範疇彙整（2026-08-31）核心論點三。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大貨業務的工作範疇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品質要求提高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客指布廠異常多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談判場合增加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產前準備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1848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寄參考樣、進單建 BOM、估碼採購（長度副料單）、搜集上傳測試報告、下副料 ACC、開傳版樣、下 APP／APP MK 需求、Centric 維護寄出日、APP 改善報告、二級樣品系統維護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5124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135124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18084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大貨生產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8084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開單送鎖 IE／估線、灌 PO／RFPO 文件（七件附件）、下標籤吊牌 ACC、追供料與驗布驗片、包裝方法送核、標準 YY 差異檢視、中國需做分廠分料表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97480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274320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743200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HS code／SPL BOM 維護填寫、每週二前 close CPO、AIR NOTE／SPL 多短出申請、一覽表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59836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259836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305556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結案結算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305556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用料能力結算（正負值皆須解釋）、異損單六步／Debit Note、費用解釋（空運費／銷售費用攤提）、測試與樣品費請款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2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822192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86791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品質把關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67912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驗布驗片（需具體瑕疵證據）、客人品質口徑、用料異常究責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454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38454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43026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固定週期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43026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每週二供料週報回饋；每週四檢視排單；IE 變化兩週檢視／close CPO；每月用料結算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46904"/>
            <a:ext cx="11057839" cy="603504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946904"/>
            <a:ext cx="50292" cy="603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926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⑦ 例外應變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499262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訂單取消／抽單確認、訂單轉廠、短料追三方、空海運時效取捨、包材配布分配、供料提前協調、額外</a:t>
            </a:r>
            <a:r>
              <a:rPr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SPL／攝影樣需求處理、異常處理</a:t>
            </a:r>
            <a:endParaRPr sz="10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5728" y="5358051"/>
            <a:ext cx="9009583" cy="173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需臨場判斷</a:t>
            </a: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會議記錄整理，不定期</a:t>
            </a:r>
            <a:r>
              <a:rPr lang="en-US" altLang="zh-TW"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索賠證據收集，因此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無固定流程可循</a:t>
            </a:r>
            <a:endParaRPr sz="10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6928" y="574700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5747004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5924317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①～⑥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是每張單都要跑完的固定工作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，⑦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才是真正吃掉時間的部分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而 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⑦ </a:t>
            </a:r>
            <a:r>
              <a:rPr sz="1300" b="1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無法預先排程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資料來源：大貨業務工作範疇彙整（2026-08-28，內部複核修正版）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突發個案不斷，一次集中就會超負荷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— 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60226F051A 系列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47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一個版型、一季</a:t>
            </a:r>
            <a:r>
              <a:rPr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 </a:t>
            </a: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件獨立異常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需多方</a:t>
            </a:r>
            <a:r>
              <a:rPr lang="en-US" altLang="zh-TW"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en-US" altLang="zh-TW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隨時討論報告現地。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多次抽料轉單、多次提前交期需求；3～4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筆為填補產能而變更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廠內濕度超標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全加乾燥劑並落實出口前抽檢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拉鍊止點功能問題、褲勾瑕疵、車線色／袋布色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NG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來回爭取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黑色拉鍊印到洗標上，最終定調不換標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工廠掛錯部分吊牌，2026-08-31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已在店舖發現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6 件；09-01 花 57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con-call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個案②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60226F069ABH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做完 APP 才被要求整批轉廠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351886" cy="129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已進單在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STL、APP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樣也做完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訂單調整優先序關係，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客人突然要求全部轉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轉廠後核可、主副料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TA、產能配置、核色進度全部重跑一次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GLS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已開始生產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又 call out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成衣清水洗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水洗交期來不及，只能安排外發加工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7293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60227H046A 等 6 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工廠不管 CRFP，全擠在同一週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542032"/>
            <a:ext cx="3149498" cy="1655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原 CRFP 2026-09-07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上線，提前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10 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046E／046F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資料一起給（CRFP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09-14）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同一週還要趕另一款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 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的資料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另有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款交期一併提前：09-28→09-18、09-28→09-14、09-28→09-16、09-17→09-14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根因是前單效率好、提早下線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IE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效率估算不準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450342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4715023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異常不是意外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26FW 有 65%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的版型出過需要人介入的事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，屬於不斷須跟版師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設計師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生產部隨時互動的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常態內容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資料來源：26FW 訂單異常彙整（2026-09-01）；大貨業務工作範疇彙整（2026-08-28）。26FW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已近尾聲，可看全季全貌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看起來像分配不均 — 其實是輪流救火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分單當下是平均的，是執行時被迫集中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1. 事前規畫力求分散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季初分配跟單明細時，依 CRFP／款式複雜度／數量／分幾個產區等面向評估，盡可能在量與款之間平均分散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994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4314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8906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2. 進單前動態重分配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906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正式進單前若遇客人 Drop 款式，即時盤點剩餘未進單款式重新評估調整，持續維持基準 Loading 平衡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7380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1700" y="1792224"/>
            <a:ext cx="3503066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6292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3. 執行時被迫集中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實際進單常有 CRFP／EXF 異動，加上工廠排程變動（前單提早下線、為避免空機要求後單提前上線），原本分散的款式被迫集中爆發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8950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為什麼壓在同一個人身上 — 兩個結構性原因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145536"/>
            <a:ext cx="50292" cy="195681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無法預知的隨機異常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分款當下無法預知工廠端哪一款會要求提前接線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也無法預測哪一批布料會爆發嚴重品質異損 —— 如 226N009A &amp; 033A 白汙案，延燒半年以上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當「提前接線追料」與「突發重大異損」同時疊加，該負責人就出現極端高峰加班與密集各方協調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實例：226F032A 外長起皺需 con-call，還要到店舖查看商品（2 人各 2 小時）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同期其他款一併要求提前：227H059A 09-28→09-18、059E→09-14、059F→09-16、227H062A 09-17→09-14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3863" y="3145536"/>
            <a:ext cx="50292" cy="195681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031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高度脈絡性，無法中途隨意切換接手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大貨從 APP 製樣到產前準備、BOM、IE 估線，皆具高度專屬性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若在突發異常或緊急接線時臨時換人分擔，重新對齊細節的溝通成本極高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反而更容易在混亂中產生交期與品質判斷的斷層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換言之：加班救火無法用「請別人幫忙」解決，只能由原負責人自己扛完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85232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285232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5421242"/>
            <a:ext cx="10655503" cy="1851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150" b="1" dirty="0" err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預算數據：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標打僅微降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3%（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163 → 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162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萬打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兩年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-1%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業務基礎作業總量並未減少</a:t>
            </a: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之下，大貨人員是少一名在作業。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資料來源：大貨業務工作範疇彙整（2026-08-28／09-01）分單邏輯與 2027 預算數據；標打口徑待管理部統一。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目前 AI 使用的範疇 — 每一支省了什麼、又有什麼取代不了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2926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581912"/>
            <a:ext cx="262432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做什麼 / 取代掉的手動步驟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581912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時間影響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581912"/>
            <a:ext cx="47183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AI 無法取代的部分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8562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開發端｜按款使用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0824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39112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樣品報價產出工具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039112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上傳樣品需求表／配色表，自動產出主副料明細表(B表)與原価計算書(C表)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203911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2 分／款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039112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僅生成初步表格，報價思考邏輯仍需人力判斷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58568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276856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式樣書複製貼上工具-22div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276856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快速完成 Excel 多頁的翻譯複製貼上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2768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276856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僅能貼上中文翻譯；做工變化與客人新增評語仍須人工確認＆翻譯，文字位置也要逐個手動調整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963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5145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客戶 Mini Marker 自動產出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5145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上傳馬克圖、Key 入報價 YY，即生成給客人的馬克圖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5145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1 分／款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5145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3405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75234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EC 開發樣衣測試申請表格產生器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75234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上傳樣品單直接產出測試申請表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275234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30 秒／款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75234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97179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99008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隱藏頁面&amp;巨集刪除＋版管理書貼上器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99008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省去手動逐頁刪除隱藏頁＆貼上版管理書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299008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20 秒／款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99008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0954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22783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Sketch 以圖搜圖-22div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322783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快速搜尋類似款式資訊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2783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22783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47287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34564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開發端｜按週／月使用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621023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63931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接單會議資料生成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36393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自動抓取 BIS 資料並剪貼整理至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3288" y="36393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1 分／週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36393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數字正確性檢視＆變化原因梳理、解釋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858767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3877055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PJT 差異週報自動化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877055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每週三 22 部門 PJT 差異表，改為排程自動產出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3877055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877055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異常數字檢視；數字變化說明須人為檢視每週訂單變化狀況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0965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1147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產能會議明細半自動化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41147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每月 BIS 下載後，Python 建立樞紐表彙總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33288" y="41147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1.5 小時／月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41147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數字異常檢視＆各款訂單 TA 情況細節須靠人力維護（Item name 比對仍需人工）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334255"/>
            <a:ext cx="11057839" cy="1737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4343399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部門排程｜Claude Code 自動跑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50799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452627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 進單自動比對 PJT 大表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452627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 30 分鐘自動跑，僅異常才通知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33288" y="4566141"/>
            <a:ext cx="93268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小時／週</a:t>
            </a:r>
            <a:endParaRPr sz="800" b="1" dirty="0">
              <a:solidFill>
                <a:srgbClr val="1B7A3D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30568" y="452627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僅比對數字差異；差異原因與後續處理仍須人判斷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74573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476402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22div／32div 兩週 DL 差異週報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476402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週一自動產出並寄送全組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3288" y="476402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76402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哪些變動要回頭跟客人／廠端追，仍靠人判讀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98347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" y="500176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待確認週報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4368" y="500176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週四 10:00 自動產出並寄送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33288" y="500176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500176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待確認項目本身仍須逐案去催、去談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22122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8368" y="5279373"/>
            <a:ext cx="212140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AI 應用平台市集（</a:t>
            </a:r>
            <a:r>
              <a:rPr lang="en-US" altLang="zh-TW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52</a:t>
            </a:r>
            <a:r>
              <a:rPr lang="zh-TW" altLang="en-US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支工具</a:t>
            </a: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4368" y="52395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全部門自助查詢，不需再翻公檔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52395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惠及全部門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52395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該用哪支、產出對不對，仍靠人選與人核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458967"/>
            <a:ext cx="11057839" cy="256032"/>
          </a:xfrm>
          <a:prstGeom prst="rect">
            <a:avLst/>
          </a:prstGeom>
          <a:solidFill>
            <a:srgbClr val="E9EEF5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6656" y="5477255"/>
            <a:ext cx="108383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合計效益：</a:t>
            </a: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按款作業每款省約 43 分鐘　│　部門排程每週省約 4～5 小時 —— 全部落在「規則固定、可批次核對」的行政作業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" y="584301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6928" y="5843015"/>
            <a:ext cx="50292" cy="566928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" y="589787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最有幫助的是減少制式 Key in、降低輸入錯誤 —— 但若工具本身仍需與原先類似的人工 Key in，導入後的節省就很有限。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資料來源：開發業務工作範疇彙整（2026-08-31）AI 協作現況表；部門排程為 Claude Code 實際運作中項目（已排除目前未使用者）。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進來之後，人的判斷節點不是變少，是變多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一般「想像」的流程　vs　實際跑的流程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一般想像的流程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人的判斷節點：0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AI／系統處理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得出答案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66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實際流程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人的判斷節點：4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418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535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2107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人工判斷合理性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61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2950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發現異常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04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221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793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釐清／修正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947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064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636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 協助處理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790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907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479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人工複核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633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7505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63225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43814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需要人判斷　　</a:t>
            </a:r>
            <a:r>
              <a:rPr sz="9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AI／系統步驟　　輸入資料本身就常有錯誤、遺漏或彼此矛盾 —— 直接丟進自動化只會讓錯誤更快被放大。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03904"/>
            <a:ext cx="11057839" cy="207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變數之間高度連動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這不是「條件多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是條件會互相改寫</a:t>
            </a: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(EX: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訂單優先序的排序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補單產區的調度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單款需一天改產詢表最高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次確認排序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 </a:t>
            </a:r>
            <a:endParaRPr sz="125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6928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數量拆分方式改變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830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2604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7176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接線點改變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7417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5161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0881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供料 TA 改變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533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44277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9997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可填補款式改變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565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339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911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產能配置再次改變</a:t>
            </a:r>
          </a:p>
        </p:txBody>
      </p:sp>
      <p:sp>
        <p:nvSpPr>
          <p:cNvPr id="53" name="Left Arrow 52"/>
          <p:cNvSpPr/>
          <p:nvPr/>
        </p:nvSpPr>
        <p:spPr>
          <a:xfrm>
            <a:off x="566928" y="4718304"/>
            <a:ext cx="11057839" cy="402336"/>
          </a:xfrm>
          <a:prstGeom prst="leftArrow">
            <a:avLst/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9848" y="4745736"/>
            <a:ext cx="101434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任一環節改變，都會沿著迴圈回頭改寫前一輪的安排 —— 一次資訊更新，前一輪推演就失效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5838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6928" y="5358384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" y="5413248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減少的是「執行」，增加的是「審核與判斷」—— 人力需求不會等比例下降，對判斷能力的要求反而更高。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資料來源：開發業務工作範疇彙整（2026-08-31）核心論點一、二之流程圖與連動關係圖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能協助分析，但「答案是否合理」取決於人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① AI 幫不上的，具體是這些事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989320" cy="3218688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0292" cy="321868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5586983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式樣書的「叮嚀」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翻得出字面，翻不出「這款要提醒工廠注意什麼」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做工可行性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「機台做不做得出來」—— 約 20% 的紙板澄清屬此類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異損責任認定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布廠／裁剪／客戶規格，無標準答案，且要有人扛後續究責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換不換標的取捨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成本 × 交期 × 客訴風險三方權衡，還要客人點頭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填補拍板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選哪個工廠、犧牲哪張訂單，是責任決定不是計算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跨國三方 con-call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不能代為出席、發言或即時協調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談判的時機與說法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先找誰、何時說、說到幾分、何時升級主管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輸入資料本身有錯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客戶給的做工圖／MD Sheet／Order Plan 常有遺漏或矛盾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變動快過整理速度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把資料整理到 AI 能處理的狀態，比人直接判斷還慢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856" y="1554480"/>
            <a:ext cx="47759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合理性判斷還要結合的六種資訊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828800"/>
            <a:ext cx="47759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 可以找出數字差異、資料矛盾與異常值，也能提出可能原因；但實務上的合理性判斷，多半要靠以下這六種——而它們多數不在系統裡。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實際產品與素材狀況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5411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歷史款式的經驗與脈絡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8856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各產區不同的生產條件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5411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與客戶過往溝通的背景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8856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尚未文件化的跨部門資訊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9107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5411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對異常狀況的經驗判斷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865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524865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30352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真正重要的不只是「AI 能不能提出答案」，而是使用者能不能辨識這個答案是否合理。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資料來源：開發業務工作範疇彙整（2026-08-31）核心論點二；大貨 AI 可行性複核第二版（2026-08-28）。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五、A</a:t>
            </a:r>
            <a:r>
              <a:rPr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部現況</a:t>
            </a:r>
            <a:endParaRPr sz="12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無法再減人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524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98755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23811"/>
            <a:ext cx="10509199" cy="285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2026-07-13　A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部主動調出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名至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B 部（#32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），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編制由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15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名降為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這一名的重量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72384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072384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118103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原承接量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3118103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該名同仁在 26FW 負責 5 個版型 / 14 款 / 1,015,031 件，件數占全期 27.8%，款數與件數皆為大貨同仁中最高的一組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6472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647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822191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移交方式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822191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手頭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部門大貨與追加須先跟完、不接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27SS 大貨新單；26FW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尾單與追加的收尾，由其餘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位同仁一併吸收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4480560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4526280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量沒有跟著減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4705214"/>
            <a:ext cx="8808415" cy="1724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標打預算兩年僅降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%，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遠小於「減一名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＝ −7%」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的人力降幅；款數不減，所有跟單流程與客人系統維護就全部還在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5916168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916168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5971032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「特定同仁加班暴增」與「7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月釋出一名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是同一件事的兩面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資料來源：內部人事異動簽核紀錄（2026-06-15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徵詢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06-24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拍板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07-01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通知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HR → 07-13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生效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）；26FW 訂單異常彙整（2026-09-01）</a:t>
            </a:r>
          </a:p>
        </p:txBody>
      </p:sp>
      <p:sp>
        <p:nvSpPr>
          <p:cNvPr id="26" name="Rounded Rectangle 17"/>
          <p:cNvSpPr/>
          <p:nvPr/>
        </p:nvSpPr>
        <p:spPr>
          <a:xfrm>
            <a:off x="566928" y="5184648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18"/>
          <p:cNvSpPr/>
          <p:nvPr/>
        </p:nvSpPr>
        <p:spPr>
          <a:xfrm>
            <a:off x="566928" y="5184648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19"/>
          <p:cNvSpPr txBox="1"/>
          <p:nvPr/>
        </p:nvSpPr>
        <p:spPr>
          <a:xfrm>
            <a:off x="786384" y="523036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loading 不能只看款數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2596896" y="5230368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單款數量大、產區彈性且分割多國；一款多國家製樣＝一款變複數款。以款數衡量會嚴重低估實際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loading。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六、結論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部可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維持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名、不補人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缺口由內部消化吸收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45920"/>
            <a:ext cx="10472623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 部 2027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年度建議編制：維持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14 名 ——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不補人，但不可再減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487168"/>
            <a:ext cx="541004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①　</a:t>
            </a: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R&amp;D Chiku 自 27FW 起加帶款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17520"/>
            <a:ext cx="50077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現況：PROTO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～ 1st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專責調布、面料提案、布測與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FDS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系統維護，並直接以日文對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生產部窗口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起：在上述職掌之外，額外加帶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1～2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款，自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一路帶到報價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選款：優先挑延續款／廉價版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主料本來就是她在調，學習曲線最短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優先序：調布是全部門上游，若與帶款衝突一律優先保調布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時程：27FW 建底、不計入淨產能；28SS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起回收，屆時再評估是否加至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3～4 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4719" y="2487168"/>
            <a:ext cx="5410047" cy="4023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②　Claude／AI 自動化 — 可協作的範圍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本簡報為內部討論用，部分內容由 AI 依既有資料整理，僅供參考；正式引用或對外前請相關單位及本人複核。｜V6 日本營業處 A 部｜2026-09-02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301752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5887" y="301752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3903" y="303580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週期性報表產出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079" y="303580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PJT 差異週報、接單會議資料、產能會議明細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5887" y="331470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5887" y="331470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3903" y="333298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樣品／報價文件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2079" y="333298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樣品報價 B/C 表、BV 測試申請表、Mini Marker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361188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5887" y="361188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3903" y="363016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式樣書文書處理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079" y="363016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多頁翻譯複製貼上、隱藏頁刪除＋版管理書貼上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5887" y="390906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5887" y="390906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3903" y="392734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款式資料檢索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2079" y="392734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以圖搜圖找類似款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420624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5887" y="420624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3903" y="422452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排程比對與通知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2079" y="422452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進單比對 PJT 大表、DL 差異週報、PH3 待確認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594860"/>
            <a:ext cx="50077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共 52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支工具已上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V6 AI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應用平台，全部門自助查詢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以上全部落在「規則固定、可批次核對」的作業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判斷仍由人做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主採業務的工作範疇 — 14 類工作，AI 可代勞程度全部評為「低」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1,993 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樣本期間信件總數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14 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已盤點的工作類型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046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046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全數評為「AI 可代勞程度：低」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871 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最大宗：EC・樣品・APP 調料調布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68880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十四類工作的信件量與占比 —— 占比最高的不是文書，是「重大品質異常」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前端面料開發事宜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4548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7508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Shape 28"/>
          <p:cNvSpPr/>
          <p:nvPr/>
        </p:nvSpPr>
        <p:spPr>
          <a:xfrm>
            <a:off x="566928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Shape 29"/>
          <p:cNvSpPr/>
          <p:nvPr/>
        </p:nvSpPr>
        <p:spPr>
          <a:xfrm>
            <a:off x="566928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68096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EC／樣品／APP 調料調布需求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84548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871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7508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68096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進單前交期 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4548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7508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8" name="Shape 38"/>
          <p:cNvSpPr/>
          <p:nvPr/>
        </p:nvSpPr>
        <p:spPr>
          <a:xfrm>
            <a:off x="566928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Shape 39"/>
          <p:cNvSpPr/>
          <p:nvPr/>
        </p:nvSpPr>
        <p:spPr>
          <a:xfrm>
            <a:off x="566928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68096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FBO／CBD／主料 TA 確認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4548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7508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315968"/>
            <a:ext cx="5390388" cy="3474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315968"/>
            <a:ext cx="54864" cy="3474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重大品質異常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84548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7508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68096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換片率／短碼／補布／庫存／色差判定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84548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7508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7%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66928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68096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物流／出貨追蹤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84548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7508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58" name="Shape 58"/>
          <p:cNvSpPr/>
          <p:nvPr/>
        </p:nvSpPr>
        <p:spPr>
          <a:xfrm>
            <a:off x="6231636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231636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432804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內部固定會議・報表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9256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72216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63" name="Shape 63"/>
          <p:cNvSpPr/>
          <p:nvPr/>
        </p:nvSpPr>
        <p:spPr>
          <a:xfrm>
            <a:off x="6231636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Shape 64"/>
          <p:cNvSpPr/>
          <p:nvPr/>
        </p:nvSpPr>
        <p:spPr>
          <a:xfrm>
            <a:off x="6231636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6432804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驗貨／測試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49256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72216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68" name="Shape 68"/>
          <p:cNvSpPr/>
          <p:nvPr/>
        </p:nvSpPr>
        <p:spPr>
          <a:xfrm>
            <a:off x="6231636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231636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432804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開訂單 PO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49256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72216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3" name="Shape 73"/>
          <p:cNvSpPr/>
          <p:nvPr/>
        </p:nvSpPr>
        <p:spPr>
          <a:xfrm>
            <a:off x="6231636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Shape 74"/>
          <p:cNvSpPr/>
          <p:nvPr/>
        </p:nvSpPr>
        <p:spPr>
          <a:xfrm>
            <a:off x="6231636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432804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收料／結帳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049256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393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72216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8" name="Shape 78"/>
          <p:cNvSpPr/>
          <p:nvPr/>
        </p:nvSpPr>
        <p:spPr>
          <a:xfrm>
            <a:off x="6231636" y="431596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Shape 79"/>
          <p:cNvSpPr/>
          <p:nvPr/>
        </p:nvSpPr>
        <p:spPr>
          <a:xfrm>
            <a:off x="6231636" y="431596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432804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缸差核可進度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49256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72216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83" name="Shape 83"/>
          <p:cNvSpPr/>
          <p:nvPr/>
        </p:nvSpPr>
        <p:spPr>
          <a:xfrm>
            <a:off x="6231636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Shape 84"/>
          <p:cNvSpPr/>
          <p:nvPr/>
        </p:nvSpPr>
        <p:spPr>
          <a:xfrm>
            <a:off x="6231636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32804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寄件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49256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72216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88" name="Shape 88"/>
          <p:cNvSpPr/>
          <p:nvPr/>
        </p:nvSpPr>
        <p:spPr>
          <a:xfrm>
            <a:off x="6231636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Shape 89"/>
          <p:cNvSpPr/>
          <p:nvPr/>
        </p:nvSpPr>
        <p:spPr>
          <a:xfrm>
            <a:off x="6231636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6432804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測試帳單申請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049256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72216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84548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207508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049256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872216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7" name="Shape 97"/>
          <p:cNvSpPr/>
          <p:nvPr/>
        </p:nvSpPr>
        <p:spPr>
          <a:xfrm>
            <a:off x="566928" y="566013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66928" y="566013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9"/>
          <p:cNvSpPr txBox="1"/>
          <p:nvPr/>
        </p:nvSpPr>
        <p:spPr>
          <a:xfrm>
            <a:off x="786384" y="568756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信件數最少的「重大品質異常」（82 封）占比卻最高（15%）——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工時不跟信件數走，跟事情的難度走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可行性分析（綜合分析表）。信件數為樣本期間統計值；占比為關鍵字分類之估算值，樣本與口徑限制見本章第三頁。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為什麼十四類全評為「低」 — 六個共通的結構性原因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不是工作內容單純，而是瓶頸都落在系統之外 —— 等待、協商、實物判斷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多輪來回議定，不是單向查詢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 交期不是布廠給一個數字就定案：布廠產能、原料到位時間都要反覆協調，過程還包含人民幣匯率商談，屬多輪議價。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一對多的跨廠協調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同一款式通常同步在多家布廠開發，須持續追蹤各廠回覆與進度，再即時整合資訊回覆業務端，確保開發時程推進。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三方條件要同時滿足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最終交期須同時滿足業務訂單需求、布廠產能與交期、成衣廠產線排程 —— 是多重限制下的權衡取捨，不是查表。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需實物比對與染整專業判斷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移染、白汙、色牢度、色點及髒污比例的成因判定，仰賴布料／染整專業與目視實物、色板比對，並需送樣、複測、打樣驗證。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溝通載體不在系統裡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缸差核色進度主要靠微信與上海布組即時互動，是零散對話與圖片核對；重大異常也多為電話、現場會議、口頭確認。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對外承諾要有人拍板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下單即產生商業約束力；CBD／FBO 數字會隨業務端分次確認而滾動更新，需有人判斷「這次是否已是最終版本」，避免未定案就搶先下單。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919472"/>
            <a:ext cx="11055096" cy="566928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4919472"/>
            <a:ext cx="54864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86384" y="498348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最關鍵的一點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7168" y="4983480"/>
            <a:ext cx="89154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耗時的原因是「等待與多輪確認」，不是處理速度 —— AI 即使能快速產出初稿排程，也縮短不了人對人溝通確認的等待時間。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570585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66928" y="570585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86384" y="573328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能被壓縮的是「產出速度」，但主採的工時花在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等別人回覆、和別人談定、對實物拍板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 —— 這三件事沒有一件會因為 AI 而變快。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可行性分析（綜合分析表）「為什麼」欄之歸納。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已接手的與接不了的 — 以及這份數字的口徑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55 款 / 64 塊主布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27SS 1st sample 前端開發量體</a:t>
            </a:r>
          </a:p>
        </p:txBody>
      </p:sp>
      <p:sp>
        <p:nvSpPr>
          <p:cNvPr id="10" name="Shape 10"/>
          <p:cNvSpPr/>
          <p:nvPr/>
        </p:nvSpPr>
        <p:spPr>
          <a:xfrm>
            <a:off x="4343400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4562856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28 款 / 24 塊布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2856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1st sample（目前）</a:t>
            </a:r>
          </a:p>
        </p:txBody>
      </p:sp>
      <p:sp>
        <p:nvSpPr>
          <p:cNvPr id="14" name="Shape 14"/>
          <p:cNvSpPr/>
          <p:nvPr/>
        </p:nvSpPr>
        <p:spPr>
          <a:xfrm>
            <a:off x="8119872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8119872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339328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7 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39328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須固定參與的例行會議與報表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✔ 已有現成 AI skill 輔助 —— 清單中可行性最高的三項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743200"/>
            <a:ext cx="5349240" cy="201168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743200"/>
            <a:ext cx="54864" cy="201168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04672" y="28712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用量自動填入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7520" y="2871216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對應「FBO／CBD／主料 TA 確認」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3182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0" y="3182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對應「進單前交期 TA」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34930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7520" y="3493008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對應「物流／出貨追蹤」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93192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這三類合計約占 25% 的信件量（依表列占比相加），但 AI 輔助的是「填表與核對」——　交期議定、催促布廠訂艙、船班異動後重排產線，仍然逐件由人處理。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✖ 接不了的實例 —— 重大品質異常與判定</a:t>
            </a:r>
          </a:p>
        </p:txBody>
      </p:sp>
      <p:sp>
        <p:nvSpPr>
          <p:cNvPr id="29" name="Shape 29"/>
          <p:cNvSpPr/>
          <p:nvPr/>
        </p:nvSpPr>
        <p:spPr>
          <a:xfrm>
            <a:off x="6272784" y="2743200"/>
            <a:ext cx="5349240" cy="2011680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272784" y="2743200"/>
            <a:ext cx="54864" cy="2011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10528" y="2852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移染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17536" y="2852928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SANBEN 60236F014A #37 Brown、60226F034A #34 Brown；凱信 60146N118／60226N024B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528" y="332841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白汙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7536" y="3328416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GISTEX 226N009A／236N011A／226N033A；CENTEX 226N020B／236F007A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0528" y="380390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色點及髒污比例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7536" y="3803904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176F036／F037／F038／F040A 換片率與色差判定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0528" y="427939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後續責任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7536" y="4279392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須撰寫品質改善 CAP，對客戶說明成因與對策並承擔索賠、延誤出貨的商業風險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4937760"/>
            <a:ext cx="11055096" cy="69494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54864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86384" y="50109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數字口徑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0864" y="5010912"/>
            <a:ext cx="9061704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樣本僅涵蓋本人信箱可見範圍（列為收件人／CC 或寄件人），非三人完整信箱，且不含微信與布廠溝通內容；占比採關鍵字比對分類，同一封信可能同時符合多個類別，本表以優先序取單一類別歸類，與人工逐封判讀可能有落差。實際工作分工與 AI 導入範圍請與三位本人及主管討論確認。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已被 AI 接走的是「填表與核對」；真正的工時瓶頸 —— 交期議定、異常判定、跨廠催辦 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一項都沒被接走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可行性分析（綜合分析表）之實際信件主旨舉例與備註欄。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四、副採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副採使用到的「系統」 — 不是大量集中，是零碎時間的持續累積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54480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逐款、逐品項、逐張 PO、逐個顏色的重複操作 —— 單次都不長，但每一款都要從頭跑一次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83664"/>
            <a:ext cx="11055096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94944" y="1883664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系統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54680" y="1883664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單次耗時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45152" y="1883664"/>
            <a:ext cx="6903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實際操作內容 / 需要人判斷的地方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2286000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94944" y="2286000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ORDER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54680" y="2286000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5152" y="2322576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BOM 的正確性 —— 需請大貨業務儘快 BOM 轉檔或更正細節；BOM 不對，後段開立的 PO 全部要重來</a:t>
            </a:r>
          </a:p>
        </p:txBody>
      </p:sp>
      <p:sp>
        <p:nvSpPr>
          <p:cNvPr id="15" name="Shape 15"/>
          <p:cNvSpPr/>
          <p:nvPr/>
        </p:nvSpPr>
        <p:spPr>
          <a:xfrm>
            <a:off x="566928" y="2688336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94944" y="2688336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ERP｜開立 PO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54680" y="2688336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10–15 分／款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45152" y="2724912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款 BY 品項逐筆開立；一款 3～5～7 張 PO 不等，張數隨品項數而增加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090672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94944" y="3090672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ERP｜印 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54680" y="3090672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5–10 分／款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45152" y="3127248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PO 逐張列印，張數愈多耗時愈長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3493008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694944" y="3493008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ERP｜檔案提供供應商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54680" y="3493008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 分／款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45152" y="3529584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每次進單的全流程作業；另含挪料，收料極少</a:t>
            </a:r>
          </a:p>
        </p:txBody>
      </p:sp>
      <p:sp>
        <p:nvSpPr>
          <p:cNvPr id="27" name="Shape 27"/>
          <p:cNvSpPr/>
          <p:nvPr/>
        </p:nvSpPr>
        <p:spPr>
          <a:xfrm>
            <a:off x="566928" y="3895344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694944" y="3895344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SHIPPING MONITOR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54680" y="3895344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分／筆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45152" y="3931920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每張 PO 每有出貨都要 Key；一款多張 PO、多次出貨即多筆，累加後不可忽視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297680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94944" y="4297680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電子表單｜異損申請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54680" y="4297680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45152" y="4334256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依異常狀況逐案填報，無固定頻率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4700016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694944" y="4700016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實驗室品管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54680" y="4700016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逐色逐品項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45152" y="4736592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新款各品項各色的色牢度；含各測試的時效安排、申請書填寫與報告管理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5102352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694944" y="5102352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送測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54680" y="5102352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年度性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45152" y="5138928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各品項年度測試：有毒物質、貨櫃模擬、防鏽、寸法變化、拉力物性、色牢度＋PH 值＋游離甲醛…等；同樣含時效安排、申請書與報告管理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724144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724144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751576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這些系統操作都不「大」 —— 真正吃時間的是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次數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：一款要跑 3～7 張 PO、每張 PO 每次出貨再各 Key 一次。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內部盤點）。耗時為實務估算區間，非系統紀錄值，對外引用前請人工複核。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四、副採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人力為主＋微 AI 協助為輔 — 十一項無法交給系統的協調作業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以下每一項都要「對人」—— 供應商、成衣廠、駐廠、開發業務、大貨業務、樣品中心，沒有一項是把資料丟進系統就會有答案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各製樣階段 樣品調料安排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初樣／各色／RE 各色／MONITOR／產前樣，逐階段與各供應商互動調料；單號通知樣品中心＆開發；報價往返於供應商＆開發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TA 計劃可行性互動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與各開發業務多次互動、確認 TA 計劃（含變化）的可行性，並持續追蹤 CBD DATE 是否按時提供 CBD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by flow 空運費計算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品項 × 件數 × 重量，逐段推算「從哪到哪」的預計空運費；flow 一改就要重算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打色／送核／核色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各品項打色、送核、核色與紀錄管理；整理核可副料卡，再寄送至二級產區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採購與交期管理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採購數量計算／製表／推算交期／下單／交期管理／看色／出貨安排，一條龍由同一人接完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出貨 TA 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各自表格分別管理與更新；供料 TA 沒有 color breakdown，視覺上不易判讀，只能逐筆核對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68096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⑦ 訂單切割重整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8096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因產能調度而切割訂單時，各品項數量要切割重計、開新 PO、交期整批重整</a:t>
            </a:r>
          </a:p>
        </p:txBody>
      </p:sp>
      <p:sp>
        <p:nvSpPr>
          <p:cNvPr id="35" name="Shape 35"/>
          <p:cNvSpPr/>
          <p:nvPr/>
        </p:nvSpPr>
        <p:spPr>
          <a:xfrm>
            <a:off x="4325112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4325112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4526280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⑧ 中國產區分廠計算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26280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每次待上線前 PO 出來才能分廠：按配色／用量／損耗／差數重新分配整理分廠數量，再逐一更新給各供應商</a:t>
            </a:r>
          </a:p>
        </p:txBody>
      </p:sp>
      <p:sp>
        <p:nvSpPr>
          <p:cNvPr id="39" name="Shape 39"/>
          <p:cNvSpPr/>
          <p:nvPr/>
        </p:nvSpPr>
        <p:spPr>
          <a:xfrm>
            <a:off x="8083296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8083296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8284464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⑨ 補料安排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4464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多裁多出的補料安排，以及用量爭議的補料協調 —— 責任歸屬談定前無法下單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⑩ 品質 ISSUE 釐清與處理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8096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與成衣廠／駐廠／供應商／大貨四方互動，釐清狀況並收斂到可執行的處理方式</a:t>
            </a:r>
          </a:p>
        </p:txBody>
      </p:sp>
      <p:sp>
        <p:nvSpPr>
          <p:cNvPr id="47" name="Shape 47"/>
          <p:cNvSpPr/>
          <p:nvPr/>
        </p:nvSpPr>
        <p:spPr>
          <a:xfrm>
            <a:off x="4325112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325112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4526280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⑪ 例行會議與供應商來訪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6280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參與各類 routine 會議，以及供應商來訪的接待與議題對應</a:t>
            </a:r>
          </a:p>
        </p:txBody>
      </p:sp>
      <p:sp>
        <p:nvSpPr>
          <p:cNvPr id="51" name="Shape 51"/>
          <p:cNvSpPr/>
          <p:nvPr/>
        </p:nvSpPr>
        <p:spPr>
          <a:xfrm>
            <a:off x="8083296" y="4745736"/>
            <a:ext cx="3538728" cy="8778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083296" y="4745736"/>
            <a:ext cx="54864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8284464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共同點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84464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全部是逐款、逐品項、逐色的個別協調，沒有固定公式可套；AI 目前只能在制式表單上微量協助。</a:t>
            </a:r>
          </a:p>
        </p:txBody>
      </p:sp>
      <p:sp>
        <p:nvSpPr>
          <p:cNvPr id="55" name="Shape 55"/>
          <p:cNvSpPr/>
          <p:nvPr/>
        </p:nvSpPr>
        <p:spPr>
          <a:xfrm>
            <a:off x="566928" y="5833872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Shape 56"/>
          <p:cNvSpPr/>
          <p:nvPr/>
        </p:nvSpPr>
        <p:spPr>
          <a:xfrm>
            <a:off x="566928" y="5833872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786384" y="5861304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系統只負責「登錄結果」—— 結果長什麼樣，是這十一項人工協調談出來的。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四、副採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這些作業的工時投入 — 不是大塊時間，是零碎累積且併行發生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10–30 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每項作業的典型耗時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4124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3～7 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一款需開立的 PO 張數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45–55 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一款進單、單就 ERP 系統面的合計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4124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 分 / 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每個 shipment 的 Key-in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可量化的部分 —— 系統操作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889504"/>
            <a:ext cx="5349240" cy="27066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889504"/>
            <a:ext cx="54864" cy="27066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04672" y="3017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開立 PO（BY 款 BY 品項）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15968" y="3017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10–15 分／款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3467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印 PO（BY PO 逐張）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15968" y="33467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5–10 分／款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672" y="36758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提供檔案給各供應商（每次進單全流程）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15968" y="36758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 分／款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72" y="40050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SHIPPING MONITOR 每筆 shipment Key-in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15968" y="40050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分／筆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4672" y="433425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實驗室品管／BV 送測 的申請書與報告管理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15968" y="4334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視測試安排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4672" y="4663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電子表單 異損申請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15968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04672" y="5047488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合計：一款進單，單就 ERP 三段作業即約 45–55 分（依上述區間相加），尚未計入 shipment Key-in 與後續異動重跑。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2784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不可量化的部分 —— 為什麼「加總」會失真</a:t>
            </a:r>
          </a:p>
        </p:txBody>
      </p:sp>
      <p:sp>
        <p:nvSpPr>
          <p:cNvPr id="39" name="Shape 39"/>
          <p:cNvSpPr/>
          <p:nvPr/>
        </p:nvSpPr>
        <p:spPr>
          <a:xfrm>
            <a:off x="6272784" y="2889504"/>
            <a:ext cx="5349240" cy="27066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6272784" y="2889504"/>
            <a:ext cx="54864" cy="27066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6510528" y="3035808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其間會有各項事務同時發生中 —— emails／Teams／電話／會議／供應商來訪，作業經常被中斷後再接回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0528" y="3547872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這些細節不像做報告那種「跑資料＋分析」可以一次做完，而是零碎時間的持續累積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528" y="4059936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同一款的工時會隨 PO 張數、品項數、顏色數倍增 —— 款數不能代表 loading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10528" y="4572000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訂單切割、分廠重算、TA 變動時，前面已完成的計算與 PO 要整批重跑一次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0528" y="5084064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被中斷後重新接回原本的判斷脈絡，本身就是成本，且不會出現在任何工時紀錄上</a:t>
            </a:r>
          </a:p>
        </p:txBody>
      </p:sp>
      <p:sp>
        <p:nvSpPr>
          <p:cNvPr id="46" name="Shape 46"/>
          <p:cNvSpPr/>
          <p:nvPr/>
        </p:nvSpPr>
        <p:spPr>
          <a:xfrm>
            <a:off x="566928" y="5815584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Shape 47"/>
          <p:cNvSpPr/>
          <p:nvPr/>
        </p:nvSpPr>
        <p:spPr>
          <a:xfrm>
            <a:off x="566928" y="5815584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786384" y="5843016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副採的工時不會集中出現在任何一張報表上 —— 它分散在每一款、每一張 PO、每一個顏色的重複操作與即時協調裡。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內部盤點）。耗時為實務估算區間，合計為區間相加之推算值，非系統紀錄，對外引用前請人工複核。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2592</Words>
  <Application>Microsoft Office PowerPoint</Application>
  <PresentationFormat>寬螢幕</PresentationFormat>
  <Paragraphs>412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Stephy Lai (Taipei, 賴姵妘)</cp:lastModifiedBy>
  <cp:revision>17</cp:revision>
  <dcterms:created xsi:type="dcterms:W3CDTF">2013-01-27T09:14:16Z</dcterms:created>
  <dcterms:modified xsi:type="dcterms:W3CDTF">2026-09-04T09:31:13Z</dcterms:modified>
  <cp:category/>
</cp:coreProperties>
</file>