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  <a:srgbClr val="1C4F8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410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176272"/>
            <a:ext cx="10241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V6副採工作範疇</a:t>
            </a:r>
            <a:r>
              <a:rPr lang="zh-TW" altLang="en-US" sz="4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簡略</a:t>
            </a:r>
            <a:r>
              <a:rPr lang="en-US" sz="4000" b="1" dirty="0" err="1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4000" b="1" dirty="0">
              <a:solidFill>
                <a:srgbClr val="FFFFFF"/>
              </a:solidFill>
              <a:latin typeface="微軟正黑體" pitchFamily="34" charset="0"/>
              <a:ea typeface="微軟正黑體" pitchFamily="34" charset="-122"/>
              <a:cs typeface="微軟正黑體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dirty="0" sz="2700" b="1">
                <a:solidFill>
                  <a:srgbClr val="C9DF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</a:t>
            </a:r>
            <a:r>
              <a:rPr lang="zh-TW" altLang="en-US" dirty="0" sz="2700" b="1">
                <a:solidFill>
                  <a:srgbClr val="C9DF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人力編制</a:t>
            </a:r>
            <a:r>
              <a:rPr lang="en-US" altLang="zh-TW" dirty="0" sz="2700" b="1">
                <a:solidFill>
                  <a:srgbClr val="C9DF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-3</a:t>
            </a:r>
            <a:r>
              <a:rPr lang="zh-TW" altLang="en-US" dirty="0" sz="2700" b="1">
                <a:solidFill>
                  <a:srgbClr val="C9DF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位</a:t>
            </a:r>
            <a:r>
              <a:rPr lang="en-US" altLang="zh-TW" dirty="0" sz="2700" b="1">
                <a:solidFill>
                  <a:srgbClr val="C9DF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)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960120" y="3913632"/>
            <a:ext cx="2743200" cy="3657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4178808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 err="1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一、系統操作（ERP／船務系統</a:t>
            </a:r>
            <a:r>
              <a:rPr lang="en-US" sz="1500" b="1" dirty="0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二、人力為主業務範疇（11大類）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三、代表性工作情境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 err="1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四、工時特性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579729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彙整：副採</a:t>
            </a: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│　2026-09-07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9EC4E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內部討論用，請勿外傳。部分內容由 AI 協助整理，數字需人工複核後方可對外引用。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一、系統操作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系統操作看似有系統可查 — 實績仍偏零碎，真正吃時間的在後段人工判斷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2624328" cy="8412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2656 張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 PO（2026年1-9月，GU-L1 PO）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77184" y="1554480"/>
            <a:ext cx="2624328" cy="8412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3468624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413 張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其中「</a:t>
            </a:r>
            <a:r>
              <a:rPr lang="en-US" altLang="zh-TW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DIV22/</a:t>
            </a: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26FW」</a:t>
            </a:r>
            <a:r>
              <a:rPr lang="zh-TW" alt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一季大約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187440" y="1554480"/>
            <a:ext cx="2624328" cy="841248"/>
          </a:xfrm>
          <a:prstGeom prst="rect">
            <a:avLst/>
          </a:prstGeom>
          <a:solidFill>
            <a:srgbClr val="FFF7E8"/>
          </a:solidFill>
          <a:ln/>
        </p:spPr>
      </p:sp>
      <p:sp>
        <p:nvSpPr>
          <p:cNvPr id="11" name="Text 9"/>
          <p:cNvSpPr/>
          <p:nvPr/>
        </p:nvSpPr>
        <p:spPr>
          <a:xfrm>
            <a:off x="6278880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A064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約4000 次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A064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Shipping Monitor key-in（推算）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997696" y="1554480"/>
            <a:ext cx="2624328" cy="8412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9089136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1-3 分/筆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key-in 單筆耗時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6928" y="2542032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</a:t>
            </a:r>
            <a:r>
              <a:rPr lang="zh-TW" altLang="en-US" sz="12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面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11055096" cy="329184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87121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系統／操作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63824" y="287121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耗時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26864" y="2871216"/>
            <a:ext cx="6940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1821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" y="31821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 SYSTEM｜確認BOM正確性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63824" y="31821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視情況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26864" y="31821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有誤需請大貨業務轉檔或更正細節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66928" y="35250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35250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ERP｜開立PO（BY款BY品項per</a:t>
            </a: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CBD）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63824" y="35250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10-15 分／款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26864" y="35250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一款約開 3–7 張 PO per CBD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66928" y="38679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38679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ERP｜列印PO（BY PO）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63824" y="38679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3-5分／款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26864" y="38679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—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66928" y="42108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" y="42108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ERP｜提供檔案給供應商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63824" y="42108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10-30 分／</a:t>
            </a:r>
            <a:r>
              <a:rPr lang="zh-TW" alt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款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26864" y="42108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每次CBD全流程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66928" y="45537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45537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SHIPPING MONITOR｜出貨 key-in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163824" y="45537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1-3 分／shipment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26864" y="45537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每張PO約出貨1–2次，皆須key-in</a:t>
            </a:r>
            <a:r>
              <a:rPr lang="en-US" altLang="zh-TW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</a:t>
            </a:r>
            <a:r>
              <a:rPr lang="zh-TW" alt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確認給船務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66928" y="48966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" y="48966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電子表單｜異損申請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163824" y="48966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視情況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26864" y="48966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視個案情況而定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66928" y="52395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94944" y="52395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實驗室品管｜色牢度測試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163824" y="52395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視測試排程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626864" y="52395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新款各</a:t>
            </a:r>
            <a:r>
              <a:rPr lang="zh-TW" alt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副料</a:t>
            </a: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品項各色；含申請書、時效、報告管理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66928" y="55824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8" name="Text 46"/>
          <p:cNvSpPr/>
          <p:nvPr/>
        </p:nvSpPr>
        <p:spPr>
          <a:xfrm>
            <a:off x="694944" y="55824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BV送測｜年度性測試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163824" y="55824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視測試排程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626864" y="55824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安排各副料項目的</a:t>
            </a: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有毒物質／貨櫃模擬／防鏽／寸法變化／拉力物性／色牢度＋PH值＋游離甲醛等</a:t>
            </a:r>
            <a:r>
              <a:rPr lang="en-US" altLang="zh-TW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；含申請書、時效、報告管理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557784" y="5971032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52" name="Shape 50"/>
          <p:cNvSpPr/>
          <p:nvPr/>
        </p:nvSpPr>
        <p:spPr>
          <a:xfrm>
            <a:off x="551688" y="5971032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53" name="Text 51"/>
          <p:cNvSpPr/>
          <p:nvPr/>
        </p:nvSpPr>
        <p:spPr>
          <a:xfrm>
            <a:off x="740664" y="6025896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系統操作本身耗時不高，但每一步都要靠人核對正確性（BOM對不對、PO開對品項、key-in數量對不對）—— 這類「防呆判斷」目前仍全靠人工。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資料來源：ERP系統PO檔案盤點（2026-01-01～2026-09-07，依PO編號年份碼歸戶，僅涵蓋GU相關供應商代碼TMKA／CJYA／CMKA／CMZA，資料夾範圍待確認是否含其他客戶）；系統操作耗時為使用者提供之經驗值；Shipping Monitor key-in次數為AI依「每張PO出貨1–2次」中位數推算，非系統實際統計，待以系統後台數字覆核。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二、人力</a:t>
            </a:r>
            <a:r>
              <a:rPr lang="zh-TW" alt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處理</a:t>
            </a:r>
            <a:r>
              <a:rPr lang="en-US" altLang="zh-TW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</a:t>
            </a:r>
            <a:r>
              <a:rPr lang="zh-TW" alt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判斷</a:t>
            </a:r>
            <a:r>
              <a:rPr lang="en-US" sz="1250" b="1" dirty="0" err="1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範疇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人力為主的業務內容 — 11大類佔比加總100%，分布平均、無單一大宗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1790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by款採購作業（數量計算／製表／交期／下單／開PO／看色／出貨）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93408" y="1563624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8" name="Shape 6"/>
          <p:cNvSpPr/>
          <p:nvPr/>
        </p:nvSpPr>
        <p:spPr>
          <a:xfrm>
            <a:off x="6693408" y="1563624"/>
            <a:ext cx="3794760" cy="18288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9" name="Text 7"/>
          <p:cNvSpPr/>
          <p:nvPr/>
        </p:nvSpPr>
        <p:spPr>
          <a:xfrm>
            <a:off x="10616184" y="1517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182880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大貨品質ISSUE釐清與處理（成衣廠／駐廠／供應商／大貨互動）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93408" y="1874520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12" name="Shape 10"/>
          <p:cNvSpPr/>
          <p:nvPr/>
        </p:nvSpPr>
        <p:spPr>
          <a:xfrm>
            <a:off x="6693408" y="1874520"/>
            <a:ext cx="3794760" cy="182880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616184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139696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各製樣階段材料安排／單號通知／報價整理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93408" y="2185416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16" name="Shape 14"/>
          <p:cNvSpPr/>
          <p:nvPr/>
        </p:nvSpPr>
        <p:spPr>
          <a:xfrm>
            <a:off x="6693408" y="2185416"/>
            <a:ext cx="189738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16184" y="21396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45059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開發進度追蹤／打色送核／核色紀錄／副料卡寄送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93408" y="2496312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20" name="Shape 18"/>
          <p:cNvSpPr/>
          <p:nvPr/>
        </p:nvSpPr>
        <p:spPr>
          <a:xfrm>
            <a:off x="6693408" y="2496312"/>
            <a:ext cx="189738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1" name="Text 19"/>
          <p:cNvSpPr/>
          <p:nvPr/>
        </p:nvSpPr>
        <p:spPr>
          <a:xfrm>
            <a:off x="10616184" y="2450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276148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出貨TA更新：各自表格管理維護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93408" y="2807208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24" name="Shape 22"/>
          <p:cNvSpPr/>
          <p:nvPr/>
        </p:nvSpPr>
        <p:spPr>
          <a:xfrm>
            <a:off x="6693408" y="2807208"/>
            <a:ext cx="189738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5" name="Text 23"/>
          <p:cNvSpPr/>
          <p:nvPr/>
        </p:nvSpPr>
        <p:spPr>
          <a:xfrm>
            <a:off x="10616184" y="2761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307238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與開發業務TA計劃可行性溝通＋追蹤CBD Date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93408" y="3118104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28" name="Shape 26"/>
          <p:cNvSpPr/>
          <p:nvPr/>
        </p:nvSpPr>
        <p:spPr>
          <a:xfrm>
            <a:off x="6693408" y="3118104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9" name="Text 27"/>
          <p:cNvSpPr/>
          <p:nvPr/>
        </p:nvSpPr>
        <p:spPr>
          <a:xfrm>
            <a:off x="10616184" y="3072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338328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空運費計算（by flow）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93408" y="3429000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32" name="Shape 30"/>
          <p:cNvSpPr/>
          <p:nvPr/>
        </p:nvSpPr>
        <p:spPr>
          <a:xfrm>
            <a:off x="6693408" y="3429000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3" name="Text 31"/>
          <p:cNvSpPr/>
          <p:nvPr/>
        </p:nvSpPr>
        <p:spPr>
          <a:xfrm>
            <a:off x="10616184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3694176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產能調度導致訂單切割重計算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93408" y="3739896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36" name="Shape 34"/>
          <p:cNvSpPr/>
          <p:nvPr/>
        </p:nvSpPr>
        <p:spPr>
          <a:xfrm>
            <a:off x="6693408" y="3739896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7" name="Text 35"/>
          <p:cNvSpPr/>
          <p:nvPr/>
        </p:nvSpPr>
        <p:spPr>
          <a:xfrm>
            <a:off x="10616184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6928" y="400507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中國產區分廠計算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93408" y="4050792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40" name="Shape 38"/>
          <p:cNvSpPr/>
          <p:nvPr/>
        </p:nvSpPr>
        <p:spPr>
          <a:xfrm>
            <a:off x="6693408" y="4050792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1" name="Text 39"/>
          <p:cNvSpPr/>
          <p:nvPr/>
        </p:nvSpPr>
        <p:spPr>
          <a:xfrm>
            <a:off x="10616184" y="4005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6928" y="431596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多裁多出／用量爭議補料安排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93408" y="4361688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44" name="Shape 42"/>
          <p:cNvSpPr/>
          <p:nvPr/>
        </p:nvSpPr>
        <p:spPr>
          <a:xfrm>
            <a:off x="6693408" y="4361688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5" name="Text 43"/>
          <p:cNvSpPr/>
          <p:nvPr/>
        </p:nvSpPr>
        <p:spPr>
          <a:xfrm>
            <a:off x="10616184" y="43159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6928" y="462686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參與routine會議及供應商來訪接待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93408" y="4672584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48" name="Shape 46"/>
          <p:cNvSpPr/>
          <p:nvPr/>
        </p:nvSpPr>
        <p:spPr>
          <a:xfrm>
            <a:off x="6693408" y="4672584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9" name="Text 47"/>
          <p:cNvSpPr/>
          <p:nvPr/>
        </p:nvSpPr>
        <p:spPr>
          <a:xfrm>
            <a:off x="10616184" y="4626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6928" y="5440680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51" name="Shape 49"/>
          <p:cNvSpPr/>
          <p:nvPr/>
        </p:nvSpPr>
        <p:spPr>
          <a:xfrm>
            <a:off x="566928" y="5440680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52" name="Text 50"/>
          <p:cNvSpPr/>
          <p:nvPr/>
        </p:nvSpPr>
        <p:spPr>
          <a:xfrm>
            <a:off x="786384" y="5495544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沒有一類佔比壓倒性突出 —— 副採的工時特性是「多線並行＋零碎切分」，不是集中在單一大宗工作上。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資料來源：副採本人經驗訪談整理（2026-09-07）。佔比為體感估計，非信件數或系統時間紀錄之實測值；正式引用前請本人及主管複核。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三、代表性工作情境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表面上是行政作業 — 實際多是需臨場議定與協調的判斷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11055096" cy="36576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572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工作項目（佔比）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27248" y="15727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表面上看起來是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41848" y="157276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實際需要人的部分 —— AI 取代不了的地方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920240"/>
            <a:ext cx="11055096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920240"/>
            <a:ext cx="45720" cy="96012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1975104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 by款採購作業　20%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27248" y="1975104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算數量、開PO、排交期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41848" y="1975104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00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交期需與供應商／成衣廠來回議定，非單向查詢即可定案；出貨安排要配合工廠實際產能與船期；看色需實物比對，非數字判讀可完成。</a:t>
            </a:r>
            <a:endParaRPr lang="en-US" sz="950" dirty="0">
              <a:solidFill>
                <a:srgbClr val="660033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" y="2953512"/>
            <a:ext cx="11055096" cy="960120"/>
          </a:xfrm>
          <a:prstGeom prst="rect">
            <a:avLst/>
          </a:prstGeom>
          <a:solidFill>
            <a:srgbClr val="FDEFEF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953512"/>
            <a:ext cx="45720" cy="960120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008376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 大貨品質ISSUE處理　20%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27248" y="3008376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通報問題、轉單位處理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41848" y="3008376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00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需與成衣廠／駐廠／供應商／大貨即時多方協調；責任歸屬與處理方案需臨場判斷，沒有固定流程可套用，且要承擔後續究責。</a:t>
            </a:r>
            <a:endParaRPr lang="en-US" sz="950" dirty="0">
              <a:solidFill>
                <a:srgbClr val="660033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" y="3986784"/>
            <a:ext cx="11055096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986784"/>
            <a:ext cx="45720" cy="96012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041648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3. 中國產區分廠計算　5%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127248" y="4041648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依比例分配數量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41848" y="4041648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00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須待上線前PO出來才能分廠，即時依配色／用量／損耗／差數重新計算，結果還要逐一通知各供應商調整出貨安排。</a:t>
            </a:r>
            <a:endParaRPr lang="en-US" sz="950" dirty="0">
              <a:solidFill>
                <a:srgbClr val="660033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" y="5065776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5065776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120640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這三類合計45%，共通點是：資料本身會隨時間滾動變化，任何時間點算出的答案，都可能在下一刻被工廠／供應商的回覆推翻。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資料來源：副採本人經驗訪談整理（2026-09-07）；「實際需要人的部分」為AI依工作描述之歸納推論，正式引用前請本人複核用詞是否精準。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四、工時特性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零碎＋多工並行 — 每項10–30分鐘，同時有多條事務線在跑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11055096" cy="64008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572768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每項工作耗時 10–30 分鐘；進行中同時有 emails／Teams／電話／會議／來訪等多條事務線交錯發生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395728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395728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45059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系統操作本身：非大宗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50208" y="2450592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 SYSTEM／ERP／Shipping Monitor／送測系統等，多為3–30分鐘／筆的零碎動作，見「系統操作」頁對照表。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200400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200400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25526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人力判斷11大類：無單一大宗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50208" y="3255264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最高兩類（by款採購作業、大貨品質ISSUE處理）合計40%，其餘9類平均分散在5–10%之間。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4005072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4005072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0599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潛在AI可介入點（偏執行面）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50208" y="4059936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PO／BOM系統性資料key-in、空運費計算、出貨TA表格更新、分廠數量計算 —— 這類有固定公式或格式的部分。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809744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809744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86460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仍需人力判斷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50208" y="4864608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品質ISSUE現場協調與究責、TA可行性協商、看色比對、供應商互動 —— 與主採「AI可行性偏低」清單的判斷邏輯一致。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5632704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5632704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687568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副採的工時難以壓縮，不是因為單一工作量大，而是因為切分細、並行多，任何一項延誤都會卡住後續排程。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資料來源：副採本人經驗訪談整理（2026-09-07）＋ ERP／Shipping Monitor 系統實績佐證。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674</Words>
  <Application>Microsoft Office PowerPoint</Application>
  <PresentationFormat>寬螢幕</PresentationFormat>
  <Paragraphs>108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Joyce Chen (Taipei, 陳麗玲)</cp:lastModifiedBy>
  <cp:revision>10</cp:revision>
  <dcterms:created xsi:type="dcterms:W3CDTF">2026-09-07T14:46:22Z</dcterms:created>
  <dcterms:modified xsi:type="dcterms:W3CDTF">2026-09-08T02:49:44Z</dcterms:modified>
</cp:coreProperties>
</file>